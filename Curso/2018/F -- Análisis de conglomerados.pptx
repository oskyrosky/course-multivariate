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85" r:id="rId9"/>
    <p:sldId id="263" r:id="rId10"/>
    <p:sldId id="264" r:id="rId11"/>
    <p:sldId id="265" r:id="rId12"/>
    <p:sldId id="286" r:id="rId13"/>
    <p:sldId id="267" r:id="rId14"/>
    <p:sldId id="268" r:id="rId15"/>
    <p:sldId id="269" r:id="rId16"/>
    <p:sldId id="270" r:id="rId17"/>
    <p:sldId id="271" r:id="rId18"/>
    <p:sldId id="272" r:id="rId19"/>
    <p:sldId id="288" r:id="rId20"/>
    <p:sldId id="293" r:id="rId21"/>
    <p:sldId id="289" r:id="rId22"/>
    <p:sldId id="290" r:id="rId23"/>
    <p:sldId id="291" r:id="rId24"/>
    <p:sldId id="292" r:id="rId25"/>
    <p:sldId id="294" r:id="rId26"/>
    <p:sldId id="287" r:id="rId27"/>
    <p:sldId id="273" r:id="rId28"/>
    <p:sldId id="274" r:id="rId29"/>
    <p:sldId id="275" r:id="rId30"/>
    <p:sldId id="276" r:id="rId31"/>
    <p:sldId id="277" r:id="rId32"/>
    <p:sldId id="278" r:id="rId33"/>
    <p:sldId id="279" r:id="rId34"/>
    <p:sldId id="280" r:id="rId35"/>
    <p:sldId id="281" r:id="rId36"/>
    <p:sldId id="282" r:id="rId37"/>
    <p:sldId id="283" r:id="rId38"/>
    <p:sldId id="295" r:id="rId39"/>
    <p:sldId id="296" r:id="rId40"/>
    <p:sldId id="284" r:id="rId4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16/05/2019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16/05/2019</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1.wmf"/><Relationship Id="rId5" Type="http://schemas.openxmlformats.org/officeDocument/2006/relationships/oleObject" Target="../embeddings/oleObject9.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6.wmf"/><Relationship Id="rId5" Type="http://schemas.openxmlformats.org/officeDocument/2006/relationships/oleObject" Target="../embeddings/oleObject14.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6.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07504" y="260648"/>
            <a:ext cx="8856984" cy="1470025"/>
          </a:xfrm>
        </p:spPr>
        <p:txBody>
          <a:bodyPr/>
          <a:lstStyle/>
          <a:p>
            <a:r>
              <a:rPr lang="es-CR" dirty="0" smtClean="0"/>
              <a:t>Análisis de agrupamientos</a:t>
            </a:r>
            <a:endParaRPr lang="es-CR" dirty="0"/>
          </a:p>
        </p:txBody>
      </p:sp>
      <p:sp>
        <p:nvSpPr>
          <p:cNvPr id="3" name="2 Subtítulo"/>
          <p:cNvSpPr>
            <a:spLocks noGrp="1"/>
          </p:cNvSpPr>
          <p:nvPr>
            <p:ph type="subTitle" idx="1"/>
          </p:nvPr>
        </p:nvSpPr>
        <p:spPr>
          <a:xfrm>
            <a:off x="2489887" y="5877272"/>
            <a:ext cx="6400800" cy="769640"/>
          </a:xfrm>
        </p:spPr>
        <p:txBody>
          <a:bodyPr/>
          <a:lstStyle/>
          <a:p>
            <a:pPr algn="r"/>
            <a:r>
              <a:rPr lang="es-CR" dirty="0" smtClean="0"/>
              <a:t>Oscar Centeno Mora</a:t>
            </a:r>
            <a:endParaRPr lang="es-CR" dirty="0"/>
          </a:p>
        </p:txBody>
      </p:sp>
      <p:pic>
        <p:nvPicPr>
          <p:cNvPr id="1026" name="Picture 2" descr="Resultado de imagen para cluster analy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374954"/>
            <a:ext cx="3095625" cy="28083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cluster analysis"/>
          <p:cNvPicPr>
            <a:picLocks noChangeAspect="1" noChangeArrowheads="1"/>
          </p:cNvPicPr>
          <p:nvPr/>
        </p:nvPicPr>
        <p:blipFill rotWithShape="1">
          <a:blip r:embed="rId3">
            <a:extLst>
              <a:ext uri="{28A0092B-C50C-407E-A947-70E740481C1C}">
                <a14:useLocalDpi xmlns:a14="http://schemas.microsoft.com/office/drawing/2010/main" val="0"/>
              </a:ext>
            </a:extLst>
          </a:blip>
          <a:srcRect l="6801" t="14045" r="4397" b="8536"/>
          <a:stretch/>
        </p:blipFill>
        <p:spPr bwMode="auto">
          <a:xfrm>
            <a:off x="3995936" y="2336959"/>
            <a:ext cx="4859549" cy="2846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7545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229600" cy="720080"/>
          </a:xfrm>
        </p:spPr>
        <p:txBody>
          <a:bodyPr>
            <a:normAutofit fontScale="90000"/>
          </a:bodyPr>
          <a:lstStyle/>
          <a:p>
            <a:r>
              <a:rPr lang="es-CR" dirty="0" smtClean="0"/>
              <a:t>Introducción</a:t>
            </a:r>
            <a:endParaRPr lang="es-CR" dirty="0"/>
          </a:p>
        </p:txBody>
      </p:sp>
      <p:sp>
        <p:nvSpPr>
          <p:cNvPr id="3" name="2 Marcador de contenido"/>
          <p:cNvSpPr>
            <a:spLocks noGrp="1"/>
          </p:cNvSpPr>
          <p:nvPr>
            <p:ph idx="1"/>
          </p:nvPr>
        </p:nvSpPr>
        <p:spPr>
          <a:xfrm>
            <a:off x="179512" y="980728"/>
            <a:ext cx="8640960" cy="5688632"/>
          </a:xfrm>
        </p:spPr>
        <p:txBody>
          <a:bodyPr>
            <a:noAutofit/>
          </a:bodyPr>
          <a:lstStyle/>
          <a:p>
            <a:pPr algn="just"/>
            <a:r>
              <a:rPr lang="es-CR" sz="2400" dirty="0"/>
              <a:t>El Análisis </a:t>
            </a:r>
            <a:r>
              <a:rPr lang="es-CR" sz="2400" dirty="0" err="1"/>
              <a:t>Cluster</a:t>
            </a:r>
            <a:r>
              <a:rPr lang="es-CR" sz="2400" dirty="0"/>
              <a:t>, conocido como Análisis de Conglomerados, es una técnica estadística </a:t>
            </a:r>
            <a:r>
              <a:rPr lang="es-CR" sz="2400" dirty="0" err="1"/>
              <a:t>multivariante</a:t>
            </a:r>
            <a:r>
              <a:rPr lang="es-CR" sz="2400" dirty="0"/>
              <a:t> que busca agrupar elementos (o variables) tratando de lograr la máxima homogeneidad en cada grupo y la mayor diferencia entre los grupos</a:t>
            </a:r>
            <a:r>
              <a:rPr lang="es-CR" sz="2400" dirty="0" smtClean="0"/>
              <a:t>.</a:t>
            </a:r>
          </a:p>
          <a:p>
            <a:pPr algn="just"/>
            <a:endParaRPr lang="es-CR" sz="2400" dirty="0"/>
          </a:p>
          <a:p>
            <a:pPr algn="just"/>
            <a:r>
              <a:rPr lang="es-CR" sz="2400" dirty="0"/>
              <a:t>El Análisis </a:t>
            </a:r>
            <a:r>
              <a:rPr lang="es-CR" sz="2400" dirty="0" err="1"/>
              <a:t>Cluster</a:t>
            </a:r>
            <a:r>
              <a:rPr lang="es-CR" sz="2400" dirty="0"/>
              <a:t> tiene una importante tradición de aplicación en muchas áreas de investigación. Sin embargo, junto con los beneficios del Análisis </a:t>
            </a:r>
            <a:r>
              <a:rPr lang="es-CR" sz="2400" dirty="0" err="1"/>
              <a:t>Cluster</a:t>
            </a:r>
            <a:r>
              <a:rPr lang="es-CR" sz="2400" dirty="0"/>
              <a:t> existen algunos inconvenientes. El Análisis </a:t>
            </a:r>
            <a:r>
              <a:rPr lang="es-CR" sz="2400" dirty="0" err="1"/>
              <a:t>Cluster</a:t>
            </a:r>
            <a:r>
              <a:rPr lang="es-CR" sz="2400" dirty="0"/>
              <a:t> es una técnica descriptiva, </a:t>
            </a:r>
            <a:r>
              <a:rPr lang="es-CR" sz="2400" dirty="0" err="1"/>
              <a:t>ateórica</a:t>
            </a:r>
            <a:r>
              <a:rPr lang="es-CR" sz="2400" dirty="0"/>
              <a:t> y no inferencial. El Análisis </a:t>
            </a:r>
            <a:r>
              <a:rPr lang="es-CR" sz="2400" dirty="0" err="1"/>
              <a:t>Cluster</a:t>
            </a:r>
            <a:r>
              <a:rPr lang="es-CR" sz="2400" dirty="0"/>
              <a:t> no tiene bases estadísticas sobre las que deducir inferencias estadísticas para una población a partir de una muestra, es un método basado en criterios geométricos y se utiliza fundamentalmente como una técnica exploratoria, descriptiva pero no explicativa.</a:t>
            </a:r>
          </a:p>
        </p:txBody>
      </p:sp>
    </p:spTree>
    <p:extLst>
      <p:ext uri="{BB962C8B-B14F-4D97-AF65-F5344CB8AC3E}">
        <p14:creationId xmlns:p14="http://schemas.microsoft.com/office/powerpoint/2010/main" val="446644618"/>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980728"/>
            <a:ext cx="8229600" cy="5616624"/>
          </a:xfrm>
        </p:spPr>
        <p:txBody>
          <a:bodyPr>
            <a:normAutofit/>
          </a:bodyPr>
          <a:lstStyle/>
          <a:p>
            <a:pPr algn="just"/>
            <a:r>
              <a:rPr lang="es-CR" sz="2400" dirty="0"/>
              <a:t>Las soluciones no son únicas, en la medida en que la pertenencia al conglomerado para cualquier número de soluciones depende de muchos elementos del procedimiento elegido. Por otra parte, la solución </a:t>
            </a:r>
            <a:r>
              <a:rPr lang="es-CR" sz="2400" dirty="0" err="1"/>
              <a:t>cluster</a:t>
            </a:r>
            <a:r>
              <a:rPr lang="es-CR" sz="2400" dirty="0"/>
              <a:t> depende totalmente de las variables utilizadas, la adición o destrucción de variables relevantes puede tener un impacto substancial sobre la solución </a:t>
            </a:r>
            <a:r>
              <a:rPr lang="es-CR" sz="2400" dirty="0" smtClean="0"/>
              <a:t>resultante.</a:t>
            </a:r>
          </a:p>
          <a:p>
            <a:pPr algn="just"/>
            <a:endParaRPr lang="es-CR" sz="2400" dirty="0"/>
          </a:p>
          <a:p>
            <a:pPr algn="just"/>
            <a:r>
              <a:rPr lang="es-CR" sz="2400" dirty="0"/>
              <a:t>Los algoritmos de formación de conglomerados se agrupan en dos categorías</a:t>
            </a:r>
            <a:r>
              <a:rPr lang="es-CR" sz="2400" dirty="0" smtClean="0"/>
              <a:t>:</a:t>
            </a:r>
          </a:p>
          <a:p>
            <a:pPr algn="just"/>
            <a:endParaRPr lang="es-CR" sz="2400" dirty="0"/>
          </a:p>
          <a:p>
            <a:pPr algn="just"/>
            <a:r>
              <a:rPr lang="es-CR" sz="2400" dirty="0"/>
              <a:t>Algoritmos de partición: Método de dividir el conjunto de observaciones en k conglomerados (</a:t>
            </a:r>
            <a:r>
              <a:rPr lang="es-CR" sz="2400" dirty="0" err="1"/>
              <a:t>clusters</a:t>
            </a:r>
            <a:r>
              <a:rPr lang="es-CR" sz="2400" dirty="0"/>
              <a:t>), en donde  k  lo define inicialmente el usuario.</a:t>
            </a:r>
          </a:p>
        </p:txBody>
      </p:sp>
      <p:sp>
        <p:nvSpPr>
          <p:cNvPr id="4" name="1 Título"/>
          <p:cNvSpPr>
            <a:spLocks noGrp="1"/>
          </p:cNvSpPr>
          <p:nvPr>
            <p:ph type="title"/>
          </p:nvPr>
        </p:nvSpPr>
        <p:spPr>
          <a:xfrm>
            <a:off x="467544" y="116632"/>
            <a:ext cx="8229600" cy="648072"/>
          </a:xfrm>
        </p:spPr>
        <p:txBody>
          <a:bodyPr>
            <a:normAutofit fontScale="90000"/>
          </a:bodyPr>
          <a:lstStyle/>
          <a:p>
            <a:r>
              <a:rPr lang="es-CR" dirty="0" smtClean="0"/>
              <a:t>Introducción</a:t>
            </a:r>
            <a:endParaRPr lang="es-CR" dirty="0"/>
          </a:p>
        </p:txBody>
      </p:sp>
    </p:spTree>
    <p:extLst>
      <p:ext uri="{BB962C8B-B14F-4D97-AF65-F5344CB8AC3E}">
        <p14:creationId xmlns:p14="http://schemas.microsoft.com/office/powerpoint/2010/main" val="42695538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1052736"/>
            <a:ext cx="8568952" cy="5400600"/>
          </a:xfrm>
        </p:spPr>
        <p:txBody>
          <a:bodyPr>
            <a:normAutofit/>
          </a:bodyPr>
          <a:lstStyle/>
          <a:p>
            <a:pPr algn="just"/>
            <a:r>
              <a:rPr lang="es-CR" sz="2400" dirty="0"/>
              <a:t>Algoritmos jerárquicos:  Método que entrega una jerarquía de divisiones del conjunto de elementos </a:t>
            </a:r>
            <a:r>
              <a:rPr lang="es-CR" sz="2400" dirty="0" smtClean="0"/>
              <a:t>en </a:t>
            </a:r>
            <a:r>
              <a:rPr lang="es-CR" sz="2400" dirty="0"/>
              <a:t>conglomerados</a:t>
            </a:r>
            <a:r>
              <a:rPr lang="es-CR" sz="2400" dirty="0" smtClean="0"/>
              <a:t>.</a:t>
            </a:r>
          </a:p>
          <a:p>
            <a:pPr algn="just"/>
            <a:endParaRPr lang="es-CR" sz="2400" dirty="0"/>
          </a:p>
          <a:p>
            <a:pPr algn="just"/>
            <a:r>
              <a:rPr lang="es-CR" sz="2400" dirty="0"/>
              <a:t>Un método jerárquico </a:t>
            </a:r>
            <a:r>
              <a:rPr lang="es-CR" sz="2400" dirty="0" err="1"/>
              <a:t>aglomerativo</a:t>
            </a:r>
            <a:r>
              <a:rPr lang="es-CR" sz="2400" dirty="0"/>
              <a:t> parte con una situación en que cada observación forma un conglomerado y en sucesivos pasos se van uniendo, hasta que finalmente todas las situaciones están en un único conglomerado</a:t>
            </a:r>
            <a:r>
              <a:rPr lang="es-CR" sz="2400" dirty="0" smtClean="0"/>
              <a:t>.</a:t>
            </a:r>
          </a:p>
          <a:p>
            <a:pPr algn="just"/>
            <a:endParaRPr lang="es-CR" sz="2400" dirty="0"/>
          </a:p>
          <a:p>
            <a:pPr algn="just"/>
            <a:r>
              <a:rPr lang="es-CR" sz="2400" dirty="0"/>
              <a:t>Un método jerárquico </a:t>
            </a:r>
            <a:r>
              <a:rPr lang="es-CR" sz="2400" dirty="0" err="1"/>
              <a:t>disociativo</a:t>
            </a:r>
            <a:r>
              <a:rPr lang="es-CR" sz="2400" dirty="0"/>
              <a:t> sigue el sentido inverso, parte de un gran conglomerado y en pasos sucesivos se va dividiendo hasta que cada observación queda en un conglomerado distinto.</a:t>
            </a:r>
          </a:p>
        </p:txBody>
      </p:sp>
      <p:sp>
        <p:nvSpPr>
          <p:cNvPr id="4" name="1 Título"/>
          <p:cNvSpPr>
            <a:spLocks noGrp="1"/>
          </p:cNvSpPr>
          <p:nvPr>
            <p:ph type="title"/>
          </p:nvPr>
        </p:nvSpPr>
        <p:spPr>
          <a:xfrm>
            <a:off x="395536" y="116632"/>
            <a:ext cx="8229600" cy="792088"/>
          </a:xfrm>
        </p:spPr>
        <p:txBody>
          <a:bodyPr>
            <a:normAutofit/>
          </a:bodyPr>
          <a:lstStyle/>
          <a:p>
            <a:r>
              <a:rPr lang="es-CR" dirty="0" smtClean="0"/>
              <a:t>Introducción</a:t>
            </a:r>
            <a:endParaRPr lang="es-CR" dirty="0"/>
          </a:p>
        </p:txBody>
      </p:sp>
    </p:spTree>
    <p:extLst>
      <p:ext uri="{BB962C8B-B14F-4D97-AF65-F5344CB8AC3E}">
        <p14:creationId xmlns:p14="http://schemas.microsoft.com/office/powerpoint/2010/main" val="672314640"/>
      </p:ext>
    </p:extLst>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980728"/>
            <a:ext cx="8568952" cy="5688632"/>
          </a:xfrm>
        </p:spPr>
        <p:txBody>
          <a:bodyPr>
            <a:normAutofit/>
          </a:bodyPr>
          <a:lstStyle/>
          <a:p>
            <a:pPr algn="just"/>
            <a:r>
              <a:rPr lang="es-CR" sz="2400" dirty="0"/>
              <a:t> El análisis de conglomerados nos va a permitir contestar a preguntas tales como</a:t>
            </a:r>
            <a:r>
              <a:rPr lang="es-CR" sz="2400" dirty="0" smtClean="0"/>
              <a:t>:</a:t>
            </a:r>
          </a:p>
          <a:p>
            <a:pPr marL="0" indent="0" algn="just">
              <a:buNone/>
            </a:pPr>
            <a:endParaRPr lang="es-CR" sz="2400" dirty="0" smtClean="0"/>
          </a:p>
          <a:p>
            <a:pPr algn="just"/>
            <a:r>
              <a:rPr lang="es-CR" sz="2400" dirty="0" smtClean="0"/>
              <a:t> </a:t>
            </a:r>
            <a:r>
              <a:rPr lang="es-CR" sz="2400" dirty="0"/>
              <a:t>¿Es posible identificar cuáles son las empresas en las que sería más deseable invertir? </a:t>
            </a:r>
            <a:endParaRPr lang="es-CR" sz="2400" dirty="0" smtClean="0"/>
          </a:p>
          <a:p>
            <a:pPr marL="0" indent="0" algn="just">
              <a:buNone/>
            </a:pPr>
            <a:endParaRPr lang="es-CR" sz="2400" dirty="0" smtClean="0"/>
          </a:p>
          <a:p>
            <a:pPr algn="just"/>
            <a:r>
              <a:rPr lang="es-CR" sz="2400" dirty="0" smtClean="0"/>
              <a:t>¿</a:t>
            </a:r>
            <a:r>
              <a:rPr lang="es-CR" sz="2400" dirty="0"/>
              <a:t>Es posible identificar grupos de clientes a los que les pueda interesar un nuevo producto que una empresa va a lanzar al mercado? </a:t>
            </a:r>
            <a:endParaRPr lang="es-CR" sz="2400" dirty="0" smtClean="0"/>
          </a:p>
          <a:p>
            <a:pPr marL="0" indent="0" algn="just">
              <a:buNone/>
            </a:pPr>
            <a:endParaRPr lang="es-CR" sz="2400" dirty="0" smtClean="0"/>
          </a:p>
          <a:p>
            <a:pPr algn="just"/>
            <a:r>
              <a:rPr lang="es-CR" sz="2400" dirty="0" smtClean="0"/>
              <a:t>¿</a:t>
            </a:r>
            <a:r>
              <a:rPr lang="es-CR" sz="2400" dirty="0"/>
              <a:t>Se pueden clasificar las bodegas de </a:t>
            </a:r>
            <a:r>
              <a:rPr lang="es-CR" sz="2400" dirty="0" smtClean="0"/>
              <a:t>en </a:t>
            </a:r>
            <a:r>
              <a:rPr lang="es-CR" sz="2400" dirty="0"/>
              <a:t>función de las características químicas y ópticas del vino que producen?</a:t>
            </a:r>
          </a:p>
        </p:txBody>
      </p:sp>
      <p:sp>
        <p:nvSpPr>
          <p:cNvPr id="4" name="1 Título"/>
          <p:cNvSpPr>
            <a:spLocks noGrp="1"/>
          </p:cNvSpPr>
          <p:nvPr>
            <p:ph type="title"/>
          </p:nvPr>
        </p:nvSpPr>
        <p:spPr>
          <a:xfrm>
            <a:off x="395536" y="116632"/>
            <a:ext cx="8229600" cy="792088"/>
          </a:xfrm>
        </p:spPr>
        <p:txBody>
          <a:bodyPr>
            <a:normAutofit/>
          </a:bodyPr>
          <a:lstStyle/>
          <a:p>
            <a:r>
              <a:rPr lang="es-CR" dirty="0" smtClean="0"/>
              <a:t>Introducción</a:t>
            </a:r>
            <a:endParaRPr lang="es-CR" dirty="0"/>
          </a:p>
        </p:txBody>
      </p:sp>
    </p:spTree>
    <p:extLst>
      <p:ext uri="{BB962C8B-B14F-4D97-AF65-F5344CB8AC3E}">
        <p14:creationId xmlns:p14="http://schemas.microsoft.com/office/powerpoint/2010/main" val="2661429040"/>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44624"/>
            <a:ext cx="8784976" cy="792088"/>
          </a:xfrm>
        </p:spPr>
        <p:txBody>
          <a:bodyPr/>
          <a:lstStyle/>
          <a:p>
            <a:r>
              <a:rPr lang="es-CR" dirty="0" smtClean="0"/>
              <a:t>Objetivos</a:t>
            </a:r>
            <a:endParaRPr lang="es-CR" dirty="0"/>
          </a:p>
        </p:txBody>
      </p:sp>
      <p:sp>
        <p:nvSpPr>
          <p:cNvPr id="3" name="2 Marcador de contenido"/>
          <p:cNvSpPr>
            <a:spLocks noGrp="1"/>
          </p:cNvSpPr>
          <p:nvPr>
            <p:ph idx="1"/>
          </p:nvPr>
        </p:nvSpPr>
        <p:spPr>
          <a:xfrm>
            <a:off x="179512" y="1268760"/>
            <a:ext cx="8424936" cy="5328592"/>
          </a:xfrm>
        </p:spPr>
        <p:txBody>
          <a:bodyPr>
            <a:normAutofit lnSpcReduction="10000"/>
          </a:bodyPr>
          <a:lstStyle/>
          <a:p>
            <a:pPr algn="just"/>
            <a:r>
              <a:rPr lang="es-CR" sz="2400" dirty="0" smtClean="0"/>
              <a:t>El análisis de </a:t>
            </a:r>
            <a:r>
              <a:rPr lang="es-CR" sz="2400" dirty="0" err="1" smtClean="0"/>
              <a:t>cluster</a:t>
            </a:r>
            <a:r>
              <a:rPr lang="es-CR" sz="2400" dirty="0" smtClean="0"/>
              <a:t> busca </a:t>
            </a:r>
            <a:r>
              <a:rPr lang="es-MX" altLang="es-CR" sz="2400" dirty="0" err="1" smtClean="0"/>
              <a:t>particionar</a:t>
            </a:r>
            <a:r>
              <a:rPr lang="es-MX" altLang="es-CR" sz="2400" dirty="0" smtClean="0"/>
              <a:t> un </a:t>
            </a:r>
            <a:r>
              <a:rPr lang="es-MX" altLang="es-CR" sz="2400" dirty="0"/>
              <a:t>conjunto de objetos en dos o más grupos basados en la similitud de esos objetos según una serie especificada de </a:t>
            </a:r>
            <a:r>
              <a:rPr lang="es-MX" altLang="es-CR" sz="2400" dirty="0" smtClean="0"/>
              <a:t>características.</a:t>
            </a:r>
          </a:p>
          <a:p>
            <a:pPr algn="just"/>
            <a:endParaRPr lang="es-MX" altLang="es-CR" sz="2400" dirty="0" smtClean="0"/>
          </a:p>
          <a:p>
            <a:pPr algn="just"/>
            <a:r>
              <a:rPr lang="es-MX" altLang="es-CR" sz="2400" dirty="0"/>
              <a:t>Como técnica </a:t>
            </a:r>
            <a:r>
              <a:rPr lang="es-MX" altLang="es-CR" sz="2400" dirty="0" smtClean="0"/>
              <a:t>se utiliza para </a:t>
            </a:r>
            <a:r>
              <a:rPr lang="es-MX" altLang="es-CR" sz="2400" dirty="0"/>
              <a:t>desarrollar una clasificación objetiva de los </a:t>
            </a:r>
            <a:r>
              <a:rPr lang="es-MX" altLang="es-CR" sz="2400" dirty="0" smtClean="0"/>
              <a:t>objetos.</a:t>
            </a:r>
            <a:endParaRPr lang="es-CR" altLang="es-CR" sz="2400" dirty="0"/>
          </a:p>
          <a:p>
            <a:pPr algn="just"/>
            <a:endParaRPr lang="es-CR" sz="2400" dirty="0" smtClean="0"/>
          </a:p>
          <a:p>
            <a:pPr algn="just"/>
            <a:r>
              <a:rPr lang="es-ES" altLang="es-CR" sz="2400" dirty="0"/>
              <a:t>El conocimiento de los grupos puede permitir una descripción sintética de un conjunto de datos multidimensional complejo. De ahí su uso en minería de datos</a:t>
            </a:r>
            <a:r>
              <a:rPr lang="es-ES" altLang="es-CR" sz="2400" dirty="0" smtClean="0"/>
              <a:t>.</a:t>
            </a:r>
          </a:p>
          <a:p>
            <a:pPr algn="just"/>
            <a:endParaRPr lang="es-ES" sz="2400" dirty="0"/>
          </a:p>
          <a:p>
            <a:pPr algn="just"/>
            <a:r>
              <a:rPr lang="es-ES" altLang="es-CR" sz="2400" dirty="0"/>
              <a:t>Esta descripción sintética se consigue sustituyendo la descripción de todos los elementos de un grupo por la de un representante característico del mismo</a:t>
            </a:r>
            <a:endParaRPr lang="es-CR" sz="2400" dirty="0"/>
          </a:p>
        </p:txBody>
      </p:sp>
    </p:spTree>
    <p:extLst>
      <p:ext uri="{BB962C8B-B14F-4D97-AF65-F5344CB8AC3E}">
        <p14:creationId xmlns:p14="http://schemas.microsoft.com/office/powerpoint/2010/main" val="163286799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556792"/>
            <a:ext cx="8229600" cy="4525963"/>
          </a:xfrm>
        </p:spPr>
        <p:txBody>
          <a:bodyPr>
            <a:normAutofit/>
          </a:bodyPr>
          <a:lstStyle/>
          <a:p>
            <a:r>
              <a:rPr lang="es-CR" sz="2800" dirty="0" smtClean="0"/>
              <a:t>El análisis por conglomerados se suele llevar a cabo de la siguiente forma:</a:t>
            </a:r>
          </a:p>
          <a:p>
            <a:endParaRPr lang="es-CR" sz="2800" dirty="0"/>
          </a:p>
          <a:p>
            <a:pPr marL="514350" indent="-514350">
              <a:buAutoNum type="arabicPeriod"/>
            </a:pPr>
            <a:r>
              <a:rPr lang="es-CR" sz="2800" dirty="0" smtClean="0"/>
              <a:t>Elección </a:t>
            </a:r>
            <a:r>
              <a:rPr lang="es-CR" sz="2800" dirty="0"/>
              <a:t>de las </a:t>
            </a:r>
            <a:r>
              <a:rPr lang="es-CR" sz="2800" dirty="0" smtClean="0"/>
              <a:t>variables</a:t>
            </a:r>
          </a:p>
          <a:p>
            <a:pPr marL="514350" indent="-514350">
              <a:buAutoNum type="arabicPeriod"/>
            </a:pPr>
            <a:r>
              <a:rPr lang="es-CR" sz="2800" dirty="0"/>
              <a:t>Elección de la medida de </a:t>
            </a:r>
            <a:r>
              <a:rPr lang="es-CR" sz="2800" dirty="0" smtClean="0"/>
              <a:t>asociación</a:t>
            </a:r>
          </a:p>
          <a:p>
            <a:pPr marL="514350" indent="-514350">
              <a:buAutoNum type="arabicPeriod"/>
            </a:pPr>
            <a:r>
              <a:rPr lang="es-CR" sz="2800" dirty="0"/>
              <a:t>Elección de la técnica </a:t>
            </a:r>
            <a:r>
              <a:rPr lang="es-CR" sz="2800" dirty="0" err="1" smtClean="0"/>
              <a:t>Cluster</a:t>
            </a:r>
            <a:endParaRPr lang="es-CR" sz="2800" dirty="0" smtClean="0"/>
          </a:p>
          <a:p>
            <a:pPr marL="514350" indent="-514350">
              <a:buAutoNum type="arabicPeriod"/>
            </a:pPr>
            <a:r>
              <a:rPr lang="es-CR" sz="2800" dirty="0"/>
              <a:t>Validación de los resultados</a:t>
            </a:r>
          </a:p>
        </p:txBody>
      </p:sp>
      <p:sp>
        <p:nvSpPr>
          <p:cNvPr id="4" name="1 Título"/>
          <p:cNvSpPr>
            <a:spLocks noGrp="1"/>
          </p:cNvSpPr>
          <p:nvPr>
            <p:ph type="title"/>
          </p:nvPr>
        </p:nvSpPr>
        <p:spPr>
          <a:xfrm>
            <a:off x="107504" y="188640"/>
            <a:ext cx="8928992" cy="936104"/>
          </a:xfrm>
        </p:spPr>
        <p:txBody>
          <a:bodyPr>
            <a:normAutofit/>
          </a:bodyPr>
          <a:lstStyle/>
          <a:p>
            <a:r>
              <a:rPr lang="es-CR" dirty="0" smtClean="0"/>
              <a:t>Etapas del análisis de conglomerados</a:t>
            </a:r>
            <a:endParaRPr lang="es-CR" dirty="0"/>
          </a:p>
        </p:txBody>
      </p:sp>
    </p:spTree>
    <p:extLst>
      <p:ext uri="{BB962C8B-B14F-4D97-AF65-F5344CB8AC3E}">
        <p14:creationId xmlns:p14="http://schemas.microsoft.com/office/powerpoint/2010/main" val="19291609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2204864"/>
            <a:ext cx="8229600" cy="1512167"/>
          </a:xfrm>
        </p:spPr>
        <p:txBody>
          <a:bodyPr/>
          <a:lstStyle/>
          <a:p>
            <a:pPr marL="0" indent="0" algn="ctr">
              <a:buNone/>
            </a:pPr>
            <a:r>
              <a:rPr lang="es-CR" sz="6000" b="1" dirty="0"/>
              <a:t>Elección de las variables</a:t>
            </a:r>
          </a:p>
          <a:p>
            <a:endParaRPr lang="es-CR" dirty="0"/>
          </a:p>
        </p:txBody>
      </p:sp>
    </p:spTree>
    <p:extLst>
      <p:ext uri="{BB962C8B-B14F-4D97-AF65-F5344CB8AC3E}">
        <p14:creationId xmlns:p14="http://schemas.microsoft.com/office/powerpoint/2010/main" val="42882109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44624"/>
            <a:ext cx="8229600" cy="922114"/>
          </a:xfrm>
        </p:spPr>
        <p:txBody>
          <a:bodyPr/>
          <a:lstStyle/>
          <a:p>
            <a:r>
              <a:rPr lang="es-CR" dirty="0" smtClean="0"/>
              <a:t>Elección de las variables</a:t>
            </a:r>
            <a:endParaRPr lang="es-CR" dirty="0"/>
          </a:p>
        </p:txBody>
      </p:sp>
      <p:sp>
        <p:nvSpPr>
          <p:cNvPr id="3" name="2 Marcador de contenido"/>
          <p:cNvSpPr>
            <a:spLocks noGrp="1"/>
          </p:cNvSpPr>
          <p:nvPr>
            <p:ph idx="1"/>
          </p:nvPr>
        </p:nvSpPr>
        <p:spPr>
          <a:xfrm>
            <a:off x="179512" y="1052736"/>
            <a:ext cx="8712968" cy="5616624"/>
          </a:xfrm>
        </p:spPr>
        <p:txBody>
          <a:bodyPr>
            <a:normAutofit lnSpcReduction="10000"/>
          </a:bodyPr>
          <a:lstStyle/>
          <a:p>
            <a:pPr algn="just"/>
            <a:r>
              <a:rPr lang="es-MX" altLang="es-CR" sz="2400" dirty="0"/>
              <a:t>La selección de variables debe tomar en cuenta consideraciones teórico-conceptuales y </a:t>
            </a:r>
            <a:r>
              <a:rPr lang="es-MX" altLang="es-CR" sz="2400" dirty="0" smtClean="0"/>
              <a:t>prácticas.</a:t>
            </a:r>
          </a:p>
          <a:p>
            <a:pPr algn="just"/>
            <a:endParaRPr lang="es-MX" altLang="es-CR" sz="2400" dirty="0" smtClean="0"/>
          </a:p>
          <a:p>
            <a:pPr algn="just"/>
            <a:r>
              <a:rPr lang="es-MX" altLang="es-CR" sz="2400" dirty="0"/>
              <a:t>Debe haber un racional que respalde el uso de las variables ya sea basado en teoría explícita, investigación pasada, o </a:t>
            </a:r>
            <a:r>
              <a:rPr lang="es-MX" altLang="es-CR" sz="2400" dirty="0" smtClean="0"/>
              <a:t>supuestos</a:t>
            </a:r>
          </a:p>
          <a:p>
            <a:pPr marL="0" indent="0" algn="just">
              <a:buNone/>
            </a:pPr>
            <a:endParaRPr lang="es-MX" altLang="es-CR" sz="2400" dirty="0" smtClean="0"/>
          </a:p>
          <a:p>
            <a:pPr algn="just"/>
            <a:r>
              <a:rPr lang="es-MX" altLang="es-CR" sz="2400" dirty="0"/>
              <a:t>Deben incluirse sólo las variables que caracterizan los objetos que van a ser agrupados y están relacionadas con los objetivos del análisis</a:t>
            </a:r>
            <a:r>
              <a:rPr lang="es-MX" altLang="es-CR" sz="2400" dirty="0" smtClean="0"/>
              <a:t>.</a:t>
            </a:r>
          </a:p>
          <a:p>
            <a:pPr marL="0" indent="0" algn="just">
              <a:buNone/>
            </a:pPr>
            <a:endParaRPr lang="es-MX" altLang="es-CR" sz="2400" dirty="0"/>
          </a:p>
          <a:p>
            <a:pPr algn="just"/>
            <a:r>
              <a:rPr lang="es-MX" altLang="es-CR" sz="2400" dirty="0"/>
              <a:t>La inclusión de variables irrelevantes incrementa la posibilidad de tener valores </a:t>
            </a:r>
            <a:r>
              <a:rPr lang="es-MX" altLang="es-CR" sz="2400" dirty="0" smtClean="0"/>
              <a:t>extremos</a:t>
            </a:r>
          </a:p>
          <a:p>
            <a:pPr algn="just"/>
            <a:r>
              <a:rPr lang="es-MX" altLang="es-CR" sz="2400" dirty="0"/>
              <a:t>Se recomienda examinar los resultados y eliminar variables que no se diferencian entre diferentes </a:t>
            </a:r>
            <a:r>
              <a:rPr lang="es-MX" altLang="es-CR" sz="2400" dirty="0" err="1"/>
              <a:t>clústers</a:t>
            </a:r>
            <a:endParaRPr lang="es-MX" altLang="es-CR" sz="2400" dirty="0" smtClean="0"/>
          </a:p>
          <a:p>
            <a:endParaRPr lang="es-CR" sz="2800" dirty="0"/>
          </a:p>
        </p:txBody>
      </p:sp>
    </p:spTree>
    <p:extLst>
      <p:ext uri="{BB962C8B-B14F-4D97-AF65-F5344CB8AC3E}">
        <p14:creationId xmlns:p14="http://schemas.microsoft.com/office/powerpoint/2010/main" val="2021967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9116"/>
            <a:ext cx="8229600" cy="850106"/>
          </a:xfrm>
        </p:spPr>
        <p:txBody>
          <a:bodyPr/>
          <a:lstStyle/>
          <a:p>
            <a:r>
              <a:rPr lang="es-CR" dirty="0" smtClean="0"/>
              <a:t>Supuestos y restricciones</a:t>
            </a:r>
            <a:endParaRPr lang="es-CR" dirty="0"/>
          </a:p>
        </p:txBody>
      </p:sp>
      <p:sp>
        <p:nvSpPr>
          <p:cNvPr id="3" name="2 Marcador de contenido"/>
          <p:cNvSpPr>
            <a:spLocks noGrp="1"/>
          </p:cNvSpPr>
          <p:nvPr>
            <p:ph idx="1"/>
          </p:nvPr>
        </p:nvSpPr>
        <p:spPr>
          <a:xfrm>
            <a:off x="179512" y="1052736"/>
            <a:ext cx="8784976" cy="5688632"/>
          </a:xfrm>
        </p:spPr>
        <p:txBody>
          <a:bodyPr>
            <a:normAutofit fontScale="92500"/>
          </a:bodyPr>
          <a:lstStyle/>
          <a:p>
            <a:pPr algn="just"/>
            <a:r>
              <a:rPr lang="es-MX" altLang="es-CR" sz="2800" dirty="0"/>
              <a:t>Este análisis no es una técnica inferencial sino descriptiva que busca cuantificar las características estructurales de una cantidad de </a:t>
            </a:r>
            <a:r>
              <a:rPr lang="es-MX" altLang="es-CR" sz="2800" dirty="0" smtClean="0"/>
              <a:t>individuos</a:t>
            </a:r>
          </a:p>
          <a:p>
            <a:pPr algn="just"/>
            <a:r>
              <a:rPr lang="es-MX" altLang="es-CR" sz="2800" dirty="0"/>
              <a:t>No hay requerimientos de distribuciones (normalidad, </a:t>
            </a:r>
            <a:r>
              <a:rPr lang="es-MX" altLang="es-CR" sz="2800" dirty="0" err="1"/>
              <a:t>homoscedasticidad</a:t>
            </a:r>
            <a:r>
              <a:rPr lang="es-MX" altLang="es-CR" sz="2800" dirty="0"/>
              <a:t>, linealidad) pero la </a:t>
            </a:r>
            <a:r>
              <a:rPr lang="es-MX" altLang="es-CR" sz="2800" dirty="0" err="1"/>
              <a:t>multicolinealidad</a:t>
            </a:r>
            <a:r>
              <a:rPr lang="es-MX" altLang="es-CR" sz="2800" dirty="0"/>
              <a:t> puede afectar los resultados.</a:t>
            </a:r>
          </a:p>
          <a:p>
            <a:pPr algn="just"/>
            <a:r>
              <a:rPr lang="es-MX" altLang="es-CR" sz="2800" dirty="0"/>
              <a:t>Debe darse énfasis a la representatividad de una muestra para poder generalizar a la </a:t>
            </a:r>
            <a:r>
              <a:rPr lang="es-MX" altLang="es-CR" sz="2800" dirty="0" smtClean="0"/>
              <a:t>población.</a:t>
            </a:r>
          </a:p>
          <a:p>
            <a:pPr algn="just"/>
            <a:r>
              <a:rPr lang="es-MX" altLang="es-CR" sz="2800" dirty="0"/>
              <a:t>Según lo que se tome en cuenta para realizar la clasificación puede llegarse a obtener diferentes grupos (personas según clase social vs consumo de alcohol</a:t>
            </a:r>
            <a:r>
              <a:rPr lang="es-MX" altLang="es-CR" sz="2800" dirty="0" smtClean="0"/>
              <a:t>)</a:t>
            </a:r>
          </a:p>
          <a:p>
            <a:pPr algn="just"/>
            <a:r>
              <a:rPr lang="es-MX" altLang="es-CR" sz="2800" dirty="0"/>
              <a:t>Hay clasificaciones más útiles que otras (libros clasificados por materias vs clasificación por el color de su portada</a:t>
            </a:r>
            <a:r>
              <a:rPr lang="es-MX" altLang="es-CR" sz="2800" dirty="0" smtClean="0"/>
              <a:t>).</a:t>
            </a:r>
            <a:endParaRPr lang="es-MX" altLang="es-CR" sz="2800" dirty="0"/>
          </a:p>
        </p:txBody>
      </p:sp>
    </p:spTree>
    <p:extLst>
      <p:ext uri="{BB962C8B-B14F-4D97-AF65-F5344CB8AC3E}">
        <p14:creationId xmlns:p14="http://schemas.microsoft.com/office/powerpoint/2010/main" val="1998835613"/>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784976" cy="1143000"/>
          </a:xfrm>
        </p:spPr>
        <p:txBody>
          <a:bodyPr/>
          <a:lstStyle/>
          <a:p>
            <a:r>
              <a:rPr lang="es-CR" dirty="0" smtClean="0"/>
              <a:t>A tener en cuenta antes del análisis…</a:t>
            </a:r>
            <a:endParaRPr lang="es-CR" dirty="0"/>
          </a:p>
        </p:txBody>
      </p:sp>
      <p:sp>
        <p:nvSpPr>
          <p:cNvPr id="3" name="2 Marcador de contenido"/>
          <p:cNvSpPr>
            <a:spLocks noGrp="1"/>
          </p:cNvSpPr>
          <p:nvPr>
            <p:ph idx="1"/>
          </p:nvPr>
        </p:nvSpPr>
        <p:spPr>
          <a:xfrm>
            <a:off x="323528" y="1556792"/>
            <a:ext cx="8280920" cy="5040560"/>
          </a:xfrm>
        </p:spPr>
        <p:txBody>
          <a:bodyPr>
            <a:normAutofit/>
          </a:bodyPr>
          <a:lstStyle/>
          <a:p>
            <a:pPr algn="just"/>
            <a:r>
              <a:rPr lang="es-MX" altLang="es-CR" sz="2800" dirty="0"/>
              <a:t>Hay tres aspectos importantes que pueden afectar los resultados de la </a:t>
            </a:r>
            <a:r>
              <a:rPr lang="es-MX" altLang="es-CR" sz="2800" dirty="0" smtClean="0"/>
              <a:t>investigación:</a:t>
            </a:r>
          </a:p>
          <a:p>
            <a:endParaRPr lang="es-MX" dirty="0"/>
          </a:p>
          <a:p>
            <a:pPr marL="514350" lvl="1" indent="-514350">
              <a:buAutoNum type="arabicPeriod"/>
            </a:pPr>
            <a:r>
              <a:rPr lang="es-MX" altLang="es-CR" dirty="0" smtClean="0"/>
              <a:t>Valores extremos</a:t>
            </a:r>
          </a:p>
          <a:p>
            <a:pPr marL="514350" lvl="1" indent="-514350">
              <a:buFont typeface="Arial" pitchFamily="34" charset="0"/>
              <a:buAutoNum type="arabicPeriod"/>
            </a:pPr>
            <a:r>
              <a:rPr lang="es-MX" altLang="es-CR" dirty="0"/>
              <a:t>Medición de la </a:t>
            </a:r>
            <a:r>
              <a:rPr lang="es-MX" altLang="es-CR" dirty="0" smtClean="0"/>
              <a:t>similitud</a:t>
            </a:r>
            <a:endParaRPr lang="es-MX" altLang="es-CR" dirty="0"/>
          </a:p>
          <a:p>
            <a:pPr marL="514350" lvl="1" indent="-514350">
              <a:buFont typeface="Arial" pitchFamily="34" charset="0"/>
              <a:buAutoNum type="arabicPeriod"/>
            </a:pPr>
            <a:r>
              <a:rPr lang="es-MX" altLang="es-CR" dirty="0"/>
              <a:t>Estandarización de los </a:t>
            </a:r>
            <a:r>
              <a:rPr lang="es-MX" altLang="es-CR" dirty="0" smtClean="0"/>
              <a:t>datos</a:t>
            </a:r>
            <a:endParaRPr lang="es-MX" altLang="es-CR" dirty="0"/>
          </a:p>
        </p:txBody>
      </p:sp>
    </p:spTree>
    <p:extLst>
      <p:ext uri="{BB962C8B-B14F-4D97-AF65-F5344CB8AC3E}">
        <p14:creationId xmlns:p14="http://schemas.microsoft.com/office/powerpoint/2010/main" val="1459638635"/>
      </p:ext>
    </p:extLst>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2204864"/>
            <a:ext cx="8229600" cy="1512167"/>
          </a:xfrm>
        </p:spPr>
        <p:txBody>
          <a:bodyPr>
            <a:normAutofit fontScale="92500" lnSpcReduction="20000"/>
          </a:bodyPr>
          <a:lstStyle/>
          <a:p>
            <a:pPr marL="0" indent="0" algn="ctr">
              <a:buNone/>
            </a:pPr>
            <a:r>
              <a:rPr lang="es-CR" sz="6000" b="1" dirty="0"/>
              <a:t>Elección de las </a:t>
            </a:r>
            <a:r>
              <a:rPr lang="es-CR" sz="6000" b="1" dirty="0" smtClean="0"/>
              <a:t>medidas de asociación</a:t>
            </a:r>
            <a:endParaRPr lang="es-CR" sz="6000" b="1" dirty="0"/>
          </a:p>
          <a:p>
            <a:endParaRPr lang="es-CR" dirty="0"/>
          </a:p>
        </p:txBody>
      </p:sp>
    </p:spTree>
    <p:extLst>
      <p:ext uri="{BB962C8B-B14F-4D97-AF65-F5344CB8AC3E}">
        <p14:creationId xmlns:p14="http://schemas.microsoft.com/office/powerpoint/2010/main" val="10514693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8614"/>
            <a:ext cx="8229600" cy="778098"/>
          </a:xfrm>
        </p:spPr>
        <p:txBody>
          <a:bodyPr/>
          <a:lstStyle/>
          <a:p>
            <a:r>
              <a:rPr lang="es-CR" dirty="0" smtClean="0"/>
              <a:t>La similitud</a:t>
            </a:r>
            <a:endParaRPr lang="es-CR" dirty="0"/>
          </a:p>
        </p:txBody>
      </p:sp>
      <p:sp>
        <p:nvSpPr>
          <p:cNvPr id="3" name="2 Marcador de contenido"/>
          <p:cNvSpPr>
            <a:spLocks noGrp="1"/>
          </p:cNvSpPr>
          <p:nvPr>
            <p:ph idx="1"/>
          </p:nvPr>
        </p:nvSpPr>
        <p:spPr>
          <a:xfrm>
            <a:off x="251520" y="1052736"/>
            <a:ext cx="8784976" cy="5688632"/>
          </a:xfrm>
        </p:spPr>
        <p:txBody>
          <a:bodyPr>
            <a:normAutofit/>
          </a:bodyPr>
          <a:lstStyle/>
          <a:p>
            <a:pPr algn="just"/>
            <a:r>
              <a:rPr lang="es-MX" altLang="es-CR" sz="2800" dirty="0"/>
              <a:t>La similitud entre objetos es una medida de correspondencia o semejanza entre los objetos que se piensa agrupar.</a:t>
            </a:r>
          </a:p>
          <a:p>
            <a:pPr algn="just"/>
            <a:r>
              <a:rPr lang="es-MX" altLang="es-CR" sz="2800" dirty="0"/>
              <a:t>Las características que definen la similitud son predefinidas y se combinan en alguna medida de similitud calculada para todos los pares de objetos.</a:t>
            </a:r>
          </a:p>
          <a:p>
            <a:pPr algn="just"/>
            <a:r>
              <a:rPr lang="es-MX" altLang="es-CR" sz="2800" dirty="0"/>
              <a:t>Cada objeto puede ser comparado con todos los demás usando esta medida</a:t>
            </a:r>
            <a:r>
              <a:rPr lang="es-MX" altLang="es-CR" sz="2800" dirty="0" smtClean="0"/>
              <a:t>.</a:t>
            </a:r>
          </a:p>
          <a:p>
            <a:pPr algn="just"/>
            <a:r>
              <a:rPr lang="es-MX" altLang="es-CR" sz="2800" dirty="0"/>
              <a:t>Se agrupan los objetos considerados similares según la medida que se haya </a:t>
            </a:r>
            <a:r>
              <a:rPr lang="es-MX" altLang="es-CR" sz="2800" dirty="0" smtClean="0"/>
              <a:t>escogido.</a:t>
            </a:r>
          </a:p>
          <a:p>
            <a:pPr algn="just"/>
            <a:r>
              <a:rPr lang="es-MX" altLang="es-CR" sz="2800" dirty="0"/>
              <a:t>Se pueden usar medidas basadas en correlaciones, distancias y </a:t>
            </a:r>
            <a:r>
              <a:rPr lang="es-MX" altLang="es-CR" sz="2800" dirty="0" smtClean="0"/>
              <a:t>asociaciones.</a:t>
            </a:r>
            <a:endParaRPr lang="es-MX" altLang="es-CR" sz="2800" dirty="0"/>
          </a:p>
          <a:p>
            <a:endParaRPr lang="es-CR" dirty="0"/>
          </a:p>
        </p:txBody>
      </p:sp>
    </p:spTree>
    <p:extLst>
      <p:ext uri="{BB962C8B-B14F-4D97-AF65-F5344CB8AC3E}">
        <p14:creationId xmlns:p14="http://schemas.microsoft.com/office/powerpoint/2010/main" val="37796395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279301"/>
            <a:ext cx="8640960" cy="5462067"/>
          </a:xfrm>
        </p:spPr>
        <p:txBody>
          <a:bodyPr>
            <a:normAutofit/>
          </a:bodyPr>
          <a:lstStyle/>
          <a:p>
            <a:r>
              <a:rPr lang="es-CR" sz="2800" dirty="0" smtClean="0"/>
              <a:t>Un ejemplo de similitud se presenta a continuación.</a:t>
            </a:r>
          </a:p>
          <a:p>
            <a:endParaRPr lang="es-CR" sz="2800" dirty="0"/>
          </a:p>
          <a:p>
            <a:endParaRPr lang="es-CR" sz="2800" dirty="0" smtClean="0"/>
          </a:p>
          <a:p>
            <a:endParaRPr lang="es-CR" sz="2800" dirty="0"/>
          </a:p>
          <a:p>
            <a:endParaRPr lang="es-CR" sz="2800" dirty="0" smtClean="0"/>
          </a:p>
          <a:p>
            <a:endParaRPr lang="es-CR" sz="2800" dirty="0"/>
          </a:p>
          <a:p>
            <a:endParaRPr lang="es-CR" sz="2800" dirty="0" smtClean="0"/>
          </a:p>
          <a:p>
            <a:endParaRPr lang="es-CR" sz="2800" dirty="0"/>
          </a:p>
          <a:p>
            <a:endParaRPr lang="es-CR" sz="2800" dirty="0" smtClean="0"/>
          </a:p>
          <a:p>
            <a:r>
              <a:rPr lang="es-CR" sz="2800" dirty="0" smtClean="0"/>
              <a:t>¿Qué notan? ¿Diferencias con matriz de correlación?</a:t>
            </a:r>
            <a:endParaRPr lang="es-CR" sz="2800" dirty="0"/>
          </a:p>
        </p:txBody>
      </p:sp>
      <p:sp>
        <p:nvSpPr>
          <p:cNvPr id="4" name="1 Título"/>
          <p:cNvSpPr>
            <a:spLocks noGrp="1"/>
          </p:cNvSpPr>
          <p:nvPr>
            <p:ph type="title"/>
          </p:nvPr>
        </p:nvSpPr>
        <p:spPr>
          <a:xfrm>
            <a:off x="323528" y="130622"/>
            <a:ext cx="8640960" cy="994122"/>
          </a:xfrm>
        </p:spPr>
        <p:txBody>
          <a:bodyPr/>
          <a:lstStyle/>
          <a:p>
            <a:r>
              <a:rPr lang="es-CR" dirty="0" smtClean="0"/>
              <a:t>La similitud</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3986024537"/>
              </p:ext>
            </p:extLst>
          </p:nvPr>
        </p:nvGraphicFramePr>
        <p:xfrm>
          <a:off x="1691680" y="2204864"/>
          <a:ext cx="5400600" cy="3164783"/>
        </p:xfrm>
        <a:graphic>
          <a:graphicData uri="http://schemas.openxmlformats.org/presentationml/2006/ole">
            <mc:AlternateContent xmlns:mc="http://schemas.openxmlformats.org/markup-compatibility/2006">
              <mc:Choice xmlns:v="urn:schemas-microsoft-com:vml" Requires="v">
                <p:oleObj spid="_x0000_s3107" name="Ecuación" r:id="rId3" imgW="1600200" imgH="939800" progId="Equation.3">
                  <p:embed/>
                </p:oleObj>
              </mc:Choice>
              <mc:Fallback>
                <p:oleObj name="Ecuación" r:id="rId3" imgW="1600200" imgH="9398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2204864"/>
                        <a:ext cx="5400600" cy="3164783"/>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3469177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t>Distancias para variables continuas</a:t>
            </a:r>
            <a:endParaRPr lang="es-CR" dirty="0"/>
          </a:p>
        </p:txBody>
      </p:sp>
      <p:sp>
        <p:nvSpPr>
          <p:cNvPr id="3" name="2 Marcador de contenido"/>
          <p:cNvSpPr>
            <a:spLocks noGrp="1"/>
          </p:cNvSpPr>
          <p:nvPr>
            <p:ph idx="1"/>
          </p:nvPr>
        </p:nvSpPr>
        <p:spPr/>
        <p:txBody>
          <a:bodyPr/>
          <a:lstStyle/>
          <a:p>
            <a:pPr algn="just"/>
            <a:r>
              <a:rPr lang="es-CR" sz="2800" dirty="0" smtClean="0"/>
              <a:t>Si TODAS las variables son continuas, las medidas de similitud más conocidas son:</a:t>
            </a:r>
          </a:p>
          <a:p>
            <a:pPr marL="0" indent="0">
              <a:buNone/>
            </a:pPr>
            <a:endParaRPr lang="es-CR" sz="2800" dirty="0" smtClean="0"/>
          </a:p>
          <a:p>
            <a:pPr marL="514350" indent="-514350" algn="just">
              <a:buAutoNum type="arabicPeriod"/>
            </a:pPr>
            <a:r>
              <a:rPr lang="es-CR" sz="2800" dirty="0" smtClean="0"/>
              <a:t>Distancia </a:t>
            </a:r>
            <a:r>
              <a:rPr lang="es-CR" sz="2800" dirty="0" err="1" smtClean="0"/>
              <a:t>Euclídea</a:t>
            </a:r>
            <a:r>
              <a:rPr lang="es-CR" sz="2800" dirty="0" smtClean="0"/>
              <a:t> o euclidiana.</a:t>
            </a:r>
          </a:p>
          <a:p>
            <a:pPr marL="514350" indent="-514350" algn="just">
              <a:buAutoNum type="arabicPeriod"/>
            </a:pPr>
            <a:r>
              <a:rPr lang="es-CR" sz="2800" dirty="0" smtClean="0"/>
              <a:t>Distancia de </a:t>
            </a:r>
            <a:r>
              <a:rPr lang="es-CR" sz="2800" dirty="0" err="1" smtClean="0"/>
              <a:t>Mahalanobis</a:t>
            </a:r>
            <a:r>
              <a:rPr lang="es-CR" sz="2800" dirty="0" smtClean="0"/>
              <a:t>.</a:t>
            </a:r>
          </a:p>
          <a:p>
            <a:pPr marL="514350" indent="-514350" algn="just">
              <a:buAutoNum type="arabicPeriod"/>
            </a:pPr>
            <a:r>
              <a:rPr lang="es-CR" sz="2800" dirty="0" smtClean="0"/>
              <a:t>Distancia de Manhattan.</a:t>
            </a:r>
          </a:p>
          <a:p>
            <a:pPr marL="514350" indent="-514350" algn="just">
              <a:buAutoNum type="arabicPeriod"/>
            </a:pPr>
            <a:r>
              <a:rPr lang="es-CR" sz="2800" dirty="0" smtClean="0"/>
              <a:t>Distancia de Minkowsky</a:t>
            </a:r>
          </a:p>
          <a:p>
            <a:pPr marL="514350" indent="-514350" algn="just">
              <a:buAutoNum type="arabicPeriod"/>
            </a:pPr>
            <a:r>
              <a:rPr lang="es-CR" sz="2800" dirty="0" smtClean="0"/>
              <a:t>Distancia de </a:t>
            </a:r>
            <a:r>
              <a:rPr lang="es-CR" sz="2800" dirty="0" err="1" smtClean="0"/>
              <a:t>Chebishev</a:t>
            </a:r>
            <a:endParaRPr lang="es-CR" sz="2800" dirty="0" smtClean="0"/>
          </a:p>
          <a:p>
            <a:pPr marL="514350" indent="-514350">
              <a:buAutoNum type="arabicPeriod"/>
            </a:pPr>
            <a:endParaRPr lang="es-CR" dirty="0"/>
          </a:p>
        </p:txBody>
      </p:sp>
    </p:spTree>
    <p:extLst>
      <p:ext uri="{BB962C8B-B14F-4D97-AF65-F5344CB8AC3E}">
        <p14:creationId xmlns:p14="http://schemas.microsoft.com/office/powerpoint/2010/main" val="20561573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188640"/>
            <a:ext cx="8229600" cy="1143000"/>
          </a:xfrm>
        </p:spPr>
        <p:txBody>
          <a:bodyPr/>
          <a:lstStyle/>
          <a:p>
            <a:r>
              <a:rPr lang="es-CR" dirty="0" smtClean="0"/>
              <a:t>Distancia </a:t>
            </a:r>
            <a:r>
              <a:rPr lang="es-CR" dirty="0" err="1" smtClean="0"/>
              <a:t>Euclídea</a:t>
            </a:r>
            <a:endParaRPr lang="es-CR" dirty="0"/>
          </a:p>
        </p:txBody>
      </p:sp>
      <p:sp>
        <p:nvSpPr>
          <p:cNvPr id="3" name="2 Marcador de contenido"/>
          <p:cNvSpPr>
            <a:spLocks noGrp="1"/>
          </p:cNvSpPr>
          <p:nvPr>
            <p:ph idx="1"/>
          </p:nvPr>
        </p:nvSpPr>
        <p:spPr>
          <a:xfrm>
            <a:off x="457200" y="1600200"/>
            <a:ext cx="8229600" cy="4997152"/>
          </a:xfrm>
        </p:spPr>
        <p:txBody>
          <a:bodyPr>
            <a:normAutofit/>
          </a:bodyPr>
          <a:lstStyle/>
          <a:p>
            <a:r>
              <a:rPr lang="es-CR" sz="2800" dirty="0" smtClean="0"/>
              <a:t>La distancia más común es la distancia </a:t>
            </a:r>
            <a:r>
              <a:rPr lang="es-CR" sz="2800" dirty="0" err="1" smtClean="0"/>
              <a:t>euclídea</a:t>
            </a:r>
            <a:r>
              <a:rPr lang="es-CR" sz="2800" dirty="0" smtClean="0"/>
              <a:t> o </a:t>
            </a:r>
            <a:r>
              <a:rPr lang="es-CR" sz="2800" dirty="0" err="1" smtClean="0"/>
              <a:t>euclideana</a:t>
            </a:r>
            <a:r>
              <a:rPr lang="es-CR" sz="2800" dirty="0" smtClean="0"/>
              <a:t>. Esta se define como:</a:t>
            </a:r>
          </a:p>
          <a:p>
            <a:endParaRPr lang="es-CR" sz="2800" dirty="0"/>
          </a:p>
          <a:p>
            <a:endParaRPr lang="es-CR" sz="2800" dirty="0" smtClean="0"/>
          </a:p>
          <a:p>
            <a:endParaRPr lang="es-CR" sz="2800" dirty="0"/>
          </a:p>
          <a:p>
            <a:pPr marL="0" indent="0">
              <a:buNone/>
            </a:pPr>
            <a:r>
              <a:rPr lang="es-MX" altLang="es-CR" sz="2800" dirty="0"/>
              <a:t>donde </a:t>
            </a:r>
            <a:r>
              <a:rPr lang="es-MX" altLang="es-CR" sz="2800" dirty="0" err="1"/>
              <a:t>x</a:t>
            </a:r>
            <a:r>
              <a:rPr lang="es-MX" altLang="es-CR" sz="2800" baseline="-25000" dirty="0" err="1"/>
              <a:t>ik</a:t>
            </a:r>
            <a:r>
              <a:rPr lang="es-MX" altLang="es-CR" sz="2800" dirty="0"/>
              <a:t> es el valor que toma la </a:t>
            </a:r>
            <a:r>
              <a:rPr lang="es-MX" altLang="es-CR" sz="2800" i="1" dirty="0"/>
              <a:t>i-</a:t>
            </a:r>
            <a:r>
              <a:rPr lang="es-MX" altLang="es-CR" sz="2800" i="1" dirty="0" err="1"/>
              <a:t>ésima</a:t>
            </a:r>
            <a:r>
              <a:rPr lang="es-MX" altLang="es-CR" sz="2800" dirty="0"/>
              <a:t> unidad en la </a:t>
            </a:r>
            <a:r>
              <a:rPr lang="es-MX" altLang="es-CR" sz="2800" i="1" dirty="0"/>
              <a:t>k-</a:t>
            </a:r>
            <a:r>
              <a:rPr lang="es-MX" altLang="es-CR" sz="2800" i="1" dirty="0" err="1"/>
              <a:t>ésima</a:t>
            </a:r>
            <a:r>
              <a:rPr lang="es-MX" altLang="es-CR" sz="2800" dirty="0"/>
              <a:t> variable, y X</a:t>
            </a:r>
            <a:r>
              <a:rPr lang="es-MX" altLang="es-CR" sz="2800" baseline="-25000" dirty="0"/>
              <a:t>i</a:t>
            </a:r>
            <a:r>
              <a:rPr lang="es-MX" altLang="es-CR" sz="2800" dirty="0"/>
              <a:t> es el vector de </a:t>
            </a:r>
            <a:r>
              <a:rPr lang="es-MX" altLang="es-CR" sz="2800" i="1" dirty="0"/>
              <a:t>q</a:t>
            </a:r>
            <a:r>
              <a:rPr lang="es-MX" altLang="es-CR" sz="2800" dirty="0"/>
              <a:t> valores de la </a:t>
            </a:r>
            <a:r>
              <a:rPr lang="es-MX" altLang="es-CR" sz="2800" i="1" dirty="0"/>
              <a:t>i-</a:t>
            </a:r>
            <a:r>
              <a:rPr lang="es-MX" altLang="es-CR" sz="2800" i="1" dirty="0" err="1"/>
              <a:t>ésima</a:t>
            </a:r>
            <a:r>
              <a:rPr lang="es-MX" altLang="es-CR" sz="2800" dirty="0"/>
              <a:t> unidad:</a:t>
            </a:r>
            <a:endParaRPr lang="es-CR" sz="2800" dirty="0" smtClean="0"/>
          </a:p>
          <a:p>
            <a:endParaRPr lang="es-CR" sz="2800" dirty="0"/>
          </a:p>
        </p:txBody>
      </p:sp>
      <p:graphicFrame>
        <p:nvGraphicFramePr>
          <p:cNvPr id="4" name="3 Objeto"/>
          <p:cNvGraphicFramePr>
            <a:graphicFrameLocks noChangeAspect="1"/>
          </p:cNvGraphicFramePr>
          <p:nvPr>
            <p:extLst>
              <p:ext uri="{D42A27DB-BD31-4B8C-83A1-F6EECF244321}">
                <p14:modId xmlns:p14="http://schemas.microsoft.com/office/powerpoint/2010/main" val="2463563279"/>
              </p:ext>
            </p:extLst>
          </p:nvPr>
        </p:nvGraphicFramePr>
        <p:xfrm>
          <a:off x="1907705" y="2996952"/>
          <a:ext cx="5529606" cy="936104"/>
        </p:xfrm>
        <a:graphic>
          <a:graphicData uri="http://schemas.openxmlformats.org/presentationml/2006/ole">
            <mc:AlternateContent xmlns:mc="http://schemas.openxmlformats.org/markup-compatibility/2006">
              <mc:Choice xmlns:v="urn:schemas-microsoft-com:vml" Requires="v">
                <p:oleObj spid="_x0000_s4162" name="Ecuación" r:id="rId3" imgW="2832100" imgH="482600" progId="Equation.3">
                  <p:embed/>
                </p:oleObj>
              </mc:Choice>
              <mc:Fallback>
                <p:oleObj name="Ecuación" r:id="rId3" imgW="2832100" imgH="4826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5" y="2996952"/>
                        <a:ext cx="5529606" cy="936104"/>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5" name="4 Objeto"/>
          <p:cNvGraphicFramePr>
            <a:graphicFrameLocks noChangeAspect="1"/>
          </p:cNvGraphicFramePr>
          <p:nvPr>
            <p:extLst>
              <p:ext uri="{D42A27DB-BD31-4B8C-83A1-F6EECF244321}">
                <p14:modId xmlns:p14="http://schemas.microsoft.com/office/powerpoint/2010/main" val="2107055873"/>
              </p:ext>
            </p:extLst>
          </p:nvPr>
        </p:nvGraphicFramePr>
        <p:xfrm>
          <a:off x="2843808" y="5013176"/>
          <a:ext cx="2549525" cy="431800"/>
        </p:xfrm>
        <a:graphic>
          <a:graphicData uri="http://schemas.openxmlformats.org/presentationml/2006/ole">
            <mc:AlternateContent xmlns:mc="http://schemas.openxmlformats.org/markup-compatibility/2006">
              <mc:Choice xmlns:v="urn:schemas-microsoft-com:vml" Requires="v">
                <p:oleObj spid="_x0000_s4163" name="Ecuación" r:id="rId5" imgW="1497950" imgH="253890" progId="Equation.3">
                  <p:embed/>
                </p:oleObj>
              </mc:Choice>
              <mc:Fallback>
                <p:oleObj name="Ecuación" r:id="rId5" imgW="1497950" imgH="25389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808" y="5013176"/>
                        <a:ext cx="2549525" cy="43180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364615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7504" y="1412776"/>
            <a:ext cx="8856984" cy="5328592"/>
          </a:xfrm>
        </p:spPr>
        <p:txBody>
          <a:bodyPr>
            <a:normAutofit/>
          </a:bodyPr>
          <a:lstStyle/>
          <a:p>
            <a:pPr algn="just"/>
            <a:r>
              <a:rPr lang="es-CR" altLang="es-CR" sz="2800" dirty="0"/>
              <a:t>Esta </a:t>
            </a:r>
            <a:r>
              <a:rPr lang="es-CR" altLang="es-CR" sz="2800" dirty="0" smtClean="0"/>
              <a:t>distancia </a:t>
            </a:r>
            <a:r>
              <a:rPr lang="es-CR" altLang="es-CR" sz="2800" dirty="0"/>
              <a:t>incluye un procedimiento </a:t>
            </a:r>
            <a:r>
              <a:rPr lang="es-CR" altLang="es-CR" sz="2800" dirty="0" smtClean="0"/>
              <a:t>de estandarización </a:t>
            </a:r>
            <a:r>
              <a:rPr lang="es-CR" altLang="es-CR" sz="2800" dirty="0"/>
              <a:t>dentro de la distancia </a:t>
            </a:r>
            <a:r>
              <a:rPr lang="es-CR" altLang="es-CR" sz="2800" dirty="0" err="1" smtClean="0"/>
              <a:t>Euclídea</a:t>
            </a:r>
            <a:r>
              <a:rPr lang="es-CR" altLang="es-CR" sz="2800" dirty="0"/>
              <a:t> </a:t>
            </a:r>
            <a:r>
              <a:rPr lang="es-CR" altLang="es-CR" sz="2800" dirty="0" smtClean="0"/>
              <a:t>y </a:t>
            </a:r>
            <a:r>
              <a:rPr lang="es-CR" altLang="es-CR" sz="2800" dirty="0"/>
              <a:t>ajusta según las correlaciones entre </a:t>
            </a:r>
            <a:r>
              <a:rPr lang="es-CR" altLang="es-CR" sz="2800" dirty="0" smtClean="0"/>
              <a:t>variables:</a:t>
            </a:r>
          </a:p>
          <a:p>
            <a:pPr algn="just"/>
            <a:endParaRPr lang="es-CR" sz="2800" dirty="0"/>
          </a:p>
          <a:p>
            <a:pPr algn="just"/>
            <a:endParaRPr lang="es-CR" sz="2800" dirty="0" smtClean="0"/>
          </a:p>
          <a:p>
            <a:pPr marL="0" indent="0" algn="just">
              <a:buNone/>
            </a:pPr>
            <a:endParaRPr lang="es-CR" altLang="es-CR" sz="2800" dirty="0" smtClean="0"/>
          </a:p>
          <a:p>
            <a:pPr marL="0" indent="0" algn="just">
              <a:buNone/>
            </a:pPr>
            <a:r>
              <a:rPr lang="es-MX" altLang="es-CR" sz="2800" dirty="0" smtClean="0"/>
              <a:t>donde </a:t>
            </a:r>
            <a:r>
              <a:rPr lang="es-MX" altLang="es-CR" sz="2800" dirty="0"/>
              <a:t>S </a:t>
            </a:r>
            <a:r>
              <a:rPr lang="es-MX" altLang="es-CR" sz="2800" dirty="0" smtClean="0"/>
              <a:t>es </a:t>
            </a:r>
            <a:r>
              <a:rPr lang="es-MX" altLang="es-CR" sz="2800" dirty="0"/>
              <a:t>la matriz de covariancias de dimensión </a:t>
            </a:r>
            <a:r>
              <a:rPr lang="es-MX" altLang="es-CR" sz="2800" i="1" dirty="0" err="1"/>
              <a:t>qxq</a:t>
            </a:r>
            <a:r>
              <a:rPr lang="es-MX" altLang="es-CR" sz="2800" dirty="0" smtClean="0"/>
              <a:t>.</a:t>
            </a:r>
          </a:p>
          <a:p>
            <a:pPr marL="0" indent="0" algn="just">
              <a:buNone/>
            </a:pPr>
            <a:endParaRPr lang="es-MX" sz="2800" dirty="0"/>
          </a:p>
          <a:p>
            <a:pPr algn="just"/>
            <a:r>
              <a:rPr lang="es-MX" altLang="es-CR" sz="2800" dirty="0"/>
              <a:t>Es invariante frente a transformaciones lineales de las </a:t>
            </a:r>
            <a:r>
              <a:rPr lang="es-MX" altLang="es-CR" sz="2800" dirty="0" smtClean="0"/>
              <a:t>variables y </a:t>
            </a:r>
            <a:r>
              <a:rPr lang="es-MX" altLang="es-CR" sz="2800" dirty="0"/>
              <a:t>Toma en cuenta las correlaciones entre </a:t>
            </a:r>
            <a:r>
              <a:rPr lang="es-MX" altLang="es-CR" sz="2800" dirty="0" smtClean="0"/>
              <a:t>variables.</a:t>
            </a:r>
            <a:endParaRPr lang="es-CR" sz="2800" dirty="0"/>
          </a:p>
        </p:txBody>
      </p:sp>
      <p:sp>
        <p:nvSpPr>
          <p:cNvPr id="4" name="1 Título"/>
          <p:cNvSpPr>
            <a:spLocks noGrp="1"/>
          </p:cNvSpPr>
          <p:nvPr>
            <p:ph type="title"/>
          </p:nvPr>
        </p:nvSpPr>
        <p:spPr>
          <a:xfrm>
            <a:off x="395536" y="188640"/>
            <a:ext cx="8229600" cy="1143000"/>
          </a:xfrm>
        </p:spPr>
        <p:txBody>
          <a:bodyPr/>
          <a:lstStyle/>
          <a:p>
            <a:r>
              <a:rPr lang="es-CR" dirty="0" smtClean="0"/>
              <a:t>Distancia de </a:t>
            </a:r>
            <a:r>
              <a:rPr lang="es-CR" dirty="0" err="1" smtClean="0"/>
              <a:t>Mahalanobis</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1642040017"/>
              </p:ext>
            </p:extLst>
          </p:nvPr>
        </p:nvGraphicFramePr>
        <p:xfrm>
          <a:off x="1907704" y="3059683"/>
          <a:ext cx="5762334" cy="801365"/>
        </p:xfrm>
        <a:graphic>
          <a:graphicData uri="http://schemas.openxmlformats.org/presentationml/2006/ole">
            <mc:AlternateContent xmlns:mc="http://schemas.openxmlformats.org/markup-compatibility/2006">
              <mc:Choice xmlns:v="urn:schemas-microsoft-com:vml" Requires="v">
                <p:oleObj spid="_x0000_s5154" name="Ecuación" r:id="rId3" imgW="1866090" imgH="253890" progId="Equation.3">
                  <p:embed/>
                </p:oleObj>
              </mc:Choice>
              <mc:Fallback>
                <p:oleObj name="Ecuación" r:id="rId3" imgW="1866090" imgH="25389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3059683"/>
                        <a:ext cx="5762334" cy="801365"/>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916529551"/>
      </p:ext>
    </p:extLst>
  </p:cSld>
  <p:clrMapOvr>
    <a:masterClrMapping/>
  </p:clrMapOvr>
  <p:transition spd="slow">
    <p:wheel spokes="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274638"/>
            <a:ext cx="8856984" cy="1143000"/>
          </a:xfrm>
        </p:spPr>
        <p:txBody>
          <a:bodyPr>
            <a:normAutofit/>
          </a:bodyPr>
          <a:lstStyle/>
          <a:p>
            <a:r>
              <a:rPr lang="es-CR" dirty="0" smtClean="0"/>
              <a:t>Distancia de Manhattan (City-block)</a:t>
            </a:r>
            <a:endParaRPr lang="es-CR" dirty="0"/>
          </a:p>
        </p:txBody>
      </p:sp>
      <p:sp>
        <p:nvSpPr>
          <p:cNvPr id="3" name="2 Marcador de contenido"/>
          <p:cNvSpPr>
            <a:spLocks noGrp="1"/>
          </p:cNvSpPr>
          <p:nvPr>
            <p:ph idx="1"/>
          </p:nvPr>
        </p:nvSpPr>
        <p:spPr/>
        <p:txBody>
          <a:bodyPr>
            <a:normAutofit/>
          </a:bodyPr>
          <a:lstStyle/>
          <a:p>
            <a:pPr algn="just"/>
            <a:r>
              <a:rPr lang="es-MX" altLang="es-CR" sz="2800" dirty="0"/>
              <a:t>En esta medida se usa el valor absoluto de las diferencias en lugar de su </a:t>
            </a:r>
            <a:r>
              <a:rPr lang="es-MX" altLang="es-CR" sz="2800" dirty="0" smtClean="0"/>
              <a:t>cuadrado:</a:t>
            </a:r>
          </a:p>
          <a:p>
            <a:pPr algn="just"/>
            <a:endParaRPr lang="es-MX" altLang="es-CR" sz="2800" dirty="0"/>
          </a:p>
          <a:p>
            <a:pPr algn="just"/>
            <a:endParaRPr lang="es-MX" altLang="es-CR" sz="2800" dirty="0" smtClean="0"/>
          </a:p>
          <a:p>
            <a:pPr algn="just"/>
            <a:endParaRPr lang="es-MX" altLang="es-CR" sz="2800" dirty="0"/>
          </a:p>
          <a:p>
            <a:pPr algn="just"/>
            <a:r>
              <a:rPr lang="es-MX" altLang="es-CR" sz="2800" dirty="0"/>
              <a:t>Esta medida tiene la restricción de que asume que las variables no están correlacionadas</a:t>
            </a:r>
            <a:endParaRPr lang="es-MX" altLang="es-CR" sz="2800" dirty="0" smtClean="0"/>
          </a:p>
          <a:p>
            <a:pPr marL="0" indent="0" algn="just">
              <a:buNone/>
            </a:pPr>
            <a:endParaRPr lang="es-MX" altLang="es-CR" sz="2800" dirty="0" smtClean="0"/>
          </a:p>
          <a:p>
            <a:pPr marL="0" indent="0" algn="just">
              <a:buNone/>
            </a:pPr>
            <a:endParaRPr lang="es-MX" sz="2800" dirty="0"/>
          </a:p>
          <a:p>
            <a:pPr marL="0" indent="0" algn="just">
              <a:buNone/>
            </a:pPr>
            <a:endParaRPr lang="es-CR" sz="2800" dirty="0"/>
          </a:p>
        </p:txBody>
      </p:sp>
      <p:graphicFrame>
        <p:nvGraphicFramePr>
          <p:cNvPr id="4" name="3 Objeto"/>
          <p:cNvGraphicFramePr>
            <a:graphicFrameLocks noChangeAspect="1"/>
          </p:cNvGraphicFramePr>
          <p:nvPr>
            <p:extLst>
              <p:ext uri="{D42A27DB-BD31-4B8C-83A1-F6EECF244321}">
                <p14:modId xmlns:p14="http://schemas.microsoft.com/office/powerpoint/2010/main" val="4155072202"/>
              </p:ext>
            </p:extLst>
          </p:nvPr>
        </p:nvGraphicFramePr>
        <p:xfrm>
          <a:off x="3059832" y="2780928"/>
          <a:ext cx="2736304" cy="1040320"/>
        </p:xfrm>
        <a:graphic>
          <a:graphicData uri="http://schemas.openxmlformats.org/presentationml/2006/ole">
            <mc:AlternateContent xmlns:mc="http://schemas.openxmlformats.org/markup-compatibility/2006">
              <mc:Choice xmlns:v="urn:schemas-microsoft-com:vml" Requires="v">
                <p:oleObj spid="_x0000_s6177" name="Ecuación" r:id="rId3" imgW="1167893" imgH="444307" progId="Equation.3">
                  <p:embed/>
                </p:oleObj>
              </mc:Choice>
              <mc:Fallback>
                <p:oleObj name="Ecuación" r:id="rId3" imgW="1167893" imgH="444307"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2780928"/>
                        <a:ext cx="2736304" cy="1040320"/>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488726227"/>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MX" altLang="es-CR" sz="2800" dirty="0"/>
              <a:t>Es el caso más general de la distancia </a:t>
            </a:r>
            <a:r>
              <a:rPr lang="es-MX" altLang="es-CR" sz="2800" dirty="0" err="1"/>
              <a:t>city</a:t>
            </a:r>
            <a:r>
              <a:rPr lang="es-MX" altLang="es-CR" sz="2800" dirty="0"/>
              <a:t>-block, pero cuenta con un exponente r:</a:t>
            </a:r>
          </a:p>
          <a:p>
            <a:pPr marL="0" indent="0">
              <a:buNone/>
            </a:pPr>
            <a:endParaRPr lang="es-CR" dirty="0"/>
          </a:p>
        </p:txBody>
      </p:sp>
      <p:sp>
        <p:nvSpPr>
          <p:cNvPr id="4" name="1 Título"/>
          <p:cNvSpPr>
            <a:spLocks noGrp="1"/>
          </p:cNvSpPr>
          <p:nvPr>
            <p:ph type="title"/>
          </p:nvPr>
        </p:nvSpPr>
        <p:spPr>
          <a:xfrm>
            <a:off x="179512" y="274638"/>
            <a:ext cx="8856984" cy="1143000"/>
          </a:xfrm>
        </p:spPr>
        <p:txBody>
          <a:bodyPr>
            <a:normAutofit/>
          </a:bodyPr>
          <a:lstStyle/>
          <a:p>
            <a:r>
              <a:rPr lang="es-CR" dirty="0" smtClean="0"/>
              <a:t>Distancia de </a:t>
            </a:r>
            <a:r>
              <a:rPr lang="es-CR" dirty="0" err="1" smtClean="0"/>
              <a:t>Minkowski</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1191561512"/>
              </p:ext>
            </p:extLst>
          </p:nvPr>
        </p:nvGraphicFramePr>
        <p:xfrm>
          <a:off x="2267744" y="3068960"/>
          <a:ext cx="4896544" cy="1323259"/>
        </p:xfrm>
        <a:graphic>
          <a:graphicData uri="http://schemas.openxmlformats.org/presentationml/2006/ole">
            <mc:AlternateContent xmlns:mc="http://schemas.openxmlformats.org/markup-compatibility/2006">
              <mc:Choice xmlns:v="urn:schemas-microsoft-com:vml" Requires="v">
                <p:oleObj spid="_x0000_s7201" name="Ecuación" r:id="rId3" imgW="1879600" imgH="508000" progId="Equation.3">
                  <p:embed/>
                </p:oleObj>
              </mc:Choice>
              <mc:Fallback>
                <p:oleObj name="Ecuación" r:id="rId3" imgW="1879600" imgH="5080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744" y="3068960"/>
                        <a:ext cx="4896544" cy="1323259"/>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220276304"/>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altLang="es-CR" dirty="0">
                <a:latin typeface="Times New Roman" pitchFamily="18" charset="0"/>
              </a:rPr>
              <a:t>Distancia de </a:t>
            </a:r>
            <a:r>
              <a:rPr lang="es-MX" altLang="es-CR" dirty="0" err="1">
                <a:latin typeface="Times New Roman" pitchFamily="18" charset="0"/>
              </a:rPr>
              <a:t>Chebyshev</a:t>
            </a:r>
            <a:endParaRPr lang="es-CR" dirty="0"/>
          </a:p>
        </p:txBody>
      </p:sp>
      <p:sp>
        <p:nvSpPr>
          <p:cNvPr id="3" name="2 Marcador de contenido"/>
          <p:cNvSpPr>
            <a:spLocks noGrp="1"/>
          </p:cNvSpPr>
          <p:nvPr>
            <p:ph idx="1"/>
          </p:nvPr>
        </p:nvSpPr>
        <p:spPr/>
        <p:txBody>
          <a:bodyPr>
            <a:normAutofit/>
          </a:bodyPr>
          <a:lstStyle/>
          <a:p>
            <a:pPr algn="just"/>
            <a:r>
              <a:rPr lang="es-CR" altLang="es-CR" sz="2800" dirty="0"/>
              <a:t>La distancia entre dos puntos (representados por sus vectores) es la mayor de sus diferencias a lo largo de cualquiera de sus dimensiones </a:t>
            </a:r>
            <a:r>
              <a:rPr lang="es-CR" altLang="es-CR" sz="2800" dirty="0" smtClean="0"/>
              <a:t>coordenadas:</a:t>
            </a:r>
          </a:p>
          <a:p>
            <a:pPr algn="just"/>
            <a:endParaRPr lang="es-CR" sz="2800" dirty="0"/>
          </a:p>
          <a:p>
            <a:pPr marL="0" indent="0" algn="just">
              <a:buNone/>
            </a:pPr>
            <a:endParaRPr lang="es-CR" sz="2800" dirty="0"/>
          </a:p>
        </p:txBody>
      </p:sp>
      <p:graphicFrame>
        <p:nvGraphicFramePr>
          <p:cNvPr id="4" name="3 Objeto"/>
          <p:cNvGraphicFramePr>
            <a:graphicFrameLocks noChangeAspect="1"/>
          </p:cNvGraphicFramePr>
          <p:nvPr>
            <p:extLst>
              <p:ext uri="{D42A27DB-BD31-4B8C-83A1-F6EECF244321}">
                <p14:modId xmlns:p14="http://schemas.microsoft.com/office/powerpoint/2010/main" val="3431182764"/>
              </p:ext>
            </p:extLst>
          </p:nvPr>
        </p:nvGraphicFramePr>
        <p:xfrm>
          <a:off x="1547664" y="3501008"/>
          <a:ext cx="5904656" cy="768850"/>
        </p:xfrm>
        <a:graphic>
          <a:graphicData uri="http://schemas.openxmlformats.org/presentationml/2006/ole">
            <mc:AlternateContent xmlns:mc="http://schemas.openxmlformats.org/markup-compatibility/2006">
              <mc:Choice xmlns:v="urn:schemas-microsoft-com:vml" Requires="v">
                <p:oleObj spid="_x0000_s8225" name="Ecuación" r:id="rId3" imgW="1993900" imgH="254000" progId="Equation.3">
                  <p:embed/>
                </p:oleObj>
              </mc:Choice>
              <mc:Fallback>
                <p:oleObj name="Ecuación" r:id="rId3" imgW="1993900" imgH="2540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501008"/>
                        <a:ext cx="5904656" cy="768850"/>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3119145834"/>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84976" cy="936104"/>
          </a:xfrm>
        </p:spPr>
        <p:txBody>
          <a:bodyPr/>
          <a:lstStyle/>
          <a:p>
            <a:r>
              <a:rPr lang="es-CR" dirty="0" smtClean="0"/>
              <a:t>Distancia para variables binarias</a:t>
            </a:r>
            <a:endParaRPr lang="es-CR" dirty="0"/>
          </a:p>
        </p:txBody>
      </p:sp>
      <p:sp>
        <p:nvSpPr>
          <p:cNvPr id="3" name="2 Marcador de contenido"/>
          <p:cNvSpPr>
            <a:spLocks noGrp="1"/>
          </p:cNvSpPr>
          <p:nvPr>
            <p:ph idx="1"/>
          </p:nvPr>
        </p:nvSpPr>
        <p:spPr>
          <a:xfrm>
            <a:off x="179512" y="1340768"/>
            <a:ext cx="8712968" cy="5256584"/>
          </a:xfrm>
        </p:spPr>
        <p:txBody>
          <a:bodyPr>
            <a:normAutofit lnSpcReduction="10000"/>
          </a:bodyPr>
          <a:lstStyle/>
          <a:p>
            <a:pPr algn="just"/>
            <a:r>
              <a:rPr lang="es-MX" altLang="es-CR" sz="2400" dirty="0"/>
              <a:t>Para variables binarias existe una serie de coeficientes de similitud que se calculan a partir de las coincidencias entre variables</a:t>
            </a:r>
            <a:r>
              <a:rPr lang="es-MX" altLang="es-CR" sz="2400" dirty="0" smtClean="0"/>
              <a:t>.</a:t>
            </a:r>
          </a:p>
          <a:p>
            <a:pPr algn="just"/>
            <a:endParaRPr lang="es-MX" sz="2400" dirty="0"/>
          </a:p>
          <a:p>
            <a:pPr algn="just"/>
            <a:r>
              <a:rPr lang="es-CR" altLang="es-CR" sz="2400" dirty="0"/>
              <a:t>En un conjunto de </a:t>
            </a:r>
            <a:r>
              <a:rPr lang="es-CR" altLang="es-CR" sz="2400" i="1" dirty="0"/>
              <a:t>q</a:t>
            </a:r>
            <a:r>
              <a:rPr lang="es-CR" altLang="es-CR" sz="2400" dirty="0"/>
              <a:t> variables, al comparar el </a:t>
            </a:r>
            <a:r>
              <a:rPr lang="es-CR" altLang="es-CR" sz="2400" i="1" dirty="0"/>
              <a:t>i-</a:t>
            </a:r>
            <a:r>
              <a:rPr lang="es-CR" altLang="es-CR" sz="2400" i="1" dirty="0" err="1"/>
              <a:t>ésimo</a:t>
            </a:r>
            <a:r>
              <a:rPr lang="es-CR" altLang="es-CR" sz="2400" dirty="0"/>
              <a:t> y </a:t>
            </a:r>
            <a:r>
              <a:rPr lang="es-CR" altLang="es-CR" sz="2400" i="1" dirty="0"/>
              <a:t>j-</a:t>
            </a:r>
            <a:r>
              <a:rPr lang="es-CR" altLang="es-CR" sz="2400" i="1" dirty="0" err="1"/>
              <a:t>ésimo</a:t>
            </a:r>
            <a:r>
              <a:rPr lang="es-CR" altLang="es-CR" sz="2400" dirty="0"/>
              <a:t> individuo se cuenta</a:t>
            </a:r>
            <a:r>
              <a:rPr lang="es-MX" altLang="es-CR" sz="2400" dirty="0" smtClean="0"/>
              <a:t>:</a:t>
            </a:r>
          </a:p>
          <a:p>
            <a:pPr lvl="1" algn="just">
              <a:spcBef>
                <a:spcPct val="0"/>
              </a:spcBef>
              <a:spcAft>
                <a:spcPts val="600"/>
              </a:spcAft>
              <a:buClr>
                <a:schemeClr val="hlink"/>
              </a:buClr>
              <a:buSzTx/>
              <a:buFont typeface="Wingdings" pitchFamily="2" charset="2"/>
              <a:buChar char="§"/>
            </a:pPr>
            <a:r>
              <a:rPr lang="es-MX" altLang="es-CR" sz="2400" dirty="0" err="1"/>
              <a:t>a</a:t>
            </a:r>
            <a:r>
              <a:rPr lang="es-MX" altLang="es-CR" sz="2400" baseline="-25000" dirty="0" err="1"/>
              <a:t>ij</a:t>
            </a:r>
            <a:r>
              <a:rPr lang="es-MX" altLang="es-CR" sz="2400" dirty="0"/>
              <a:t>: número de variables en las que ambos tienen 1.</a:t>
            </a:r>
          </a:p>
          <a:p>
            <a:pPr lvl="1" algn="just">
              <a:spcBef>
                <a:spcPct val="0"/>
              </a:spcBef>
              <a:spcAft>
                <a:spcPts val="600"/>
              </a:spcAft>
              <a:buClr>
                <a:schemeClr val="hlink"/>
              </a:buClr>
              <a:buSzTx/>
              <a:buFont typeface="Wingdings" pitchFamily="2" charset="2"/>
              <a:buChar char="§"/>
            </a:pPr>
            <a:r>
              <a:rPr lang="es-MX" altLang="es-CR" sz="2400" dirty="0" err="1"/>
              <a:t>b</a:t>
            </a:r>
            <a:r>
              <a:rPr lang="es-MX" altLang="es-CR" sz="2400" baseline="-25000" dirty="0" err="1"/>
              <a:t>ij</a:t>
            </a:r>
            <a:r>
              <a:rPr lang="es-MX" altLang="es-CR" sz="2400" dirty="0"/>
              <a:t>: número de variables en las que sólo uno de los dos tiene 1.</a:t>
            </a:r>
          </a:p>
          <a:p>
            <a:pPr lvl="1" algn="just">
              <a:spcBef>
                <a:spcPct val="0"/>
              </a:spcBef>
              <a:spcAft>
                <a:spcPts val="600"/>
              </a:spcAft>
              <a:buClr>
                <a:schemeClr val="hlink"/>
              </a:buClr>
              <a:buSzTx/>
              <a:buFont typeface="Wingdings" pitchFamily="2" charset="2"/>
              <a:buChar char="§"/>
            </a:pPr>
            <a:r>
              <a:rPr lang="es-MX" altLang="es-CR" sz="2400" dirty="0" err="1"/>
              <a:t>c</a:t>
            </a:r>
            <a:r>
              <a:rPr lang="es-MX" altLang="es-CR" sz="2400" baseline="-25000" dirty="0" err="1"/>
              <a:t>ij</a:t>
            </a:r>
            <a:r>
              <a:rPr lang="es-MX" altLang="es-CR" sz="2400" dirty="0"/>
              <a:t>: número de variables en las que ambos tienen 0.</a:t>
            </a:r>
          </a:p>
          <a:p>
            <a:pPr lvl="1" algn="just">
              <a:spcBef>
                <a:spcPct val="0"/>
              </a:spcBef>
              <a:spcAft>
                <a:spcPts val="600"/>
              </a:spcAft>
              <a:buClr>
                <a:schemeClr val="hlink"/>
              </a:buClr>
              <a:buSzTx/>
              <a:buFont typeface="Wingdings" pitchFamily="2" charset="2"/>
              <a:buChar char="§"/>
            </a:pPr>
            <a:r>
              <a:rPr lang="es-MX" altLang="es-CR" sz="2400" dirty="0"/>
              <a:t>q= </a:t>
            </a:r>
            <a:r>
              <a:rPr lang="es-MX" altLang="es-CR" sz="2400" dirty="0" err="1"/>
              <a:t>a</a:t>
            </a:r>
            <a:r>
              <a:rPr lang="es-MX" altLang="es-CR" sz="2400" baseline="-25000" dirty="0" err="1"/>
              <a:t>ij</a:t>
            </a:r>
            <a:r>
              <a:rPr lang="es-MX" altLang="es-CR" sz="2400" dirty="0"/>
              <a:t> +</a:t>
            </a:r>
            <a:r>
              <a:rPr lang="es-MX" altLang="es-CR" sz="2400" dirty="0" err="1"/>
              <a:t>b</a:t>
            </a:r>
            <a:r>
              <a:rPr lang="es-MX" altLang="es-CR" sz="2400" baseline="-25000" dirty="0" err="1"/>
              <a:t>ij</a:t>
            </a:r>
            <a:r>
              <a:rPr lang="es-MX" altLang="es-CR" sz="2400" dirty="0"/>
              <a:t> +</a:t>
            </a:r>
            <a:r>
              <a:rPr lang="es-MX" altLang="es-CR" sz="2400" dirty="0" err="1"/>
              <a:t>c</a:t>
            </a:r>
            <a:r>
              <a:rPr lang="es-MX" altLang="es-CR" sz="2400" baseline="-25000" dirty="0" err="1"/>
              <a:t>ij</a:t>
            </a:r>
            <a:endParaRPr lang="es-MX" altLang="es-CR" sz="2400" dirty="0"/>
          </a:p>
          <a:p>
            <a:pPr marL="0" indent="0" algn="just">
              <a:buNone/>
            </a:pPr>
            <a:endParaRPr lang="es-CR" sz="2400" dirty="0" smtClean="0"/>
          </a:p>
          <a:p>
            <a:pPr algn="just"/>
            <a:r>
              <a:rPr lang="es-MX" altLang="es-CR" sz="2400" dirty="0"/>
              <a:t>Las distancias se calculan a partir de los coeficientes de similitud haciendo:  </a:t>
            </a:r>
            <a:r>
              <a:rPr lang="es-MX" altLang="es-CR" sz="2400" dirty="0" err="1"/>
              <a:t>d</a:t>
            </a:r>
            <a:r>
              <a:rPr lang="es-MX" altLang="es-CR" sz="2400" baseline="-25000" dirty="0" err="1"/>
              <a:t>ij</a:t>
            </a:r>
            <a:r>
              <a:rPr lang="es-MX" altLang="es-CR" sz="2400" dirty="0"/>
              <a:t>=1-s</a:t>
            </a:r>
            <a:r>
              <a:rPr lang="es-MX" altLang="es-CR" sz="2400" baseline="-25000" dirty="0"/>
              <a:t>ij</a:t>
            </a:r>
            <a:r>
              <a:rPr lang="es-MX" altLang="es-CR" sz="2400" dirty="0"/>
              <a:t>.</a:t>
            </a:r>
            <a:endParaRPr lang="es-CR" sz="2400" dirty="0"/>
          </a:p>
        </p:txBody>
      </p:sp>
    </p:spTree>
    <p:extLst>
      <p:ext uri="{BB962C8B-B14F-4D97-AF65-F5344CB8AC3E}">
        <p14:creationId xmlns:p14="http://schemas.microsoft.com/office/powerpoint/2010/main" val="16540130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268760"/>
            <a:ext cx="8568952" cy="5328592"/>
          </a:xfrm>
        </p:spPr>
        <p:txBody>
          <a:bodyPr/>
          <a:lstStyle/>
          <a:p>
            <a:pPr marL="0" indent="0">
              <a:buNone/>
            </a:pPr>
            <a:r>
              <a:rPr lang="es-CR" dirty="0" smtClean="0"/>
              <a:t>Las más conocidas son:</a:t>
            </a:r>
          </a:p>
          <a:p>
            <a:pPr marL="0" indent="0">
              <a:buNone/>
            </a:pPr>
            <a:endParaRPr lang="es-CR" dirty="0"/>
          </a:p>
          <a:p>
            <a:r>
              <a:rPr lang="es-MX" altLang="es-CR" dirty="0" smtClean="0"/>
              <a:t>Coeficiente </a:t>
            </a:r>
            <a:r>
              <a:rPr lang="es-MX" altLang="es-CR" dirty="0"/>
              <a:t>de </a:t>
            </a:r>
            <a:r>
              <a:rPr lang="es-MX" altLang="es-CR" dirty="0" err="1" smtClean="0"/>
              <a:t>Jaccard</a:t>
            </a:r>
            <a:r>
              <a:rPr lang="es-MX" altLang="es-CR" dirty="0" smtClean="0"/>
              <a:t>:</a:t>
            </a:r>
          </a:p>
          <a:p>
            <a:endParaRPr lang="es-MX" dirty="0"/>
          </a:p>
          <a:p>
            <a:r>
              <a:rPr lang="es-MX" altLang="es-CR" dirty="0" smtClean="0"/>
              <a:t>Coeficiente </a:t>
            </a:r>
            <a:r>
              <a:rPr lang="es-MX" altLang="es-CR" dirty="0"/>
              <a:t>de Russel y </a:t>
            </a:r>
            <a:r>
              <a:rPr lang="es-MX" altLang="es-CR" dirty="0" err="1"/>
              <a:t>Rao</a:t>
            </a:r>
            <a:r>
              <a:rPr lang="es-MX" altLang="es-CR" dirty="0" smtClean="0"/>
              <a:t>:</a:t>
            </a:r>
          </a:p>
          <a:p>
            <a:endParaRPr lang="es-MX" dirty="0"/>
          </a:p>
          <a:p>
            <a:r>
              <a:rPr lang="es-MX" altLang="es-CR" dirty="0"/>
              <a:t>Coeficiente de </a:t>
            </a:r>
            <a:r>
              <a:rPr lang="es-MX" altLang="es-CR" dirty="0" err="1"/>
              <a:t>Sokal</a:t>
            </a:r>
            <a:r>
              <a:rPr lang="es-MX" altLang="es-CR" dirty="0"/>
              <a:t> y </a:t>
            </a:r>
            <a:r>
              <a:rPr lang="es-MX" altLang="es-CR" dirty="0" err="1"/>
              <a:t>Michener</a:t>
            </a:r>
            <a:r>
              <a:rPr lang="es-MX" altLang="es-CR" dirty="0" smtClean="0"/>
              <a:t>:</a:t>
            </a:r>
          </a:p>
          <a:p>
            <a:endParaRPr lang="es-MX" dirty="0"/>
          </a:p>
          <a:p>
            <a:r>
              <a:rPr lang="es-MX" altLang="es-CR" dirty="0"/>
              <a:t>Coeficiente de Dice-</a:t>
            </a:r>
            <a:r>
              <a:rPr lang="es-MX" altLang="es-CR" dirty="0" err="1"/>
              <a:t>Sorensen</a:t>
            </a:r>
            <a:r>
              <a:rPr lang="es-MX" altLang="es-CR" dirty="0"/>
              <a:t>:</a:t>
            </a:r>
            <a:endParaRPr lang="es-CR" dirty="0"/>
          </a:p>
        </p:txBody>
      </p:sp>
      <p:sp>
        <p:nvSpPr>
          <p:cNvPr id="4" name="1 Título"/>
          <p:cNvSpPr>
            <a:spLocks noGrp="1"/>
          </p:cNvSpPr>
          <p:nvPr>
            <p:ph type="title"/>
          </p:nvPr>
        </p:nvSpPr>
        <p:spPr>
          <a:xfrm>
            <a:off x="179512" y="116632"/>
            <a:ext cx="8784976" cy="936104"/>
          </a:xfrm>
        </p:spPr>
        <p:txBody>
          <a:bodyPr/>
          <a:lstStyle/>
          <a:p>
            <a:r>
              <a:rPr lang="es-CR" dirty="0" smtClean="0"/>
              <a:t>Distancia para variables binarias</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2757507276"/>
              </p:ext>
            </p:extLst>
          </p:nvPr>
        </p:nvGraphicFramePr>
        <p:xfrm>
          <a:off x="7020272" y="2420888"/>
          <a:ext cx="976312" cy="595313"/>
        </p:xfrm>
        <a:graphic>
          <a:graphicData uri="http://schemas.openxmlformats.org/presentationml/2006/ole">
            <mc:AlternateContent xmlns:mc="http://schemas.openxmlformats.org/markup-compatibility/2006">
              <mc:Choice xmlns:v="urn:schemas-microsoft-com:vml" Requires="v">
                <p:oleObj spid="_x0000_s9342" name="Ecuación" r:id="rId3" imgW="787400" imgH="469900" progId="Equation.3">
                  <p:embed/>
                </p:oleObj>
              </mc:Choice>
              <mc:Fallback>
                <p:oleObj name="Ecuación" r:id="rId3" imgW="787400" imgH="4699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272" y="2420888"/>
                        <a:ext cx="976312" cy="595313"/>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3022902152"/>
              </p:ext>
            </p:extLst>
          </p:nvPr>
        </p:nvGraphicFramePr>
        <p:xfrm>
          <a:off x="7164288" y="3645024"/>
          <a:ext cx="708025" cy="561975"/>
        </p:xfrm>
        <a:graphic>
          <a:graphicData uri="http://schemas.openxmlformats.org/presentationml/2006/ole">
            <mc:AlternateContent xmlns:mc="http://schemas.openxmlformats.org/markup-compatibility/2006">
              <mc:Choice xmlns:v="urn:schemas-microsoft-com:vml" Requires="v">
                <p:oleObj spid="_x0000_s9343" name="Ecuación" r:id="rId5" imgW="571252" imgH="444307" progId="Equation.3">
                  <p:embed/>
                </p:oleObj>
              </mc:Choice>
              <mc:Fallback>
                <p:oleObj name="Ecuación" r:id="rId5" imgW="571252" imgH="444307" progId="Equation.3">
                  <p:embed/>
                  <p:pic>
                    <p:nvPicPr>
                      <p:cNvPr id="0"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288" y="3645024"/>
                        <a:ext cx="708025" cy="561975"/>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1386766259"/>
              </p:ext>
            </p:extLst>
          </p:nvPr>
        </p:nvGraphicFramePr>
        <p:xfrm>
          <a:off x="7020272" y="4869160"/>
          <a:ext cx="1068387" cy="659184"/>
        </p:xfrm>
        <a:graphic>
          <a:graphicData uri="http://schemas.openxmlformats.org/presentationml/2006/ole">
            <mc:AlternateContent xmlns:mc="http://schemas.openxmlformats.org/markup-compatibility/2006">
              <mc:Choice xmlns:v="urn:schemas-microsoft-com:vml" Requires="v">
                <p:oleObj spid="_x0000_s9344" name="Ecuación" r:id="rId7" imgW="863280" imgH="444240" progId="Equation.3">
                  <p:embed/>
                </p:oleObj>
              </mc:Choice>
              <mc:Fallback>
                <p:oleObj name="Ecuación" r:id="rId7" imgW="863280" imgH="444240" progId="Equation.3">
                  <p:embed/>
                  <p:pic>
                    <p:nvPicPr>
                      <p:cNvPr id="0" name="2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0272" y="4869160"/>
                        <a:ext cx="1068387" cy="659184"/>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8" name="7 Objeto"/>
          <p:cNvGraphicFramePr>
            <a:graphicFrameLocks noChangeAspect="1"/>
          </p:cNvGraphicFramePr>
          <p:nvPr>
            <p:extLst>
              <p:ext uri="{D42A27DB-BD31-4B8C-83A1-F6EECF244321}">
                <p14:modId xmlns:p14="http://schemas.microsoft.com/office/powerpoint/2010/main" val="2201096437"/>
              </p:ext>
            </p:extLst>
          </p:nvPr>
        </p:nvGraphicFramePr>
        <p:xfrm>
          <a:off x="7021463" y="6003627"/>
          <a:ext cx="1150937" cy="593725"/>
        </p:xfrm>
        <a:graphic>
          <a:graphicData uri="http://schemas.openxmlformats.org/presentationml/2006/ole">
            <mc:AlternateContent xmlns:mc="http://schemas.openxmlformats.org/markup-compatibility/2006">
              <mc:Choice xmlns:v="urn:schemas-microsoft-com:vml" Requires="v">
                <p:oleObj spid="_x0000_s9345" name="Ecuación" r:id="rId9" imgW="927100" imgH="469900" progId="Equation.3">
                  <p:embed/>
                </p:oleObj>
              </mc:Choice>
              <mc:Fallback>
                <p:oleObj name="Ecuación" r:id="rId9" imgW="927100" imgH="469900" progId="Equation.3">
                  <p:embed/>
                  <p:pic>
                    <p:nvPicPr>
                      <p:cNvPr id="0" name="3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1463" y="6003627"/>
                        <a:ext cx="1150937" cy="593725"/>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3510750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7504" y="1340768"/>
            <a:ext cx="8712968" cy="5256584"/>
          </a:xfrm>
        </p:spPr>
        <p:txBody>
          <a:bodyPr>
            <a:normAutofit lnSpcReduction="10000"/>
          </a:bodyPr>
          <a:lstStyle/>
          <a:p>
            <a:pPr algn="just"/>
            <a:r>
              <a:rPr lang="es-ES" altLang="es-CR" sz="2800" dirty="0"/>
              <a:t>Cuando se tienen tanto variables métricas como variables nominales y/o ordinales se recomienda usar la distancia de </a:t>
            </a:r>
            <a:r>
              <a:rPr lang="es-ES" altLang="es-CR" sz="2800" dirty="0" err="1" smtClean="0"/>
              <a:t>Gower</a:t>
            </a:r>
            <a:r>
              <a:rPr lang="es-ES" altLang="es-CR" sz="2800" dirty="0" smtClean="0"/>
              <a:t>:</a:t>
            </a:r>
          </a:p>
          <a:p>
            <a:pPr algn="just"/>
            <a:endParaRPr lang="es-ES" sz="2800" dirty="0"/>
          </a:p>
          <a:p>
            <a:pPr algn="just"/>
            <a:endParaRPr lang="es-ES" sz="2800" dirty="0" smtClean="0"/>
          </a:p>
          <a:p>
            <a:pPr algn="just"/>
            <a:endParaRPr lang="es-ES" sz="2800" dirty="0"/>
          </a:p>
          <a:p>
            <a:pPr lvl="1" algn="just">
              <a:spcBef>
                <a:spcPct val="0"/>
              </a:spcBef>
              <a:spcAft>
                <a:spcPts val="600"/>
              </a:spcAft>
              <a:buClr>
                <a:schemeClr val="hlink"/>
              </a:buClr>
              <a:buSzTx/>
              <a:buFont typeface="Wingdings" pitchFamily="2" charset="2"/>
              <a:buNone/>
            </a:pPr>
            <a:endParaRPr lang="es-ES" altLang="es-CR" dirty="0"/>
          </a:p>
          <a:p>
            <a:pPr lvl="1" algn="just">
              <a:spcBef>
                <a:spcPct val="0"/>
              </a:spcBef>
              <a:spcAft>
                <a:spcPts val="600"/>
              </a:spcAft>
              <a:buClr>
                <a:schemeClr val="hlink"/>
              </a:buClr>
              <a:buSzTx/>
              <a:buFont typeface="Wingdings" pitchFamily="2" charset="2"/>
              <a:buNone/>
            </a:pPr>
            <a:r>
              <a:rPr lang="es-ES" altLang="es-CR" sz="2400" dirty="0" smtClean="0"/>
              <a:t>donde</a:t>
            </a:r>
            <a:r>
              <a:rPr lang="es-ES" altLang="es-CR" sz="2400" dirty="0"/>
              <a:t>:</a:t>
            </a:r>
          </a:p>
          <a:p>
            <a:pPr lvl="1" algn="just">
              <a:spcBef>
                <a:spcPct val="0"/>
              </a:spcBef>
              <a:spcAft>
                <a:spcPts val="600"/>
              </a:spcAft>
              <a:buClr>
                <a:schemeClr val="hlink"/>
              </a:buClr>
              <a:buSzTx/>
              <a:buFont typeface="Wingdings" pitchFamily="2" charset="2"/>
              <a:buChar char="§"/>
            </a:pPr>
            <a:r>
              <a:rPr lang="es-MX" altLang="es-CR" sz="1800" dirty="0"/>
              <a:t>R</a:t>
            </a:r>
            <a:r>
              <a:rPr lang="es-MX" altLang="es-CR" sz="1800" baseline="-25000" dirty="0"/>
              <a:t>h</a:t>
            </a:r>
            <a:r>
              <a:rPr lang="es-MX" altLang="es-CR" sz="1800" dirty="0"/>
              <a:t> = rango de la </a:t>
            </a:r>
            <a:r>
              <a:rPr lang="es-MX" altLang="es-CR" sz="1800" i="1" dirty="0"/>
              <a:t>h-</a:t>
            </a:r>
            <a:r>
              <a:rPr lang="es-MX" altLang="es-CR" sz="1800" i="1" dirty="0" err="1"/>
              <a:t>ésima</a:t>
            </a:r>
            <a:r>
              <a:rPr lang="es-MX" altLang="es-CR" sz="1800" dirty="0"/>
              <a:t> variable cuantitativa, </a:t>
            </a:r>
          </a:p>
          <a:p>
            <a:pPr lvl="1" algn="just">
              <a:spcBef>
                <a:spcPct val="0"/>
              </a:spcBef>
              <a:spcAft>
                <a:spcPts val="600"/>
              </a:spcAft>
              <a:buClr>
                <a:schemeClr val="hlink"/>
              </a:buClr>
              <a:buSzTx/>
              <a:buFont typeface="Wingdings" pitchFamily="2" charset="2"/>
              <a:buChar char="§"/>
            </a:pPr>
            <a:r>
              <a:rPr lang="es-MX" altLang="es-CR" sz="1800" dirty="0" err="1">
                <a:latin typeface="Symbol" pitchFamily="18" charset="2"/>
              </a:rPr>
              <a:t>b</a:t>
            </a:r>
            <a:r>
              <a:rPr lang="es-MX" altLang="es-CR" sz="1800" baseline="-25000" dirty="0" err="1"/>
              <a:t>ij</a:t>
            </a:r>
            <a:r>
              <a:rPr lang="es-MX" altLang="es-CR" sz="1800" dirty="0"/>
              <a:t> = número de variables cualitativas que no son idénticas, </a:t>
            </a:r>
          </a:p>
          <a:p>
            <a:pPr lvl="1" algn="just">
              <a:spcBef>
                <a:spcPct val="0"/>
              </a:spcBef>
              <a:spcAft>
                <a:spcPts val="600"/>
              </a:spcAft>
              <a:buClr>
                <a:schemeClr val="hlink"/>
              </a:buClr>
              <a:buSzTx/>
              <a:buFont typeface="Wingdings" pitchFamily="2" charset="2"/>
              <a:buChar char="§"/>
            </a:pPr>
            <a:r>
              <a:rPr lang="es-MX" altLang="es-CR" sz="1800" dirty="0"/>
              <a:t>q  = número total de variables,</a:t>
            </a:r>
          </a:p>
          <a:p>
            <a:pPr lvl="1" algn="just">
              <a:spcBef>
                <a:spcPct val="0"/>
              </a:spcBef>
              <a:spcAft>
                <a:spcPts val="600"/>
              </a:spcAft>
              <a:buClr>
                <a:schemeClr val="hlink"/>
              </a:buClr>
              <a:buSzTx/>
              <a:buFont typeface="Wingdings" pitchFamily="2" charset="2"/>
              <a:buChar char="§"/>
            </a:pPr>
            <a:r>
              <a:rPr lang="es-MX" altLang="es-CR" sz="1800" dirty="0"/>
              <a:t>d</a:t>
            </a:r>
            <a:r>
              <a:rPr lang="es-MX" altLang="es-CR" sz="1800" baseline="-25000" dirty="0"/>
              <a:t>00</a:t>
            </a:r>
            <a:r>
              <a:rPr lang="es-MX" altLang="es-CR" sz="1800" dirty="0"/>
              <a:t> = número de variables binarias asimétricas con ambas respuestas en cero. Este caso es menos común pues una variable es binaria asimétrica si el cero no se puede cambiar, por lo que en la mayoría de los casos d</a:t>
            </a:r>
            <a:r>
              <a:rPr lang="es-MX" altLang="es-CR" sz="1800" baseline="-25000" dirty="0"/>
              <a:t>00</a:t>
            </a:r>
            <a:r>
              <a:rPr lang="es-MX" altLang="es-CR" sz="1800" dirty="0"/>
              <a:t>=0</a:t>
            </a:r>
            <a:r>
              <a:rPr lang="es-MX" altLang="es-CR" sz="1800" dirty="0" smtClean="0"/>
              <a:t>.</a:t>
            </a:r>
            <a:endParaRPr lang="es-MX" altLang="es-CR" sz="1800" dirty="0"/>
          </a:p>
        </p:txBody>
      </p:sp>
      <p:sp>
        <p:nvSpPr>
          <p:cNvPr id="4" name="1 Título"/>
          <p:cNvSpPr>
            <a:spLocks noGrp="1"/>
          </p:cNvSpPr>
          <p:nvPr>
            <p:ph type="title"/>
          </p:nvPr>
        </p:nvSpPr>
        <p:spPr>
          <a:xfrm>
            <a:off x="0" y="116632"/>
            <a:ext cx="9144000" cy="936104"/>
          </a:xfrm>
        </p:spPr>
        <p:txBody>
          <a:bodyPr>
            <a:normAutofit/>
          </a:bodyPr>
          <a:lstStyle/>
          <a:p>
            <a:r>
              <a:rPr lang="es-CR" dirty="0" smtClean="0"/>
              <a:t>Distancia para varios tipos de variables</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2496360684"/>
              </p:ext>
            </p:extLst>
          </p:nvPr>
        </p:nvGraphicFramePr>
        <p:xfrm>
          <a:off x="2267744" y="2780928"/>
          <a:ext cx="4968552" cy="1430624"/>
        </p:xfrm>
        <a:graphic>
          <a:graphicData uri="http://schemas.openxmlformats.org/presentationml/2006/ole">
            <mc:AlternateContent xmlns:mc="http://schemas.openxmlformats.org/markup-compatibility/2006">
              <mc:Choice xmlns:v="urn:schemas-microsoft-com:vml" Requires="v">
                <p:oleObj spid="_x0000_s10272" name="Ecuación" r:id="rId3" imgW="1981200" imgH="558800" progId="Equation.3">
                  <p:embed/>
                </p:oleObj>
              </mc:Choice>
              <mc:Fallback>
                <p:oleObj name="Ecuación" r:id="rId3" imgW="1981200" imgH="5588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744" y="2780928"/>
                        <a:ext cx="4968552" cy="1430624"/>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470797285"/>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008" y="116632"/>
            <a:ext cx="8928992" cy="936104"/>
          </a:xfrm>
        </p:spPr>
        <p:txBody>
          <a:bodyPr>
            <a:normAutofit/>
          </a:bodyPr>
          <a:lstStyle/>
          <a:p>
            <a:r>
              <a:rPr lang="es-CR" dirty="0" smtClean="0"/>
              <a:t>La importancia de la estandarización</a:t>
            </a:r>
            <a:endParaRPr lang="es-CR" dirty="0"/>
          </a:p>
        </p:txBody>
      </p:sp>
      <p:sp>
        <p:nvSpPr>
          <p:cNvPr id="3" name="2 Marcador de contenido"/>
          <p:cNvSpPr>
            <a:spLocks noGrp="1"/>
          </p:cNvSpPr>
          <p:nvPr>
            <p:ph idx="1"/>
          </p:nvPr>
        </p:nvSpPr>
        <p:spPr>
          <a:xfrm>
            <a:off x="107504" y="1340768"/>
            <a:ext cx="8928992" cy="5328592"/>
          </a:xfrm>
        </p:spPr>
        <p:txBody>
          <a:bodyPr>
            <a:normAutofit/>
          </a:bodyPr>
          <a:lstStyle/>
          <a:p>
            <a:pPr algn="just"/>
            <a:r>
              <a:rPr lang="es-CR" altLang="es-CR" sz="2400" dirty="0"/>
              <a:t>Variables con mayor dispersión tienen un mayor impacto en el valor final de </a:t>
            </a:r>
            <a:r>
              <a:rPr lang="es-CR" altLang="es-CR" sz="2400" dirty="0" smtClean="0"/>
              <a:t>similitud</a:t>
            </a:r>
          </a:p>
          <a:p>
            <a:pPr algn="just"/>
            <a:r>
              <a:rPr lang="es-CR" altLang="es-CR" sz="2400" dirty="0"/>
              <a:t>Hay una ponderación implícita de las variables basada en la dispersión relativa cuando se construyen algunas medidas de </a:t>
            </a:r>
            <a:r>
              <a:rPr lang="es-CR" altLang="es-CR" sz="2400" dirty="0" smtClean="0"/>
              <a:t>distancia.</a:t>
            </a:r>
          </a:p>
          <a:p>
            <a:endParaRPr lang="es-CR" altLang="es-CR" sz="2400" dirty="0" smtClean="0"/>
          </a:p>
          <a:p>
            <a:r>
              <a:rPr lang="es-CR" altLang="es-CR" sz="2400" dirty="0"/>
              <a:t>Se puede realizar la estandarización de varias </a:t>
            </a:r>
            <a:r>
              <a:rPr lang="es-CR" altLang="es-CR" sz="2400" dirty="0" smtClean="0"/>
              <a:t>formas:</a:t>
            </a:r>
          </a:p>
          <a:p>
            <a:pPr lvl="1"/>
            <a:r>
              <a:rPr lang="es-CR" altLang="es-CR" sz="2000" dirty="0"/>
              <a:t>Convertir cada variable a puntajes estándar (restar la media y dividir por la desviación estándar de la variable</a:t>
            </a:r>
            <a:r>
              <a:rPr lang="es-CR" altLang="es-CR" sz="2000" dirty="0" smtClean="0"/>
              <a:t>)</a:t>
            </a:r>
          </a:p>
          <a:p>
            <a:pPr lvl="1"/>
            <a:r>
              <a:rPr lang="es-ES" altLang="es-CR" sz="2000" dirty="0"/>
              <a:t>Dividir los puntajes de cada variable por el rango de la </a:t>
            </a:r>
            <a:r>
              <a:rPr lang="es-ES" altLang="es-CR" sz="2000" dirty="0" smtClean="0"/>
              <a:t>misma</a:t>
            </a:r>
          </a:p>
          <a:p>
            <a:pPr lvl="1"/>
            <a:r>
              <a:rPr lang="es-CR" altLang="es-CR" sz="2000" dirty="0"/>
              <a:t>Estandarizar cada caso dentro de sí mismo (se resta la media del individuo y se divide por la desviación estándar del individuo) para remover efectos de respuesta alta o baja por individuo.  Esto es útil en datos de actitudes.</a:t>
            </a:r>
            <a:endParaRPr lang="es-CR" sz="2000" dirty="0"/>
          </a:p>
        </p:txBody>
      </p:sp>
    </p:spTree>
    <p:extLst>
      <p:ext uri="{BB962C8B-B14F-4D97-AF65-F5344CB8AC3E}">
        <p14:creationId xmlns:p14="http://schemas.microsoft.com/office/powerpoint/2010/main" val="4123002701"/>
      </p:ext>
    </p:extLst>
  </p:cSld>
  <p:clrMapOvr>
    <a:masterClrMapping/>
  </p:clrMapOvr>
  <p:transition spd="slow">
    <p:randomBar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116632"/>
            <a:ext cx="8712968" cy="850106"/>
          </a:xfrm>
        </p:spPr>
        <p:txBody>
          <a:bodyPr/>
          <a:lstStyle/>
          <a:p>
            <a:r>
              <a:rPr lang="es-CR" dirty="0" smtClean="0"/>
              <a:t>Distancia entre grupos</a:t>
            </a:r>
            <a:endParaRPr lang="es-CR" dirty="0"/>
          </a:p>
        </p:txBody>
      </p:sp>
      <p:sp>
        <p:nvSpPr>
          <p:cNvPr id="3" name="2 Marcador de contenido"/>
          <p:cNvSpPr>
            <a:spLocks noGrp="1"/>
          </p:cNvSpPr>
          <p:nvPr>
            <p:ph idx="1"/>
          </p:nvPr>
        </p:nvSpPr>
        <p:spPr>
          <a:xfrm>
            <a:off x="107504" y="980728"/>
            <a:ext cx="8568952" cy="5877272"/>
          </a:xfrm>
        </p:spPr>
        <p:txBody>
          <a:bodyPr>
            <a:normAutofit lnSpcReduction="10000"/>
          </a:bodyPr>
          <a:lstStyle/>
          <a:p>
            <a:pPr algn="just"/>
            <a:r>
              <a:rPr lang="es-CR" altLang="es-CR" sz="2400" dirty="0"/>
              <a:t>A partir de una matriz de distancias entre individuos se puede derivar el concepto de distancia entre dos </a:t>
            </a:r>
            <a:r>
              <a:rPr lang="es-CR" altLang="es-CR" sz="2400" dirty="0" smtClean="0"/>
              <a:t>grupos.</a:t>
            </a:r>
          </a:p>
          <a:p>
            <a:pPr algn="just"/>
            <a:r>
              <a:rPr lang="es-CR" altLang="es-CR" sz="2400" dirty="0"/>
              <a:t>Hay varias formas de definir la distancia entre dos grupos</a:t>
            </a:r>
            <a:r>
              <a:rPr lang="es-CR" altLang="es-CR" sz="2400" dirty="0" smtClean="0"/>
              <a:t>:</a:t>
            </a:r>
          </a:p>
          <a:p>
            <a:pPr marL="0" indent="0" algn="just">
              <a:buNone/>
            </a:pPr>
            <a:endParaRPr lang="es-CR" sz="2400" dirty="0"/>
          </a:p>
          <a:p>
            <a:pPr algn="just">
              <a:buFont typeface="Wingdings" panose="05000000000000000000" pitchFamily="2" charset="2"/>
              <a:buChar char="q"/>
            </a:pPr>
            <a:r>
              <a:rPr lang="es-CR" sz="2400" dirty="0" smtClean="0"/>
              <a:t>Vecino más cercano</a:t>
            </a:r>
          </a:p>
          <a:p>
            <a:pPr marL="0" indent="0" algn="just">
              <a:buNone/>
            </a:pPr>
            <a:endParaRPr lang="es-CR" sz="2400" dirty="0" smtClean="0"/>
          </a:p>
          <a:p>
            <a:pPr algn="just">
              <a:buFont typeface="Wingdings" panose="05000000000000000000" pitchFamily="2" charset="2"/>
              <a:buChar char="q"/>
            </a:pPr>
            <a:r>
              <a:rPr lang="es-CR" sz="2400" dirty="0" smtClean="0"/>
              <a:t>Vecino más lejano</a:t>
            </a:r>
          </a:p>
          <a:p>
            <a:pPr marL="0" indent="0" algn="just">
              <a:buNone/>
            </a:pPr>
            <a:endParaRPr lang="es-CR" sz="2400" dirty="0" smtClean="0"/>
          </a:p>
          <a:p>
            <a:pPr algn="just">
              <a:buFont typeface="Wingdings" panose="05000000000000000000" pitchFamily="2" charset="2"/>
              <a:buChar char="q"/>
            </a:pPr>
            <a:r>
              <a:rPr lang="es-CR" sz="2400" dirty="0" smtClean="0"/>
              <a:t>Salto promedio</a:t>
            </a:r>
          </a:p>
          <a:p>
            <a:pPr marL="0" indent="0" algn="just">
              <a:buNone/>
            </a:pPr>
            <a:endParaRPr lang="es-CR" sz="2400" dirty="0" smtClean="0"/>
          </a:p>
          <a:p>
            <a:pPr marL="0" indent="0" algn="just">
              <a:buNone/>
            </a:pPr>
            <a:endParaRPr lang="es-CR" sz="2400" dirty="0" smtClean="0"/>
          </a:p>
          <a:p>
            <a:pPr marL="0" indent="0" algn="just">
              <a:buNone/>
            </a:pPr>
            <a:endParaRPr lang="es-CR" sz="2400" dirty="0" smtClean="0"/>
          </a:p>
          <a:p>
            <a:pPr algn="just">
              <a:buFont typeface="Wingdings" panose="05000000000000000000" pitchFamily="2" charset="2"/>
              <a:buChar char="q"/>
            </a:pPr>
            <a:r>
              <a:rPr lang="es-CR" sz="2400" dirty="0" smtClean="0"/>
              <a:t>Distancia de Ward</a:t>
            </a:r>
          </a:p>
          <a:p>
            <a:pPr marL="0" indent="0" algn="just">
              <a:buNone/>
            </a:pPr>
            <a:r>
              <a:rPr lang="es-CR" sz="2400" dirty="0"/>
              <a:t> </a:t>
            </a:r>
            <a:r>
              <a:rPr lang="es-MX" altLang="es-CR" sz="2400" dirty="0"/>
              <a:t>donde </a:t>
            </a:r>
            <a:r>
              <a:rPr lang="es-MX" altLang="es-CR" sz="2400" dirty="0" err="1"/>
              <a:t>g</a:t>
            </a:r>
            <a:r>
              <a:rPr lang="es-MX" altLang="es-CR" sz="2400" baseline="-25000" dirty="0" err="1"/>
              <a:t>A</a:t>
            </a:r>
            <a:r>
              <a:rPr lang="es-MX" altLang="es-CR" sz="2400" dirty="0"/>
              <a:t> es el </a:t>
            </a:r>
            <a:r>
              <a:rPr lang="es-MX" altLang="es-CR" sz="2400" dirty="0" err="1"/>
              <a:t>centroide</a:t>
            </a:r>
            <a:r>
              <a:rPr lang="es-MX" altLang="es-CR" sz="2400" dirty="0"/>
              <a:t> del clúster A</a:t>
            </a:r>
            <a:endParaRPr lang="es-CR" sz="2400" dirty="0"/>
          </a:p>
        </p:txBody>
      </p:sp>
      <p:graphicFrame>
        <p:nvGraphicFramePr>
          <p:cNvPr id="4" name="3 Objeto"/>
          <p:cNvGraphicFramePr>
            <a:graphicFrameLocks noChangeAspect="1"/>
          </p:cNvGraphicFramePr>
          <p:nvPr>
            <p:extLst>
              <p:ext uri="{D42A27DB-BD31-4B8C-83A1-F6EECF244321}">
                <p14:modId xmlns:p14="http://schemas.microsoft.com/office/powerpoint/2010/main" val="3496627384"/>
              </p:ext>
            </p:extLst>
          </p:nvPr>
        </p:nvGraphicFramePr>
        <p:xfrm>
          <a:off x="3419872" y="2708920"/>
          <a:ext cx="5256584" cy="502791"/>
        </p:xfrm>
        <a:graphic>
          <a:graphicData uri="http://schemas.openxmlformats.org/presentationml/2006/ole">
            <mc:AlternateContent xmlns:mc="http://schemas.openxmlformats.org/markup-compatibility/2006">
              <mc:Choice xmlns:v="urn:schemas-microsoft-com:vml" Requires="v">
                <p:oleObj spid="_x0000_s11374" name="Ecuación" r:id="rId3" imgW="2387600" imgH="241300" progId="Equation.3">
                  <p:embed/>
                </p:oleObj>
              </mc:Choice>
              <mc:Fallback>
                <p:oleObj name="Ecuación" r:id="rId3" imgW="2387600" imgH="2413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2708920"/>
                        <a:ext cx="5256584" cy="502791"/>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5" name="4 Objeto"/>
          <p:cNvGraphicFramePr>
            <a:graphicFrameLocks noChangeAspect="1"/>
          </p:cNvGraphicFramePr>
          <p:nvPr>
            <p:extLst>
              <p:ext uri="{D42A27DB-BD31-4B8C-83A1-F6EECF244321}">
                <p14:modId xmlns:p14="http://schemas.microsoft.com/office/powerpoint/2010/main" val="1497558314"/>
              </p:ext>
            </p:extLst>
          </p:nvPr>
        </p:nvGraphicFramePr>
        <p:xfrm>
          <a:off x="3419872" y="3613358"/>
          <a:ext cx="5256584" cy="462449"/>
        </p:xfrm>
        <a:graphic>
          <a:graphicData uri="http://schemas.openxmlformats.org/presentationml/2006/ole">
            <mc:AlternateContent xmlns:mc="http://schemas.openxmlformats.org/markup-compatibility/2006">
              <mc:Choice xmlns:v="urn:schemas-microsoft-com:vml" Requires="v">
                <p:oleObj spid="_x0000_s11375" name="Ecuación" r:id="rId5" imgW="2413000" imgH="241300" progId="Equation.3">
                  <p:embed/>
                </p:oleObj>
              </mc:Choice>
              <mc:Fallback>
                <p:oleObj name="Ecuación" r:id="rId5" imgW="24130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872" y="3613358"/>
                        <a:ext cx="5256584" cy="462449"/>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445716566"/>
              </p:ext>
            </p:extLst>
          </p:nvPr>
        </p:nvGraphicFramePr>
        <p:xfrm>
          <a:off x="3347864" y="4509120"/>
          <a:ext cx="3528392" cy="679450"/>
        </p:xfrm>
        <a:graphic>
          <a:graphicData uri="http://schemas.openxmlformats.org/presentationml/2006/ole">
            <mc:AlternateContent xmlns:mc="http://schemas.openxmlformats.org/markup-compatibility/2006">
              <mc:Choice xmlns:v="urn:schemas-microsoft-com:vml" Requires="v">
                <p:oleObj spid="_x0000_s11376" name="Ecuación" r:id="rId7" imgW="1816100" imgH="457200" progId="Equation.3">
                  <p:embed/>
                </p:oleObj>
              </mc:Choice>
              <mc:Fallback>
                <p:oleObj name="Ecuación" r:id="rId7" imgW="1816100" imgH="457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7864" y="4509120"/>
                        <a:ext cx="3528392" cy="679450"/>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2951115414"/>
              </p:ext>
            </p:extLst>
          </p:nvPr>
        </p:nvGraphicFramePr>
        <p:xfrm>
          <a:off x="5220072" y="5805264"/>
          <a:ext cx="3528392" cy="792088"/>
        </p:xfrm>
        <a:graphic>
          <a:graphicData uri="http://schemas.openxmlformats.org/presentationml/2006/ole">
            <mc:AlternateContent xmlns:mc="http://schemas.openxmlformats.org/markup-compatibility/2006">
              <mc:Choice xmlns:v="urn:schemas-microsoft-com:vml" Requires="v">
                <p:oleObj spid="_x0000_s11377" name="Ecuación" r:id="rId9" imgW="1739880" imgH="431640" progId="Equation.3">
                  <p:embed/>
                </p:oleObj>
              </mc:Choice>
              <mc:Fallback>
                <p:oleObj name="Ecuación" r:id="rId9" imgW="1739880" imgH="431640" progId="Equation.3">
                  <p:embed/>
                  <p:pic>
                    <p:nvPicPr>
                      <p:cNvPr id="0" name="Object 23"/>
                      <p:cNvPicPr>
                        <a:picLocks noChangeAspect="1" noChangeArrowheads="1"/>
                      </p:cNvPicPr>
                      <p:nvPr/>
                    </p:nvPicPr>
                    <p:blipFill>
                      <a:blip r:embed="rId10"/>
                      <a:srcRect/>
                      <a:stretch>
                        <a:fillRect/>
                      </a:stretch>
                    </p:blipFill>
                    <p:spPr bwMode="auto">
                      <a:xfrm>
                        <a:off x="5220072" y="5805264"/>
                        <a:ext cx="3528392" cy="792088"/>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7626064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2204864"/>
            <a:ext cx="8229600" cy="1512167"/>
          </a:xfrm>
        </p:spPr>
        <p:txBody>
          <a:bodyPr>
            <a:normAutofit fontScale="92500" lnSpcReduction="20000"/>
          </a:bodyPr>
          <a:lstStyle/>
          <a:p>
            <a:pPr marL="0" indent="0" algn="ctr">
              <a:buNone/>
            </a:pPr>
            <a:r>
              <a:rPr lang="es-CR" sz="6000" b="1" dirty="0"/>
              <a:t>Elección de la técnica </a:t>
            </a:r>
            <a:r>
              <a:rPr lang="es-CR" sz="6000" b="1" dirty="0" smtClean="0"/>
              <a:t>de </a:t>
            </a:r>
            <a:r>
              <a:rPr lang="es-CR" sz="6000" b="1" dirty="0" err="1" smtClean="0"/>
              <a:t>Cluster</a:t>
            </a:r>
            <a:endParaRPr lang="es-CR" sz="6000" b="1" dirty="0"/>
          </a:p>
          <a:p>
            <a:endParaRPr lang="es-CR" dirty="0"/>
          </a:p>
        </p:txBody>
      </p:sp>
    </p:spTree>
    <p:extLst>
      <p:ext uri="{BB962C8B-B14F-4D97-AF65-F5344CB8AC3E}">
        <p14:creationId xmlns:p14="http://schemas.microsoft.com/office/powerpoint/2010/main" val="28671653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t>Técnicas de agrupamiento</a:t>
            </a:r>
            <a:endParaRPr lang="es-CR" dirty="0"/>
          </a:p>
        </p:txBody>
      </p:sp>
      <p:sp>
        <p:nvSpPr>
          <p:cNvPr id="3" name="2 Marcador de contenido"/>
          <p:cNvSpPr>
            <a:spLocks noGrp="1"/>
          </p:cNvSpPr>
          <p:nvPr>
            <p:ph idx="1"/>
          </p:nvPr>
        </p:nvSpPr>
        <p:spPr/>
        <p:txBody>
          <a:bodyPr/>
          <a:lstStyle/>
          <a:p>
            <a:pPr marL="0" indent="0">
              <a:buNone/>
            </a:pPr>
            <a:r>
              <a:rPr lang="es-CR" altLang="es-CR" dirty="0"/>
              <a:t>Hay varios tipos de métodos de realizar el agrupamiento de objetos. Entre ellos </a:t>
            </a:r>
            <a:r>
              <a:rPr lang="es-CR" altLang="es-CR" dirty="0" smtClean="0"/>
              <a:t>están:</a:t>
            </a:r>
          </a:p>
          <a:p>
            <a:endParaRPr lang="es-CR" dirty="0"/>
          </a:p>
          <a:p>
            <a:r>
              <a:rPr lang="es-CR" altLang="es-CR" dirty="0"/>
              <a:t>Técnicas jerárquicas </a:t>
            </a:r>
            <a:r>
              <a:rPr lang="es-CR" altLang="es-CR" dirty="0" err="1" smtClean="0"/>
              <a:t>aglomerativas</a:t>
            </a:r>
            <a:r>
              <a:rPr lang="es-CR" altLang="es-CR" dirty="0" smtClean="0"/>
              <a:t>.</a:t>
            </a:r>
          </a:p>
          <a:p>
            <a:r>
              <a:rPr lang="es-MX" altLang="es-CR" dirty="0"/>
              <a:t>Agrupamiento por </a:t>
            </a:r>
            <a:r>
              <a:rPr lang="es-MX" altLang="es-CR" dirty="0" smtClean="0"/>
              <a:t>k-medias</a:t>
            </a:r>
          </a:p>
          <a:p>
            <a:r>
              <a:rPr lang="es-MX" altLang="es-CR" dirty="0"/>
              <a:t>Agrupamiento basado en </a:t>
            </a:r>
            <a:r>
              <a:rPr lang="es-MX" altLang="es-CR" dirty="0" smtClean="0"/>
              <a:t>modelos (no lo vamos a ver).</a:t>
            </a:r>
            <a:endParaRPr lang="es-CR" dirty="0"/>
          </a:p>
        </p:txBody>
      </p:sp>
    </p:spTree>
    <p:extLst>
      <p:ext uri="{BB962C8B-B14F-4D97-AF65-F5344CB8AC3E}">
        <p14:creationId xmlns:p14="http://schemas.microsoft.com/office/powerpoint/2010/main" val="12694720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12968" cy="1143000"/>
          </a:xfrm>
        </p:spPr>
        <p:txBody>
          <a:bodyPr/>
          <a:lstStyle/>
          <a:p>
            <a:r>
              <a:rPr lang="es-CR" dirty="0" smtClean="0"/>
              <a:t>Agrupamiento jerárquico</a:t>
            </a:r>
            <a:endParaRPr lang="es-CR" dirty="0"/>
          </a:p>
        </p:txBody>
      </p:sp>
      <p:sp>
        <p:nvSpPr>
          <p:cNvPr id="3" name="2 Marcador de contenido"/>
          <p:cNvSpPr>
            <a:spLocks noGrp="1"/>
          </p:cNvSpPr>
          <p:nvPr>
            <p:ph idx="1"/>
          </p:nvPr>
        </p:nvSpPr>
        <p:spPr>
          <a:xfrm>
            <a:off x="179512" y="1340768"/>
            <a:ext cx="8640960" cy="5184576"/>
          </a:xfrm>
        </p:spPr>
        <p:txBody>
          <a:bodyPr>
            <a:normAutofit/>
          </a:bodyPr>
          <a:lstStyle/>
          <a:p>
            <a:pPr algn="just"/>
            <a:r>
              <a:rPr lang="es-CR" sz="2400" dirty="0" smtClean="0"/>
              <a:t>Consiste en realizar una </a:t>
            </a:r>
            <a:r>
              <a:rPr lang="es-CR" altLang="es-CR" sz="2400" dirty="0"/>
              <a:t>partición única de los datos en un número específico de clases o grupos en un único </a:t>
            </a:r>
            <a:r>
              <a:rPr lang="es-CR" altLang="es-CR" sz="2400" dirty="0" smtClean="0"/>
              <a:t>paso. </a:t>
            </a:r>
            <a:r>
              <a:rPr lang="es-MX" altLang="es-CR" sz="2400" dirty="0"/>
              <a:t>Se realiza una serie de particiones a partir de </a:t>
            </a:r>
            <a:r>
              <a:rPr lang="es-MX" altLang="es-CR" sz="2400" i="1" dirty="0"/>
              <a:t>n</a:t>
            </a:r>
            <a:r>
              <a:rPr lang="es-MX" altLang="es-CR" sz="2400" dirty="0"/>
              <a:t> </a:t>
            </a:r>
            <a:r>
              <a:rPr lang="es-MX" altLang="es-CR" sz="2400" dirty="0" err="1"/>
              <a:t>clústers</a:t>
            </a:r>
            <a:r>
              <a:rPr lang="es-MX" altLang="es-CR" sz="2400" dirty="0"/>
              <a:t> donde cada uno contiene sólo un </a:t>
            </a:r>
            <a:r>
              <a:rPr lang="es-MX" altLang="es-CR" sz="2400" dirty="0" smtClean="0"/>
              <a:t>individuo.</a:t>
            </a:r>
          </a:p>
          <a:p>
            <a:pPr algn="just"/>
            <a:endParaRPr lang="es-MX" altLang="es-CR" sz="2400" dirty="0" smtClean="0"/>
          </a:p>
          <a:p>
            <a:pPr algn="just"/>
            <a:r>
              <a:rPr lang="es-MX" altLang="es-CR" sz="2400" dirty="0"/>
              <a:t>Se hacen fusiones sucesivas de los </a:t>
            </a:r>
            <a:r>
              <a:rPr lang="es-MX" altLang="es-CR" sz="2400" dirty="0" err="1"/>
              <a:t>clústers</a:t>
            </a:r>
            <a:r>
              <a:rPr lang="es-MX" altLang="es-CR" sz="2400" dirty="0"/>
              <a:t> ya </a:t>
            </a:r>
            <a:r>
              <a:rPr lang="es-MX" altLang="es-CR" sz="2400" dirty="0" smtClean="0"/>
              <a:t>formados. </a:t>
            </a:r>
            <a:r>
              <a:rPr lang="es-MX" altLang="es-CR" sz="2400" dirty="0"/>
              <a:t>Las fusiones son irreversibles, es decir, si dos individuos ya se han puesto en un mismo clúster, éstos no podrán aparecer en diferentes grupos en etapas </a:t>
            </a:r>
            <a:r>
              <a:rPr lang="es-MX" altLang="es-CR" sz="2400" dirty="0" smtClean="0"/>
              <a:t>subsecuentes.</a:t>
            </a:r>
          </a:p>
          <a:p>
            <a:pPr algn="just"/>
            <a:endParaRPr lang="es-MX" altLang="es-CR" sz="2400" dirty="0" smtClean="0"/>
          </a:p>
          <a:p>
            <a:pPr algn="just"/>
            <a:r>
              <a:rPr lang="es-MX" altLang="es-CR" sz="2400" dirty="0"/>
              <a:t>Al final todos llegan a fusionarse en un solo </a:t>
            </a:r>
            <a:r>
              <a:rPr lang="es-MX" altLang="es-CR" sz="2400" dirty="0" smtClean="0"/>
              <a:t>grupo. Se debe </a:t>
            </a:r>
            <a:r>
              <a:rPr lang="es-MX" altLang="es-CR" sz="2400" dirty="0"/>
              <a:t>decidir cuál es el número de </a:t>
            </a:r>
            <a:r>
              <a:rPr lang="es-MX" altLang="es-CR" sz="2400" dirty="0" err="1"/>
              <a:t>clústers</a:t>
            </a:r>
            <a:r>
              <a:rPr lang="es-MX" altLang="es-CR" sz="2400" dirty="0"/>
              <a:t> que da el mejor </a:t>
            </a:r>
            <a:r>
              <a:rPr lang="es-MX" altLang="es-CR" sz="2400" dirty="0" smtClean="0"/>
              <a:t>ajuste.</a:t>
            </a:r>
            <a:endParaRPr lang="es-CR" sz="2400" dirty="0"/>
          </a:p>
        </p:txBody>
      </p:sp>
    </p:spTree>
    <p:extLst>
      <p:ext uri="{BB962C8B-B14F-4D97-AF65-F5344CB8AC3E}">
        <p14:creationId xmlns:p14="http://schemas.microsoft.com/office/powerpoint/2010/main" val="22563586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268760"/>
            <a:ext cx="8712968" cy="4857403"/>
          </a:xfrm>
        </p:spPr>
        <p:txBody>
          <a:bodyPr>
            <a:normAutofit/>
          </a:bodyPr>
          <a:lstStyle/>
          <a:p>
            <a:pPr algn="just"/>
            <a:r>
              <a:rPr lang="es-ES" altLang="es-CR" sz="2600" dirty="0"/>
              <a:t>Un </a:t>
            </a:r>
            <a:r>
              <a:rPr lang="es-ES" altLang="es-CR" sz="2600" dirty="0" err="1"/>
              <a:t>dendrograma</a:t>
            </a:r>
            <a:r>
              <a:rPr lang="es-ES" altLang="es-CR" sz="2600" dirty="0"/>
              <a:t> es un tipo de representación gráfica o diagrama de datos en forma de árbol que organiza los datos en subcategorías que se van dividiendo hasta llegar al nivel de detalle deseado (asemejándose a las ramas de un árbol que se van dividiendo en otras sucesivamente</a:t>
            </a:r>
            <a:r>
              <a:rPr lang="es-ES" altLang="es-CR" sz="2600" dirty="0" smtClean="0"/>
              <a:t>).</a:t>
            </a:r>
          </a:p>
          <a:p>
            <a:pPr algn="just"/>
            <a:endParaRPr lang="es-ES" sz="2600" dirty="0"/>
          </a:p>
          <a:p>
            <a:pPr algn="just"/>
            <a:r>
              <a:rPr lang="es-ES" altLang="es-CR" sz="2600" dirty="0"/>
              <a:t>Permite apreciar las relaciones de agrupación entre los datos e incluso entre grupos de </a:t>
            </a:r>
            <a:r>
              <a:rPr lang="es-ES" altLang="es-CR" sz="2600" dirty="0" smtClean="0"/>
              <a:t>ellos. </a:t>
            </a:r>
            <a:r>
              <a:rPr lang="es-ES" altLang="es-CR" sz="2600" dirty="0"/>
              <a:t>Observando las sucesivas subdivisiones podemos hacernos una idea sobre los criterios de agrupación de los mismos, la distancia entre los datos según las relaciones establecidas, </a:t>
            </a:r>
            <a:r>
              <a:rPr lang="es-ES" altLang="es-CR" sz="2600" dirty="0" smtClean="0"/>
              <a:t>etc.</a:t>
            </a:r>
            <a:endParaRPr lang="es-CR" sz="2600" dirty="0"/>
          </a:p>
        </p:txBody>
      </p:sp>
      <p:sp>
        <p:nvSpPr>
          <p:cNvPr id="4" name="1 Título"/>
          <p:cNvSpPr>
            <a:spLocks noGrp="1"/>
          </p:cNvSpPr>
          <p:nvPr>
            <p:ph type="title"/>
          </p:nvPr>
        </p:nvSpPr>
        <p:spPr>
          <a:xfrm>
            <a:off x="0" y="116632"/>
            <a:ext cx="9144000" cy="1143000"/>
          </a:xfrm>
        </p:spPr>
        <p:txBody>
          <a:bodyPr>
            <a:normAutofit/>
          </a:bodyPr>
          <a:lstStyle/>
          <a:p>
            <a:r>
              <a:rPr lang="es-CR" dirty="0" smtClean="0"/>
              <a:t>Agrupamiento jerárquico: </a:t>
            </a:r>
            <a:r>
              <a:rPr lang="es-CR" dirty="0" err="1" smtClean="0"/>
              <a:t>dendograma</a:t>
            </a:r>
            <a:endParaRPr lang="es-CR" dirty="0"/>
          </a:p>
        </p:txBody>
      </p:sp>
    </p:spTree>
    <p:extLst>
      <p:ext uri="{BB962C8B-B14F-4D97-AF65-F5344CB8AC3E}">
        <p14:creationId xmlns:p14="http://schemas.microsoft.com/office/powerpoint/2010/main" val="2951362499"/>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116632"/>
            <a:ext cx="8928992" cy="1143000"/>
          </a:xfrm>
        </p:spPr>
        <p:txBody>
          <a:bodyPr/>
          <a:lstStyle/>
          <a:p>
            <a:r>
              <a:rPr lang="es-CR" dirty="0" smtClean="0"/>
              <a:t>Construcción y representación</a:t>
            </a:r>
            <a:endParaRPr lang="es-CR" dirty="0"/>
          </a:p>
        </p:txBody>
      </p:sp>
      <p:pic>
        <p:nvPicPr>
          <p:cNvPr id="4" name="2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96" y="1844949"/>
            <a:ext cx="1654456" cy="1656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 name="3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845665"/>
            <a:ext cx="1659934" cy="165080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 name="4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20177" y="1840186"/>
            <a:ext cx="1659935" cy="16562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 name="5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50195" y="1844233"/>
            <a:ext cx="1658109" cy="166176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8" name="6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380312" y="1832489"/>
            <a:ext cx="1656283" cy="16544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 name="8 Flecha derecha"/>
          <p:cNvSpPr>
            <a:spLocks noChangeArrowheads="1"/>
          </p:cNvSpPr>
          <p:nvPr/>
        </p:nvSpPr>
        <p:spPr bwMode="auto">
          <a:xfrm>
            <a:off x="1691680"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sp>
        <p:nvSpPr>
          <p:cNvPr id="10" name="27 Flecha derecha"/>
          <p:cNvSpPr>
            <a:spLocks noChangeArrowheads="1"/>
          </p:cNvSpPr>
          <p:nvPr/>
        </p:nvSpPr>
        <p:spPr bwMode="auto">
          <a:xfrm>
            <a:off x="3492747"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sp>
        <p:nvSpPr>
          <p:cNvPr id="11" name="28 Flecha derecha"/>
          <p:cNvSpPr>
            <a:spLocks noChangeArrowheads="1"/>
          </p:cNvSpPr>
          <p:nvPr/>
        </p:nvSpPr>
        <p:spPr bwMode="auto">
          <a:xfrm>
            <a:off x="5148510"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sp>
        <p:nvSpPr>
          <p:cNvPr id="12" name="29 Flecha derecha"/>
          <p:cNvSpPr>
            <a:spLocks noChangeArrowheads="1"/>
          </p:cNvSpPr>
          <p:nvPr/>
        </p:nvSpPr>
        <p:spPr bwMode="auto">
          <a:xfrm>
            <a:off x="7059953"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pic>
        <p:nvPicPr>
          <p:cNvPr id="1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3585" y="3933056"/>
            <a:ext cx="4700360" cy="269751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0784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err="1" smtClean="0"/>
              <a:t>Dendograma</a:t>
            </a:r>
            <a:endParaRPr lang="es-CR" dirty="0"/>
          </a:p>
        </p:txBody>
      </p:sp>
      <p:pic>
        <p:nvPicPr>
          <p:cNvPr id="12290" name="Picture 2" descr="Resultado de imagen para dendrogram clu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067988" cy="4669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044713"/>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712968" cy="850106"/>
          </a:xfrm>
        </p:spPr>
        <p:txBody>
          <a:bodyPr/>
          <a:lstStyle/>
          <a:p>
            <a:r>
              <a:rPr lang="es-CR" dirty="0" smtClean="0"/>
              <a:t>Poda del </a:t>
            </a:r>
            <a:r>
              <a:rPr lang="es-CR" dirty="0" err="1" smtClean="0"/>
              <a:t>dendograma</a:t>
            </a:r>
            <a:endParaRPr lang="es-CR" dirty="0"/>
          </a:p>
        </p:txBody>
      </p:sp>
      <p:sp>
        <p:nvSpPr>
          <p:cNvPr id="3" name="2 Marcador de contenido"/>
          <p:cNvSpPr>
            <a:spLocks noGrp="1"/>
          </p:cNvSpPr>
          <p:nvPr>
            <p:ph idx="1"/>
          </p:nvPr>
        </p:nvSpPr>
        <p:spPr>
          <a:xfrm>
            <a:off x="251520" y="1412776"/>
            <a:ext cx="8640960" cy="5328592"/>
          </a:xfrm>
        </p:spPr>
        <p:txBody>
          <a:bodyPr>
            <a:normAutofit/>
          </a:bodyPr>
          <a:lstStyle/>
          <a:p>
            <a:r>
              <a:rPr lang="es-ES" altLang="es-CR" sz="2800" dirty="0"/>
              <a:t>Una vez obtenido el </a:t>
            </a:r>
            <a:r>
              <a:rPr lang="es-ES" altLang="es-CR" sz="2800" dirty="0" err="1"/>
              <a:t>dendograma</a:t>
            </a:r>
            <a:r>
              <a:rPr lang="es-ES" altLang="es-CR" sz="2800" dirty="0"/>
              <a:t> se requiere escoger una partición de los objetos a partir del </a:t>
            </a:r>
            <a:r>
              <a:rPr lang="es-ES" altLang="es-CR" sz="2800" dirty="0" smtClean="0"/>
              <a:t>gráfico.</a:t>
            </a:r>
          </a:p>
          <a:p>
            <a:endParaRPr lang="es-ES" sz="2800" dirty="0"/>
          </a:p>
          <a:p>
            <a:r>
              <a:rPr lang="es-ES" altLang="es-CR" sz="2800" dirty="0"/>
              <a:t>Se traza una línea horizontal a cierta altura y de ahí se obtiene un cierto número de ramas </a:t>
            </a:r>
            <a:r>
              <a:rPr lang="es-ES" altLang="es-CR" sz="2800" dirty="0" smtClean="0"/>
              <a:t>separadas.</a:t>
            </a:r>
          </a:p>
          <a:p>
            <a:endParaRPr lang="es-ES" sz="2800" dirty="0"/>
          </a:p>
          <a:p>
            <a:r>
              <a:rPr lang="es-ES" altLang="es-CR" sz="2800" dirty="0"/>
              <a:t>De forma informal se puede examinar el tamaño de los cambios en altura en el </a:t>
            </a:r>
            <a:r>
              <a:rPr lang="es-ES" altLang="es-CR" sz="2800" dirty="0" err="1"/>
              <a:t>dendograma</a:t>
            </a:r>
            <a:r>
              <a:rPr lang="es-ES" altLang="es-CR" sz="2800" dirty="0"/>
              <a:t> y se toma un cambio «grande» para poner ahí la línea horizontal</a:t>
            </a:r>
            <a:endParaRPr lang="es-CR" sz="2800" dirty="0"/>
          </a:p>
        </p:txBody>
      </p:sp>
    </p:spTree>
    <p:extLst>
      <p:ext uri="{BB962C8B-B14F-4D97-AF65-F5344CB8AC3E}">
        <p14:creationId xmlns:p14="http://schemas.microsoft.com/office/powerpoint/2010/main" val="31080555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84976" cy="850106"/>
          </a:xfrm>
        </p:spPr>
        <p:txBody>
          <a:bodyPr>
            <a:normAutofit/>
          </a:bodyPr>
          <a:lstStyle/>
          <a:p>
            <a:r>
              <a:rPr lang="es-CR" sz="4000" dirty="0" smtClean="0"/>
              <a:t>Representación con el PCA</a:t>
            </a:r>
            <a:endParaRPr lang="es-CR" sz="4000" dirty="0"/>
          </a:p>
        </p:txBody>
      </p:sp>
      <p:sp>
        <p:nvSpPr>
          <p:cNvPr id="3" name="2 Marcador de contenido"/>
          <p:cNvSpPr>
            <a:spLocks noGrp="1"/>
          </p:cNvSpPr>
          <p:nvPr>
            <p:ph idx="1"/>
          </p:nvPr>
        </p:nvSpPr>
        <p:spPr>
          <a:xfrm>
            <a:off x="179512" y="1052736"/>
            <a:ext cx="8856984" cy="5400600"/>
          </a:xfrm>
        </p:spPr>
        <p:txBody>
          <a:bodyPr>
            <a:normAutofit/>
          </a:bodyPr>
          <a:lstStyle/>
          <a:p>
            <a:pPr algn="just"/>
            <a:r>
              <a:rPr lang="es-ES" altLang="es-CR" sz="2800" dirty="0"/>
              <a:t>Una vez que se ha decidido podar en un punto el </a:t>
            </a:r>
            <a:r>
              <a:rPr lang="es-ES" altLang="es-CR" sz="2800" dirty="0" err="1"/>
              <a:t>dendograma</a:t>
            </a:r>
            <a:r>
              <a:rPr lang="es-ES" altLang="es-CR" sz="2800" dirty="0"/>
              <a:t>, se forman los </a:t>
            </a:r>
            <a:r>
              <a:rPr lang="es-ES" altLang="es-CR" sz="2800" dirty="0" err="1"/>
              <a:t>clústers</a:t>
            </a:r>
            <a:r>
              <a:rPr lang="es-ES" altLang="es-CR" sz="2800" dirty="0"/>
              <a:t> </a:t>
            </a:r>
            <a:r>
              <a:rPr lang="es-ES" altLang="es-CR" sz="2800" dirty="0" smtClean="0"/>
              <a:t>sugeridos. </a:t>
            </a:r>
          </a:p>
          <a:p>
            <a:pPr algn="just"/>
            <a:r>
              <a:rPr lang="es-ES" altLang="es-CR" sz="2800" dirty="0"/>
              <a:t>Se obtienen los dos primeros componentes principales a partir de las variables incluidas en el </a:t>
            </a:r>
            <a:r>
              <a:rPr lang="es-ES" altLang="es-CR" sz="2800" dirty="0" smtClean="0"/>
              <a:t>análisis.</a:t>
            </a:r>
          </a:p>
          <a:p>
            <a:pPr algn="just"/>
            <a:r>
              <a:rPr lang="es-ES" altLang="es-CR" sz="2800" dirty="0"/>
              <a:t>Se hace un gráfico con las puntuaciones de los dos primeros componentes y se ponen colores según los </a:t>
            </a:r>
            <a:r>
              <a:rPr lang="es-ES" altLang="es-CR" sz="2800" dirty="0" err="1"/>
              <a:t>clústers</a:t>
            </a:r>
            <a:r>
              <a:rPr lang="es-ES" altLang="es-CR" sz="2800" dirty="0"/>
              <a:t> </a:t>
            </a:r>
            <a:r>
              <a:rPr lang="es-ES" altLang="es-CR" sz="2800" dirty="0" smtClean="0"/>
              <a:t>establecidos.</a:t>
            </a:r>
          </a:p>
          <a:p>
            <a:pPr algn="just"/>
            <a:r>
              <a:rPr lang="es-ES" altLang="es-CR" sz="2800" dirty="0"/>
              <a:t>El método del vecino más </a:t>
            </a:r>
            <a:r>
              <a:rPr lang="es-ES" altLang="es-CR" sz="2800" dirty="0" smtClean="0"/>
              <a:t>cercano </a:t>
            </a:r>
            <a:r>
              <a:rPr lang="es-ES" altLang="es-CR" sz="2800" dirty="0"/>
              <a:t>tiende a presentar un problema de encadenamiento: tendencia a incorporar puntos intermedios dentro de un clúster ya </a:t>
            </a:r>
            <a:r>
              <a:rPr lang="es-ES" altLang="es-CR" sz="2800" dirty="0" smtClean="0"/>
              <a:t>existente.</a:t>
            </a:r>
          </a:p>
          <a:p>
            <a:endParaRPr lang="es-CR" sz="2800" dirty="0"/>
          </a:p>
        </p:txBody>
      </p:sp>
    </p:spTree>
    <p:extLst>
      <p:ext uri="{BB962C8B-B14F-4D97-AF65-F5344CB8AC3E}">
        <p14:creationId xmlns:p14="http://schemas.microsoft.com/office/powerpoint/2010/main" val="1526145001"/>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44624"/>
            <a:ext cx="8856984" cy="850106"/>
          </a:xfrm>
        </p:spPr>
        <p:txBody>
          <a:bodyPr/>
          <a:lstStyle/>
          <a:p>
            <a:r>
              <a:rPr lang="es-CR" dirty="0" smtClean="0"/>
              <a:t>Método de k-medias</a:t>
            </a:r>
            <a:endParaRPr lang="es-CR" dirty="0"/>
          </a:p>
        </p:txBody>
      </p:sp>
      <p:sp>
        <p:nvSpPr>
          <p:cNvPr id="3" name="2 Marcador de contenido"/>
          <p:cNvSpPr>
            <a:spLocks noGrp="1"/>
          </p:cNvSpPr>
          <p:nvPr>
            <p:ph idx="1"/>
          </p:nvPr>
        </p:nvSpPr>
        <p:spPr>
          <a:xfrm>
            <a:off x="179512" y="908720"/>
            <a:ext cx="8712968" cy="5688632"/>
          </a:xfrm>
        </p:spPr>
        <p:txBody>
          <a:bodyPr>
            <a:normAutofit/>
          </a:bodyPr>
          <a:lstStyle/>
          <a:p>
            <a:pPr algn="just"/>
            <a:r>
              <a:rPr lang="es-ES" altLang="es-CR" sz="2600" dirty="0"/>
              <a:t>Para un número determinado </a:t>
            </a:r>
            <a:r>
              <a:rPr lang="es-ES" altLang="es-CR" sz="2600" i="1" dirty="0"/>
              <a:t>k</a:t>
            </a:r>
            <a:r>
              <a:rPr lang="es-ES" altLang="es-CR" sz="2600" dirty="0"/>
              <a:t> se busca la partición que minimiza algún criterio de decisión, para el cual tener valores más bajos es una indicación de una buena </a:t>
            </a:r>
            <a:r>
              <a:rPr lang="es-ES" altLang="es-CR" sz="2600" dirty="0" smtClean="0"/>
              <a:t>solución.</a:t>
            </a:r>
          </a:p>
          <a:p>
            <a:pPr algn="just"/>
            <a:r>
              <a:rPr lang="es-MX" altLang="es-CR" sz="2600" dirty="0"/>
              <a:t>El criterio más común es la suma de cuadrados dentro de </a:t>
            </a:r>
            <a:r>
              <a:rPr lang="es-MX" altLang="es-CR" sz="2600" dirty="0" smtClean="0"/>
              <a:t>grupo:</a:t>
            </a:r>
          </a:p>
          <a:p>
            <a:pPr algn="just"/>
            <a:endParaRPr lang="es-MX" sz="2600" dirty="0"/>
          </a:p>
          <a:p>
            <a:pPr algn="just"/>
            <a:endParaRPr lang="es-MX" sz="2600" dirty="0" smtClean="0"/>
          </a:p>
          <a:p>
            <a:pPr marL="0" indent="0" algn="just">
              <a:buNone/>
            </a:pPr>
            <a:r>
              <a:rPr lang="es-MX" altLang="es-CR" sz="2000" dirty="0"/>
              <a:t>donde los valores se comparan con el promedio de la variable en el clúster a que </a:t>
            </a:r>
            <a:r>
              <a:rPr lang="es-MX" altLang="es-CR" sz="2000" dirty="0" smtClean="0"/>
              <a:t>pertenecen</a:t>
            </a:r>
            <a:endParaRPr lang="es-CR" sz="2600" dirty="0" smtClean="0"/>
          </a:p>
          <a:p>
            <a:pPr algn="just"/>
            <a:r>
              <a:rPr lang="es-ES" altLang="es-CR" sz="2600" dirty="0"/>
              <a:t>Si se intenta considerar todas las posibles particiones del conjunto de datos en </a:t>
            </a:r>
            <a:r>
              <a:rPr lang="es-ES" altLang="es-CR" sz="2600" i="1" dirty="0"/>
              <a:t>k</a:t>
            </a:r>
            <a:r>
              <a:rPr lang="es-ES" altLang="es-CR" sz="2600" dirty="0"/>
              <a:t> grupos se puede llegar a números extremadamente altos de posibilidades, lo cual hace el problema computacionalmente impráctico</a:t>
            </a:r>
            <a:endParaRPr lang="es-CR" sz="2600" dirty="0"/>
          </a:p>
        </p:txBody>
      </p:sp>
      <p:graphicFrame>
        <p:nvGraphicFramePr>
          <p:cNvPr id="4" name="3 Objeto"/>
          <p:cNvGraphicFramePr>
            <a:graphicFrameLocks noChangeAspect="1"/>
          </p:cNvGraphicFramePr>
          <p:nvPr>
            <p:extLst>
              <p:ext uri="{D42A27DB-BD31-4B8C-83A1-F6EECF244321}">
                <p14:modId xmlns:p14="http://schemas.microsoft.com/office/powerpoint/2010/main" val="1409586568"/>
              </p:ext>
            </p:extLst>
          </p:nvPr>
        </p:nvGraphicFramePr>
        <p:xfrm>
          <a:off x="2483768" y="2924944"/>
          <a:ext cx="3493088" cy="936104"/>
        </p:xfrm>
        <a:graphic>
          <a:graphicData uri="http://schemas.openxmlformats.org/presentationml/2006/ole">
            <mc:AlternateContent xmlns:mc="http://schemas.openxmlformats.org/markup-compatibility/2006">
              <mc:Choice xmlns:v="urn:schemas-microsoft-com:vml" Requires="v">
                <p:oleObj spid="_x0000_s14359" name="Ecuación" r:id="rId3" imgW="1790640" imgH="469800" progId="Equation.3">
                  <p:embed/>
                </p:oleObj>
              </mc:Choice>
              <mc:Fallback>
                <p:oleObj name="Ecuación" r:id="rId3" imgW="1790640" imgH="469800" progId="Equation.3">
                  <p:embed/>
                  <p:pic>
                    <p:nvPicPr>
                      <p:cNvPr id="0" name="1 Objeto"/>
                      <p:cNvPicPr>
                        <a:picLocks noChangeAspect="1" noChangeArrowheads="1"/>
                      </p:cNvPicPr>
                      <p:nvPr/>
                    </p:nvPicPr>
                    <p:blipFill>
                      <a:blip r:embed="rId4"/>
                      <a:srcRect/>
                      <a:stretch>
                        <a:fillRect/>
                      </a:stretch>
                    </p:blipFill>
                    <p:spPr bwMode="auto">
                      <a:xfrm>
                        <a:off x="2483768" y="2924944"/>
                        <a:ext cx="3493088" cy="936104"/>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2603292525"/>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188640"/>
            <a:ext cx="8928992" cy="1143000"/>
          </a:xfrm>
        </p:spPr>
        <p:txBody>
          <a:bodyPr>
            <a:normAutofit/>
          </a:bodyPr>
          <a:lstStyle/>
          <a:p>
            <a:r>
              <a:rPr lang="es-CR" dirty="0" smtClean="0"/>
              <a:t>Algoritmo del método de k-medias</a:t>
            </a:r>
            <a:endParaRPr lang="es-CR" dirty="0"/>
          </a:p>
        </p:txBody>
      </p:sp>
      <p:sp>
        <p:nvSpPr>
          <p:cNvPr id="3" name="2 Marcador de contenido"/>
          <p:cNvSpPr>
            <a:spLocks noGrp="1"/>
          </p:cNvSpPr>
          <p:nvPr>
            <p:ph idx="1"/>
          </p:nvPr>
        </p:nvSpPr>
        <p:spPr>
          <a:xfrm>
            <a:off x="179512" y="1412776"/>
            <a:ext cx="8568952" cy="5040560"/>
          </a:xfrm>
        </p:spPr>
        <p:txBody>
          <a:bodyPr>
            <a:normAutofit fontScale="92500" lnSpcReduction="20000"/>
          </a:bodyPr>
          <a:lstStyle/>
          <a:p>
            <a:r>
              <a:rPr lang="es-CR" altLang="es-CR" dirty="0"/>
              <a:t>Paso inicial: se toma una partición arbitraria en </a:t>
            </a:r>
            <a:r>
              <a:rPr lang="es-CR" altLang="es-CR" i="1" dirty="0"/>
              <a:t>k</a:t>
            </a:r>
            <a:r>
              <a:rPr lang="es-CR" altLang="es-CR" dirty="0"/>
              <a:t> </a:t>
            </a:r>
            <a:r>
              <a:rPr lang="es-CR" altLang="es-CR" dirty="0" err="1"/>
              <a:t>clústers</a:t>
            </a:r>
            <a:r>
              <a:rPr lang="es-CR" altLang="es-CR" dirty="0"/>
              <a:t> que puede venir del resultado de otro método de </a:t>
            </a:r>
            <a:r>
              <a:rPr lang="es-CR" altLang="es-CR" dirty="0" smtClean="0"/>
              <a:t>agrupamiento.</a:t>
            </a:r>
          </a:p>
          <a:p>
            <a:endParaRPr lang="es-CR" dirty="0"/>
          </a:p>
          <a:p>
            <a:pPr algn="just">
              <a:spcBef>
                <a:spcPct val="0"/>
              </a:spcBef>
              <a:spcAft>
                <a:spcPts val="600"/>
              </a:spcAft>
              <a:buClr>
                <a:schemeClr val="hlink"/>
              </a:buClr>
              <a:buSzTx/>
              <a:buFont typeface="Wingdings" pitchFamily="2" charset="2"/>
              <a:buNone/>
              <a:defRPr/>
            </a:pPr>
            <a:endParaRPr lang="es-MX" altLang="es-CR" dirty="0"/>
          </a:p>
          <a:p>
            <a:pPr marL="457200" indent="-457200" algn="just">
              <a:spcBef>
                <a:spcPct val="0"/>
              </a:spcBef>
              <a:spcAft>
                <a:spcPts val="600"/>
              </a:spcAft>
              <a:buClr>
                <a:schemeClr val="hlink"/>
              </a:buClr>
              <a:buSzTx/>
              <a:buFont typeface="+mj-lt"/>
              <a:buAutoNum type="arabicParenR"/>
              <a:defRPr/>
            </a:pPr>
            <a:r>
              <a:rPr lang="es-MX" altLang="es-CR" dirty="0"/>
              <a:t>Se </a:t>
            </a:r>
            <a:r>
              <a:rPr lang="es-ES" altLang="es-CR" dirty="0"/>
              <a:t>calcula el criterio (SCDG u otro) producido al mover cada individuo del clúster en que se encuentra hacia otro clúster.</a:t>
            </a:r>
          </a:p>
          <a:p>
            <a:pPr marL="457200" indent="-457200" algn="just">
              <a:spcBef>
                <a:spcPct val="0"/>
              </a:spcBef>
              <a:spcAft>
                <a:spcPts val="600"/>
              </a:spcAft>
              <a:buClr>
                <a:schemeClr val="hlink"/>
              </a:buClr>
              <a:buSzTx/>
              <a:buFont typeface="+mj-lt"/>
              <a:buAutoNum type="arabicParenR"/>
              <a:defRPr/>
            </a:pPr>
            <a:r>
              <a:rPr lang="es-ES" altLang="es-CR" dirty="0"/>
              <a:t>Se realiza el cambio que lleva a la mayor disminución en el criterio.</a:t>
            </a:r>
          </a:p>
          <a:p>
            <a:pPr marL="457200" indent="-457200" algn="just">
              <a:spcBef>
                <a:spcPct val="0"/>
              </a:spcBef>
              <a:spcAft>
                <a:spcPts val="600"/>
              </a:spcAft>
              <a:buClr>
                <a:schemeClr val="hlink"/>
              </a:buClr>
              <a:buSzTx/>
              <a:buFont typeface="+mj-lt"/>
              <a:buAutoNum type="arabicParenR"/>
              <a:defRPr/>
            </a:pPr>
            <a:r>
              <a:rPr lang="es-ES" altLang="es-CR" dirty="0"/>
              <a:t>Repetir pasos 1) y 2) hasta que ningún movimiento produzca disminuciones en el criterio.</a:t>
            </a:r>
            <a:endParaRPr lang="es-MX" altLang="es-CR" dirty="0"/>
          </a:p>
          <a:p>
            <a:pPr marL="0" indent="0">
              <a:buNone/>
            </a:pPr>
            <a:endParaRPr lang="es-CR" dirty="0"/>
          </a:p>
        </p:txBody>
      </p:sp>
    </p:spTree>
    <p:extLst>
      <p:ext uri="{BB962C8B-B14F-4D97-AF65-F5344CB8AC3E}">
        <p14:creationId xmlns:p14="http://schemas.microsoft.com/office/powerpoint/2010/main" val="177868398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t>Desventaja del método k-medias</a:t>
            </a:r>
            <a:endParaRPr lang="es-CR" dirty="0"/>
          </a:p>
        </p:txBody>
      </p:sp>
      <p:sp>
        <p:nvSpPr>
          <p:cNvPr id="3" name="2 Marcador de contenido"/>
          <p:cNvSpPr>
            <a:spLocks noGrp="1"/>
          </p:cNvSpPr>
          <p:nvPr>
            <p:ph idx="1"/>
          </p:nvPr>
        </p:nvSpPr>
        <p:spPr/>
        <p:txBody>
          <a:bodyPr/>
          <a:lstStyle/>
          <a:p>
            <a:r>
              <a:rPr lang="es-CR" altLang="es-CR" dirty="0"/>
              <a:t>Este método no es invariante ante cambios de escala</a:t>
            </a:r>
            <a:r>
              <a:rPr lang="es-CR" altLang="es-CR" dirty="0" smtClean="0"/>
              <a:t>.</a:t>
            </a:r>
          </a:p>
          <a:p>
            <a:endParaRPr lang="es-CR" dirty="0"/>
          </a:p>
          <a:p>
            <a:r>
              <a:rPr lang="es-ES" altLang="es-CR" dirty="0"/>
              <a:t>Impone una estructura esférica en los datos aún cuando no se comporten de esa forma.</a:t>
            </a:r>
            <a:endParaRPr lang="es-CR" dirty="0"/>
          </a:p>
        </p:txBody>
      </p:sp>
    </p:spTree>
    <p:extLst>
      <p:ext uri="{BB962C8B-B14F-4D97-AF65-F5344CB8AC3E}">
        <p14:creationId xmlns:p14="http://schemas.microsoft.com/office/powerpoint/2010/main" val="5147184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274638"/>
            <a:ext cx="8784976" cy="922114"/>
          </a:xfrm>
        </p:spPr>
        <p:txBody>
          <a:bodyPr/>
          <a:lstStyle/>
          <a:p>
            <a:r>
              <a:rPr lang="es-CR" dirty="0" smtClean="0"/>
              <a:t>Selección del número de </a:t>
            </a:r>
            <a:r>
              <a:rPr lang="es-CR" dirty="0" err="1" smtClean="0"/>
              <a:t>clústers</a:t>
            </a:r>
            <a:endParaRPr lang="es-CR" dirty="0"/>
          </a:p>
        </p:txBody>
      </p:sp>
      <p:sp>
        <p:nvSpPr>
          <p:cNvPr id="3" name="2 Marcador de contenido"/>
          <p:cNvSpPr>
            <a:spLocks noGrp="1"/>
          </p:cNvSpPr>
          <p:nvPr>
            <p:ph idx="1"/>
          </p:nvPr>
        </p:nvSpPr>
        <p:spPr>
          <a:xfrm>
            <a:off x="251520" y="1484784"/>
            <a:ext cx="8640960" cy="5184576"/>
          </a:xfrm>
        </p:spPr>
        <p:txBody>
          <a:bodyPr>
            <a:normAutofit lnSpcReduction="10000"/>
          </a:bodyPr>
          <a:lstStyle/>
          <a:p>
            <a:pPr algn="just">
              <a:spcBef>
                <a:spcPct val="0"/>
              </a:spcBef>
              <a:spcAft>
                <a:spcPts val="600"/>
              </a:spcAft>
              <a:buClr>
                <a:schemeClr val="hlink"/>
              </a:buClr>
            </a:pPr>
            <a:r>
              <a:rPr lang="es-CR" altLang="es-CR" dirty="0"/>
              <a:t>Para determinar un número adecuado </a:t>
            </a:r>
            <a:r>
              <a:rPr lang="es-CR" altLang="es-CR" i="1" dirty="0"/>
              <a:t>k</a:t>
            </a:r>
            <a:r>
              <a:rPr lang="es-CR" altLang="es-CR" dirty="0"/>
              <a:t> de </a:t>
            </a:r>
            <a:r>
              <a:rPr lang="es-CR" altLang="es-CR" dirty="0" err="1"/>
              <a:t>clústers</a:t>
            </a:r>
            <a:r>
              <a:rPr lang="es-CR" altLang="es-CR" dirty="0"/>
              <a:t> se busca el valor mínimo de la SCDG para un </a:t>
            </a:r>
            <a:r>
              <a:rPr lang="es-CR" altLang="es-CR" i="1" dirty="0"/>
              <a:t>k</a:t>
            </a:r>
            <a:r>
              <a:rPr lang="es-CR" altLang="es-CR" dirty="0"/>
              <a:t> fijo, y se va moviendo el valor de </a:t>
            </a:r>
            <a:r>
              <a:rPr lang="es-CR" altLang="es-CR" i="1" dirty="0"/>
              <a:t>k</a:t>
            </a:r>
            <a:r>
              <a:rPr lang="es-ES" altLang="es-CR" dirty="0" smtClean="0"/>
              <a:t>.</a:t>
            </a:r>
          </a:p>
          <a:p>
            <a:pPr algn="just">
              <a:spcBef>
                <a:spcPct val="0"/>
              </a:spcBef>
              <a:spcAft>
                <a:spcPts val="600"/>
              </a:spcAft>
              <a:buClr>
                <a:schemeClr val="hlink"/>
              </a:buClr>
            </a:pPr>
            <a:endParaRPr lang="es-ES" dirty="0"/>
          </a:p>
          <a:p>
            <a:pPr algn="just">
              <a:spcBef>
                <a:spcPct val="0"/>
              </a:spcBef>
              <a:spcAft>
                <a:spcPts val="600"/>
              </a:spcAft>
              <a:buClr>
                <a:schemeClr val="hlink"/>
              </a:buClr>
            </a:pPr>
            <a:r>
              <a:rPr lang="es-ES" altLang="es-CR" dirty="0"/>
              <a:t>Conforme el número </a:t>
            </a:r>
            <a:r>
              <a:rPr lang="es-ES" altLang="es-CR" i="1" dirty="0"/>
              <a:t>k</a:t>
            </a:r>
            <a:r>
              <a:rPr lang="es-ES" altLang="es-CR" dirty="0"/>
              <a:t> crece, la SCDG siempre </a:t>
            </a:r>
            <a:r>
              <a:rPr lang="es-ES" altLang="es-CR" dirty="0" smtClean="0"/>
              <a:t>decrece.</a:t>
            </a:r>
          </a:p>
          <a:p>
            <a:pPr algn="just">
              <a:spcBef>
                <a:spcPct val="0"/>
              </a:spcBef>
              <a:spcAft>
                <a:spcPts val="600"/>
              </a:spcAft>
              <a:buClr>
                <a:schemeClr val="hlink"/>
              </a:buClr>
            </a:pPr>
            <a:endParaRPr lang="es-ES" dirty="0" smtClean="0"/>
          </a:p>
          <a:p>
            <a:pPr algn="just">
              <a:spcBef>
                <a:spcPct val="0"/>
              </a:spcBef>
              <a:spcAft>
                <a:spcPts val="600"/>
              </a:spcAft>
              <a:buClr>
                <a:schemeClr val="hlink"/>
              </a:buClr>
            </a:pPr>
            <a:r>
              <a:rPr lang="es-ES" altLang="es-CR" dirty="0"/>
              <a:t>Se grafican los valores de SCDG contra </a:t>
            </a:r>
            <a:r>
              <a:rPr lang="es-ES" altLang="es-CR" i="1" dirty="0"/>
              <a:t>k</a:t>
            </a:r>
            <a:r>
              <a:rPr lang="es-ES" altLang="es-CR" dirty="0"/>
              <a:t> y se busca una forma de «codo» en el gráfico como un indicador del punto más </a:t>
            </a:r>
            <a:r>
              <a:rPr lang="es-ES" altLang="es-CR" dirty="0" smtClean="0"/>
              <a:t>adecuado.</a:t>
            </a:r>
            <a:endParaRPr lang="es-ES" dirty="0"/>
          </a:p>
          <a:p>
            <a:pPr algn="just">
              <a:spcBef>
                <a:spcPct val="0"/>
              </a:spcBef>
              <a:spcAft>
                <a:spcPts val="600"/>
              </a:spcAft>
              <a:buClr>
                <a:schemeClr val="hlink"/>
              </a:buClr>
            </a:pPr>
            <a:endParaRPr lang="es-CR" dirty="0"/>
          </a:p>
        </p:txBody>
      </p:sp>
    </p:spTree>
    <p:extLst>
      <p:ext uri="{BB962C8B-B14F-4D97-AF65-F5344CB8AC3E}">
        <p14:creationId xmlns:p14="http://schemas.microsoft.com/office/powerpoint/2010/main" val="415089454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179512" y="274638"/>
            <a:ext cx="8784976" cy="922114"/>
          </a:xfrm>
        </p:spPr>
        <p:txBody>
          <a:bodyPr/>
          <a:lstStyle/>
          <a:p>
            <a:r>
              <a:rPr lang="es-CR" dirty="0" smtClean="0"/>
              <a:t>Selección del número de </a:t>
            </a:r>
            <a:r>
              <a:rPr lang="es-CR" dirty="0" err="1" smtClean="0"/>
              <a:t>clústers</a:t>
            </a:r>
            <a:endParaRPr lang="es-CR"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484784"/>
            <a:ext cx="5832648" cy="48127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54191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84976" cy="1143000"/>
          </a:xfrm>
        </p:spPr>
        <p:txBody>
          <a:bodyPr/>
          <a:lstStyle/>
          <a:p>
            <a:r>
              <a:rPr lang="es-CR" dirty="0" smtClean="0"/>
              <a:t>Análisis de los </a:t>
            </a:r>
            <a:r>
              <a:rPr lang="es-CR" dirty="0" err="1" smtClean="0"/>
              <a:t>clusters</a:t>
            </a:r>
            <a:r>
              <a:rPr lang="es-CR" dirty="0" smtClean="0"/>
              <a:t> finales</a:t>
            </a:r>
            <a:endParaRPr lang="es-CR" dirty="0"/>
          </a:p>
        </p:txBody>
      </p:sp>
      <p:sp>
        <p:nvSpPr>
          <p:cNvPr id="3" name="2 Marcador de contenido"/>
          <p:cNvSpPr>
            <a:spLocks noGrp="1"/>
          </p:cNvSpPr>
          <p:nvPr>
            <p:ph idx="1"/>
          </p:nvPr>
        </p:nvSpPr>
        <p:spPr>
          <a:xfrm>
            <a:off x="251520" y="1412776"/>
            <a:ext cx="8568952" cy="4925144"/>
          </a:xfrm>
        </p:spPr>
        <p:txBody>
          <a:bodyPr/>
          <a:lstStyle/>
          <a:p>
            <a:r>
              <a:rPr lang="es-ES" altLang="es-CR" dirty="0"/>
              <a:t>Una vez que se han hecho los agrupamientos, existen varias formas de presentar los </a:t>
            </a:r>
            <a:r>
              <a:rPr lang="es-ES" altLang="es-CR" dirty="0" smtClean="0"/>
              <a:t>resultados:</a:t>
            </a:r>
          </a:p>
          <a:p>
            <a:endParaRPr lang="es-ES" dirty="0"/>
          </a:p>
          <a:p>
            <a:pPr marL="514350" indent="-514350">
              <a:buAutoNum type="arabicPeriod"/>
            </a:pPr>
            <a:r>
              <a:rPr lang="es-ES" dirty="0" smtClean="0"/>
              <a:t>Componentes principales</a:t>
            </a:r>
          </a:p>
          <a:p>
            <a:pPr marL="514350" indent="-514350">
              <a:buAutoNum type="arabicPeriod"/>
            </a:pPr>
            <a:r>
              <a:rPr lang="es-ES" dirty="0" smtClean="0"/>
              <a:t>Sombras y vecindarios</a:t>
            </a:r>
          </a:p>
          <a:p>
            <a:pPr marL="514350" indent="-514350">
              <a:buAutoNum type="arabicPeriod"/>
            </a:pPr>
            <a:r>
              <a:rPr lang="es-ES" dirty="0" smtClean="0"/>
              <a:t>Rayas</a:t>
            </a:r>
          </a:p>
          <a:p>
            <a:pPr marL="514350" indent="-514350">
              <a:buAutoNum type="arabicPeriod"/>
            </a:pPr>
            <a:r>
              <a:rPr lang="es-CR" dirty="0" smtClean="0"/>
              <a:t>Perfiles</a:t>
            </a:r>
            <a:endParaRPr lang="es-CR" dirty="0"/>
          </a:p>
        </p:txBody>
      </p:sp>
    </p:spTree>
    <p:extLst>
      <p:ext uri="{BB962C8B-B14F-4D97-AF65-F5344CB8AC3E}">
        <p14:creationId xmlns:p14="http://schemas.microsoft.com/office/powerpoint/2010/main" val="10810326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idx="1"/>
          </p:nvPr>
        </p:nvSpPr>
        <p:spPr/>
        <p:txBody>
          <a:bodyPr/>
          <a:lstStyle/>
          <a:p>
            <a:endParaRPr lang="es-CR"/>
          </a:p>
        </p:txBody>
      </p:sp>
      <p:pic>
        <p:nvPicPr>
          <p:cNvPr id="2050"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 y="0"/>
            <a:ext cx="914807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820138"/>
      </p:ext>
    </p:extLst>
  </p:cSld>
  <p:clrMapOvr>
    <a:masterClrMapping/>
  </p:clrMapOvr>
  <p:transition spd="slow">
    <p:wheel spokes="1"/>
  </p:transition>
  <p:timing>
    <p:tnLst>
      <p:par>
        <p:cTn id="1" dur="indefinite" restart="never" nodeType="tmRoot"/>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606</TotalTime>
  <Words>2043</Words>
  <Application>Microsoft Office PowerPoint</Application>
  <PresentationFormat>Presentación en pantalla (4:3)</PresentationFormat>
  <Paragraphs>229</Paragraphs>
  <Slides>40</Slides>
  <Notes>0</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40</vt:i4>
      </vt:variant>
    </vt:vector>
  </HeadingPairs>
  <TitlesOfParts>
    <vt:vector size="42" baseType="lpstr">
      <vt:lpstr>Tema de Office</vt:lpstr>
      <vt:lpstr>Ecuación</vt:lpstr>
      <vt:lpstr>Análisis de agrupamientos</vt:lpstr>
      <vt:lpstr>Introducción</vt:lpstr>
      <vt:lpstr>Introducción</vt:lpstr>
      <vt:lpstr>Introducción</vt:lpstr>
      <vt:lpstr>Introducción</vt:lpstr>
      <vt:lpstr>Objetivos</vt:lpstr>
      <vt:lpstr>Etapas del análisis de conglomerados</vt:lpstr>
      <vt:lpstr>Presentación de PowerPoint</vt:lpstr>
      <vt:lpstr>Elección de las variables</vt:lpstr>
      <vt:lpstr>Supuestos y restricciones</vt:lpstr>
      <vt:lpstr>A tener en cuenta antes del análisis…</vt:lpstr>
      <vt:lpstr>Presentación de PowerPoint</vt:lpstr>
      <vt:lpstr>La similitud</vt:lpstr>
      <vt:lpstr>La similitud</vt:lpstr>
      <vt:lpstr>Distancias para variables continuas</vt:lpstr>
      <vt:lpstr>Distancia Euclídea</vt:lpstr>
      <vt:lpstr>Distancia de Mahalanobis</vt:lpstr>
      <vt:lpstr>Distancia de Manhattan (City-block)</vt:lpstr>
      <vt:lpstr>Distancia de Minkowski</vt:lpstr>
      <vt:lpstr>Distancia de Chebyshev</vt:lpstr>
      <vt:lpstr>Distancia para variables binarias</vt:lpstr>
      <vt:lpstr>Distancia para variables binarias</vt:lpstr>
      <vt:lpstr>Distancia para varios tipos de variables</vt:lpstr>
      <vt:lpstr>La importancia de la estandarización</vt:lpstr>
      <vt:lpstr>Distancia entre grupos</vt:lpstr>
      <vt:lpstr>Presentación de PowerPoint</vt:lpstr>
      <vt:lpstr>Técnicas de agrupamiento</vt:lpstr>
      <vt:lpstr>Agrupamiento jerárquico</vt:lpstr>
      <vt:lpstr>Agrupamiento jerárquico: dendograma</vt:lpstr>
      <vt:lpstr>Construcción y representación</vt:lpstr>
      <vt:lpstr>Dendograma</vt:lpstr>
      <vt:lpstr>Poda del dendograma</vt:lpstr>
      <vt:lpstr>Representación con el PCA</vt:lpstr>
      <vt:lpstr>Método de k-medias</vt:lpstr>
      <vt:lpstr>Algoritmo del método de k-medias</vt:lpstr>
      <vt:lpstr>Desventaja del método k-medias</vt:lpstr>
      <vt:lpstr>Selección del número de clústers</vt:lpstr>
      <vt:lpstr>Selección del número de clústers</vt:lpstr>
      <vt:lpstr>Análisis de los clusters finales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agrupamientos</dc:title>
  <dc:creator>Oscar Centeno Mora</dc:creator>
  <cp:lastModifiedBy>Oscar Centeno Mora</cp:lastModifiedBy>
  <cp:revision>22</cp:revision>
  <dcterms:created xsi:type="dcterms:W3CDTF">2017-05-23T14:43:47Z</dcterms:created>
  <dcterms:modified xsi:type="dcterms:W3CDTF">2019-05-16T20:16:47Z</dcterms:modified>
</cp:coreProperties>
</file>