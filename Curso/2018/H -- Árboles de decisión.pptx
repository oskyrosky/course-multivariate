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4" r:id="rId8"/>
    <p:sldId id="262" r:id="rId9"/>
    <p:sldId id="263" r:id="rId10"/>
    <p:sldId id="265" r:id="rId11"/>
    <p:sldId id="266" r:id="rId12"/>
    <p:sldId id="267" r:id="rId13"/>
    <p:sldId id="268" r:id="rId14"/>
    <p:sldId id="269" r:id="rId15"/>
    <p:sldId id="275" r:id="rId16"/>
    <p:sldId id="270" r:id="rId17"/>
    <p:sldId id="271" r:id="rId18"/>
    <p:sldId id="272" r:id="rId19"/>
    <p:sldId id="273" r:id="rId20"/>
    <p:sldId id="276" r:id="rId21"/>
    <p:sldId id="274"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9" r:id="rId44"/>
    <p:sldId id="301" r:id="rId45"/>
    <p:sldId id="300" r:id="rId46"/>
    <p:sldId id="296" r:id="rId4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12/06/2018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12/06/2018</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23528" y="116632"/>
            <a:ext cx="8568952" cy="936104"/>
          </a:xfrm>
        </p:spPr>
        <p:txBody>
          <a:bodyPr/>
          <a:lstStyle/>
          <a:p>
            <a:r>
              <a:rPr lang="es-CR" dirty="0" smtClean="0"/>
              <a:t>Árboles de decisión</a:t>
            </a:r>
            <a:endParaRPr lang="es-CR" dirty="0"/>
          </a:p>
        </p:txBody>
      </p:sp>
      <p:sp>
        <p:nvSpPr>
          <p:cNvPr id="3" name="2 Subtítulo"/>
          <p:cNvSpPr>
            <a:spLocks noGrp="1"/>
          </p:cNvSpPr>
          <p:nvPr>
            <p:ph type="subTitle" idx="1"/>
          </p:nvPr>
        </p:nvSpPr>
        <p:spPr>
          <a:xfrm>
            <a:off x="3715816" y="6165304"/>
            <a:ext cx="5392688" cy="648072"/>
          </a:xfrm>
        </p:spPr>
        <p:txBody>
          <a:bodyPr/>
          <a:lstStyle/>
          <a:p>
            <a:pPr algn="r"/>
            <a:r>
              <a:rPr lang="es-CR" dirty="0" smtClean="0"/>
              <a:t>Oscar Centeno Mora</a:t>
            </a:r>
            <a:endParaRPr lang="es-CR" dirty="0"/>
          </a:p>
        </p:txBody>
      </p:sp>
      <p:pic>
        <p:nvPicPr>
          <p:cNvPr id="1026" name="Picture 2" descr="Resultado de imagen para árboles de decisió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43477"/>
            <a:ext cx="6984776" cy="4153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162120"/>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196752"/>
            <a:ext cx="8568952" cy="5328592"/>
          </a:xfrm>
        </p:spPr>
        <p:txBody>
          <a:bodyPr>
            <a:normAutofit/>
          </a:bodyPr>
          <a:lstStyle/>
          <a:p>
            <a:pPr algn="just"/>
            <a:r>
              <a:rPr lang="es-CR" sz="2400" dirty="0"/>
              <a:t>Los algoritmos </a:t>
            </a:r>
            <a:r>
              <a:rPr lang="es-CR" sz="2400" dirty="0" smtClean="0"/>
              <a:t>basados </a:t>
            </a:r>
            <a:r>
              <a:rPr lang="es-CR" sz="2400" dirty="0"/>
              <a:t>en árboles </a:t>
            </a:r>
            <a:r>
              <a:rPr lang="es-CR" sz="2400" dirty="0" smtClean="0"/>
              <a:t>de decisión (clasificación o predicción) </a:t>
            </a:r>
            <a:r>
              <a:rPr lang="es-CR" sz="2400" dirty="0" smtClean="0"/>
              <a:t>se </a:t>
            </a:r>
            <a:r>
              <a:rPr lang="es-CR" sz="2400" dirty="0"/>
              <a:t>consideran </a:t>
            </a:r>
            <a:r>
              <a:rPr lang="es-CR" sz="2400" dirty="0" smtClean="0"/>
              <a:t>como adecuados, además de aptos para introducirse en el mundo de la minería de datos y el aprendizaje supervisado.  </a:t>
            </a:r>
            <a:endParaRPr lang="es-CR" sz="2400" dirty="0" smtClean="0"/>
          </a:p>
          <a:p>
            <a:endParaRPr lang="es-CR" sz="2400" dirty="0"/>
          </a:p>
          <a:p>
            <a:r>
              <a:rPr lang="es-CR" sz="2400" dirty="0" smtClean="0"/>
              <a:t>Los </a:t>
            </a:r>
            <a:r>
              <a:rPr lang="es-CR" sz="2400" dirty="0"/>
              <a:t>métodos basados en </a:t>
            </a:r>
            <a:r>
              <a:rPr lang="es-CR" sz="2400" dirty="0" smtClean="0"/>
              <a:t>árboles pueden ser utilizados desde los modelos predictivos como para la clasificación, brindando una aceptable, </a:t>
            </a:r>
            <a:r>
              <a:rPr lang="es-CR" sz="2400" dirty="0"/>
              <a:t>estabilidad y facilidad de interpretación</a:t>
            </a:r>
            <a:r>
              <a:rPr lang="es-CR" sz="2400" dirty="0" smtClean="0"/>
              <a:t>.</a:t>
            </a:r>
          </a:p>
          <a:p>
            <a:endParaRPr lang="es-CR" sz="2400" dirty="0"/>
          </a:p>
          <a:p>
            <a:r>
              <a:rPr lang="es-CR" sz="2400" dirty="0" smtClean="0"/>
              <a:t> </a:t>
            </a:r>
            <a:r>
              <a:rPr lang="es-CR" sz="2400" dirty="0"/>
              <a:t>A diferencia de los modelos lineales, las relaciones no lineales se relacionan bastante bien. Son adaptables para resolver cualquier tipo de problema a </a:t>
            </a:r>
            <a:r>
              <a:rPr lang="es-CR" sz="2400" dirty="0" smtClean="0"/>
              <a:t>mano, sin tener que pasar por la verificación de supuestos.</a:t>
            </a:r>
            <a:endParaRPr lang="es-CR" sz="2400" dirty="0"/>
          </a:p>
        </p:txBody>
      </p:sp>
      <p:sp>
        <p:nvSpPr>
          <p:cNvPr id="4" name="1 Título"/>
          <p:cNvSpPr>
            <a:spLocks noGrp="1"/>
          </p:cNvSpPr>
          <p:nvPr>
            <p:ph type="title"/>
          </p:nvPr>
        </p:nvSpPr>
        <p:spPr>
          <a:xfrm>
            <a:off x="467544" y="188640"/>
            <a:ext cx="8229600" cy="922114"/>
          </a:xfrm>
        </p:spPr>
        <p:txBody>
          <a:bodyPr/>
          <a:lstStyle/>
          <a:p>
            <a:r>
              <a:rPr lang="es-CR" dirty="0" smtClean="0"/>
              <a:t>Introducción</a:t>
            </a:r>
            <a:endParaRPr lang="es-CR" dirty="0"/>
          </a:p>
        </p:txBody>
      </p:sp>
    </p:spTree>
    <p:extLst>
      <p:ext uri="{BB962C8B-B14F-4D97-AF65-F5344CB8AC3E}">
        <p14:creationId xmlns:p14="http://schemas.microsoft.com/office/powerpoint/2010/main" val="25988442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188640"/>
            <a:ext cx="8229600" cy="922114"/>
          </a:xfrm>
        </p:spPr>
        <p:txBody>
          <a:bodyPr/>
          <a:lstStyle/>
          <a:p>
            <a:r>
              <a:rPr lang="es-CR" dirty="0" smtClean="0"/>
              <a:t>Introducción</a:t>
            </a:r>
            <a:endParaRPr lang="es-CR" dirty="0"/>
          </a:p>
        </p:txBody>
      </p:sp>
      <p:sp>
        <p:nvSpPr>
          <p:cNvPr id="4" name="2 Marcador de contenido"/>
          <p:cNvSpPr>
            <a:spLocks noGrp="1"/>
          </p:cNvSpPr>
          <p:nvPr>
            <p:ph idx="1"/>
          </p:nvPr>
        </p:nvSpPr>
        <p:spPr>
          <a:xfrm>
            <a:off x="251520" y="1196752"/>
            <a:ext cx="8568952" cy="5328592"/>
          </a:xfrm>
        </p:spPr>
        <p:txBody>
          <a:bodyPr>
            <a:normAutofit/>
          </a:bodyPr>
          <a:lstStyle/>
          <a:p>
            <a:pPr algn="just"/>
            <a:r>
              <a:rPr lang="es-CR" sz="2400" dirty="0" smtClean="0"/>
              <a:t>Los métodos </a:t>
            </a:r>
            <a:r>
              <a:rPr lang="es-CR" sz="2400" dirty="0"/>
              <a:t>como </a:t>
            </a:r>
            <a:r>
              <a:rPr lang="es-CR" sz="2400" dirty="0" smtClean="0"/>
              <a:t>los árboles </a:t>
            </a:r>
            <a:r>
              <a:rPr lang="es-CR" sz="2400" dirty="0"/>
              <a:t>de </a:t>
            </a:r>
            <a:r>
              <a:rPr lang="es-CR" sz="2400" dirty="0" smtClean="0"/>
              <a:t>decisión se considera se considera como la herramienta base de clasificación y predicción en los problemas </a:t>
            </a:r>
            <a:r>
              <a:rPr lang="es-CR" sz="2400" dirty="0"/>
              <a:t>de ciencia de datos. Por lo tanto, para cada </a:t>
            </a:r>
            <a:r>
              <a:rPr lang="es-CR" sz="2400" dirty="0" smtClean="0"/>
              <a:t>analista, </a:t>
            </a:r>
            <a:r>
              <a:rPr lang="es-CR" sz="2400" dirty="0"/>
              <a:t>es importante aprender estos algoritmos y utilizarlos para el modelado.</a:t>
            </a:r>
          </a:p>
          <a:p>
            <a:endParaRPr lang="es-CR" sz="2400" dirty="0"/>
          </a:p>
          <a:p>
            <a:r>
              <a:rPr lang="es-CR" sz="2400" dirty="0" smtClean="0"/>
              <a:t>Aunque solo hablaremos de </a:t>
            </a:r>
            <a:r>
              <a:rPr lang="es-CR" sz="2400" dirty="0" smtClean="0"/>
              <a:t>árboles </a:t>
            </a:r>
            <a:r>
              <a:rPr lang="es-CR" sz="2400" dirty="0" err="1" smtClean="0"/>
              <a:t>dee</a:t>
            </a:r>
            <a:r>
              <a:rPr lang="es-CR" sz="2400" dirty="0" smtClean="0"/>
              <a:t> decisión, </a:t>
            </a:r>
            <a:r>
              <a:rPr lang="es-CR" sz="2400" dirty="0" smtClean="0"/>
              <a:t>se recomienda analizar conjuntamente la técnica </a:t>
            </a:r>
            <a:r>
              <a:rPr lang="es-CR" sz="2400" dirty="0" smtClean="0"/>
              <a:t>de regresión (continua y dicotómica), de </a:t>
            </a:r>
            <a:r>
              <a:rPr lang="es-CR" sz="2400" dirty="0" err="1" smtClean="0"/>
              <a:t>Random</a:t>
            </a:r>
            <a:r>
              <a:rPr lang="es-CR" sz="2400" dirty="0" smtClean="0"/>
              <a:t> Forrest</a:t>
            </a:r>
            <a:r>
              <a:rPr lang="es-CR" sz="2400" dirty="0" smtClean="0"/>
              <a:t>, </a:t>
            </a:r>
            <a:r>
              <a:rPr lang="es-CR" sz="2400" dirty="0" err="1" smtClean="0"/>
              <a:t>etc</a:t>
            </a:r>
            <a:r>
              <a:rPr lang="es-CR" sz="2400" dirty="0" smtClean="0"/>
              <a:t>,  las cuales </a:t>
            </a:r>
            <a:r>
              <a:rPr lang="es-CR" sz="2400" dirty="0" smtClean="0"/>
              <a:t>se </a:t>
            </a:r>
            <a:r>
              <a:rPr lang="es-CR" sz="2400" dirty="0" smtClean="0"/>
              <a:t>complementan </a:t>
            </a:r>
            <a:r>
              <a:rPr lang="es-CR" sz="2400" dirty="0" smtClean="0"/>
              <a:t>muy bien con la presente técnica</a:t>
            </a:r>
            <a:r>
              <a:rPr lang="es-CR" sz="2400" dirty="0" smtClean="0"/>
              <a:t>. </a:t>
            </a:r>
            <a:endParaRPr lang="es-CR" sz="2400" dirty="0"/>
          </a:p>
        </p:txBody>
      </p:sp>
    </p:spTree>
    <p:extLst>
      <p:ext uri="{BB962C8B-B14F-4D97-AF65-F5344CB8AC3E}">
        <p14:creationId xmlns:p14="http://schemas.microsoft.com/office/powerpoint/2010/main" val="822591883"/>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smtClean="0"/>
              <a:t>El árbol </a:t>
            </a:r>
            <a:r>
              <a:rPr lang="es-CR" sz="2400" dirty="0"/>
              <a:t>de decisión es un tipo de algoritmo de aprendizaje supervisado (que tiene una variable objetivo predefinida) que se utiliza principalmente en los problemas de </a:t>
            </a:r>
            <a:r>
              <a:rPr lang="es-CR" sz="2400" dirty="0" smtClean="0"/>
              <a:t>clasificación (variable </a:t>
            </a:r>
            <a:r>
              <a:rPr lang="es-CR" sz="2400" dirty="0" err="1" smtClean="0"/>
              <a:t>categorico</a:t>
            </a:r>
            <a:r>
              <a:rPr lang="es-CR" sz="2400" dirty="0" smtClean="0"/>
              <a:t>) o predicción (variable continua).</a:t>
            </a:r>
          </a:p>
          <a:p>
            <a:pPr algn="just"/>
            <a:endParaRPr lang="es-CR" sz="2400" dirty="0" smtClean="0"/>
          </a:p>
          <a:p>
            <a:pPr algn="just"/>
            <a:r>
              <a:rPr lang="es-CR" sz="2400" dirty="0" smtClean="0"/>
              <a:t> </a:t>
            </a:r>
            <a:r>
              <a:rPr lang="es-CR" sz="2400" dirty="0"/>
              <a:t>Funciona tanto para las variables categóricas como para las variables continuas de entrada y </a:t>
            </a:r>
            <a:r>
              <a:rPr lang="es-CR" sz="2400" dirty="0" smtClean="0"/>
              <a:t>salida (Y dependiente y Xi independientes).</a:t>
            </a:r>
          </a:p>
          <a:p>
            <a:pPr algn="just"/>
            <a:endParaRPr lang="es-CR" sz="2400" dirty="0" smtClean="0"/>
          </a:p>
          <a:p>
            <a:pPr algn="just"/>
            <a:r>
              <a:rPr lang="es-CR" sz="2400" dirty="0" smtClean="0"/>
              <a:t> </a:t>
            </a:r>
            <a:r>
              <a:rPr lang="es-CR" sz="2400" dirty="0"/>
              <a:t>En esta técnica, dividimos la población o la muestra en dos o más conjuntos homogéneos (o subpoblaciones) basados en el más significativo divisor / diferenciador en las variables de entrada.</a:t>
            </a:r>
          </a:p>
        </p:txBody>
      </p:sp>
    </p:spTree>
    <p:extLst>
      <p:ext uri="{BB962C8B-B14F-4D97-AF65-F5344CB8AC3E}">
        <p14:creationId xmlns:p14="http://schemas.microsoft.com/office/powerpoint/2010/main" val="22152248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988840"/>
            <a:ext cx="5904656" cy="4656850"/>
          </a:xfrm>
          <a:prstGeom prst="rect">
            <a:avLst/>
          </a:prstGeom>
          <a:noFill/>
          <a:extLst>
            <a:ext uri="{909E8E84-426E-40DD-AFC4-6F175D3DCCD1}">
              <a14:hiddenFill xmlns:a14="http://schemas.microsoft.com/office/drawing/2010/main">
                <a:solidFill>
                  <a:srgbClr val="FFFFFF"/>
                </a:solidFill>
              </a14:hiddenFill>
            </a:ext>
          </a:extLst>
        </p:spPr>
      </p:pic>
      <p:sp>
        <p:nvSpPr>
          <p:cNvPr id="6"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36406492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Digamos que tenemos una muestra de 30 estudiantes con tres variables Género (Niño / Niña), Clase (IX / X) y Altura (5 a 6 pies). 15 de estos 30 jugar cricket en tiempo libre. </a:t>
            </a:r>
            <a:endParaRPr lang="es-CR" sz="2400" dirty="0" smtClean="0"/>
          </a:p>
          <a:p>
            <a:pPr algn="just"/>
            <a:endParaRPr lang="es-CR" sz="2400" dirty="0"/>
          </a:p>
          <a:p>
            <a:pPr algn="just"/>
            <a:r>
              <a:rPr lang="es-CR" sz="2400" dirty="0" smtClean="0"/>
              <a:t>Ahora</a:t>
            </a:r>
            <a:r>
              <a:rPr lang="es-CR" sz="2400" dirty="0"/>
              <a:t>, quiero crear un modelo para predecir quién jugará cricket durante el período de </a:t>
            </a:r>
            <a:r>
              <a:rPr lang="es-CR" sz="2400" dirty="0" smtClean="0"/>
              <a:t>ocio.</a:t>
            </a:r>
          </a:p>
          <a:p>
            <a:pPr algn="just"/>
            <a:endParaRPr lang="es-CR" sz="2400" dirty="0"/>
          </a:p>
          <a:p>
            <a:pPr algn="just"/>
            <a:r>
              <a:rPr lang="es-CR" sz="2400" dirty="0" smtClean="0"/>
              <a:t> </a:t>
            </a:r>
            <a:r>
              <a:rPr lang="es-CR" sz="2400" dirty="0"/>
              <a:t>En este problema, necesitamos segregar a los estudiantes que juegan cricket en su tiempo de ocio basado en la variable de entrada altamente significativa entre los tres.</a:t>
            </a:r>
          </a:p>
        </p:txBody>
      </p:sp>
      <p:sp>
        <p:nvSpPr>
          <p:cNvPr id="5"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2043899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484784"/>
            <a:ext cx="8568952" cy="5184576"/>
          </a:xfrm>
        </p:spPr>
        <p:txBody>
          <a:bodyPr>
            <a:normAutofit/>
          </a:bodyPr>
          <a:lstStyle/>
          <a:p>
            <a:pPr algn="just"/>
            <a:r>
              <a:rPr lang="es-CR" sz="2400" dirty="0" smtClean="0"/>
              <a:t>Aquí </a:t>
            </a:r>
            <a:r>
              <a:rPr lang="es-CR" sz="2400" dirty="0"/>
              <a:t>es donde el árbol de decisiones </a:t>
            </a:r>
            <a:r>
              <a:rPr lang="es-CR" sz="2400" dirty="0" smtClean="0"/>
              <a:t>ayuda.</a:t>
            </a:r>
          </a:p>
          <a:p>
            <a:pPr algn="just"/>
            <a:endParaRPr lang="es-CR" sz="2400" dirty="0"/>
          </a:p>
          <a:p>
            <a:pPr algn="just"/>
            <a:r>
              <a:rPr lang="es-CR" sz="2400" dirty="0" smtClean="0"/>
              <a:t>Segregará </a:t>
            </a:r>
            <a:r>
              <a:rPr lang="es-CR" sz="2400" dirty="0"/>
              <a:t>a los estudiantes en base a todos los valores de tres variables e identificará la variable, lo que crea los mejores conjuntos homogéneos de estudiantes (que son heterogéneos entre sí). </a:t>
            </a:r>
            <a:endParaRPr lang="es-CR" sz="2400" dirty="0" smtClean="0"/>
          </a:p>
          <a:p>
            <a:pPr algn="just"/>
            <a:endParaRPr lang="es-CR" sz="2400" dirty="0"/>
          </a:p>
          <a:p>
            <a:pPr algn="just"/>
            <a:r>
              <a:rPr lang="es-CR" sz="2400" dirty="0" smtClean="0"/>
              <a:t>En </a:t>
            </a:r>
            <a:r>
              <a:rPr lang="es-CR" sz="2400" dirty="0"/>
              <a:t>la instantánea a continuación, puede ver que la variable Género es capaz de identificar los mejores conjuntos homogéneos en comparación con las otras dos variables.</a:t>
            </a:r>
          </a:p>
        </p:txBody>
      </p:sp>
      <p:sp>
        <p:nvSpPr>
          <p:cNvPr id="5"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15320033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pic>
        <p:nvPicPr>
          <p:cNvPr id="5122" name="Picture 2" descr="Decision Tree, Algorith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1844824"/>
            <a:ext cx="8784976" cy="468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517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Como se mencionó anteriormente, el árbol de decisiones identifica la variable más significativa y su valor que da los mejores conjuntos homogéneos de población. </a:t>
            </a:r>
            <a:endParaRPr lang="es-CR" sz="2400" dirty="0" smtClean="0"/>
          </a:p>
          <a:p>
            <a:pPr algn="just"/>
            <a:endParaRPr lang="es-CR" sz="2400" dirty="0"/>
          </a:p>
          <a:p>
            <a:pPr algn="just"/>
            <a:r>
              <a:rPr lang="es-CR" sz="2400" dirty="0" smtClean="0"/>
              <a:t>Ahora </a:t>
            </a:r>
            <a:r>
              <a:rPr lang="es-CR" sz="2400" dirty="0"/>
              <a:t>la pregunta que surge es, ¿cómo identifica la variable y la división? Para ello, el árbol de decisiones utiliza varios algoritmos, que discutiremos en la siguiente sección.</a:t>
            </a:r>
          </a:p>
        </p:txBody>
      </p:sp>
      <p:sp>
        <p:nvSpPr>
          <p:cNvPr id="5" name="1 Título"/>
          <p:cNvSpPr>
            <a:spLocks noGrp="1"/>
          </p:cNvSpPr>
          <p:nvPr>
            <p:ph type="title"/>
          </p:nvPr>
        </p:nvSpPr>
        <p:spPr>
          <a:xfrm>
            <a:off x="251520" y="116632"/>
            <a:ext cx="8640960"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31288354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340768"/>
            <a:ext cx="8928992" cy="5400600"/>
          </a:xfrm>
        </p:spPr>
        <p:txBody>
          <a:bodyPr>
            <a:normAutofit lnSpcReduction="10000"/>
          </a:bodyPr>
          <a:lstStyle/>
          <a:p>
            <a:pPr algn="just"/>
            <a:r>
              <a:rPr lang="es-CR" sz="2400" dirty="0"/>
              <a:t>Los tipos de árbol de decisión se basan en el tipo de variable objetivo que tenemos. Puede ser de dos tipos</a:t>
            </a:r>
            <a:r>
              <a:rPr lang="es-CR" sz="2400" dirty="0" smtClean="0"/>
              <a:t>:</a:t>
            </a:r>
          </a:p>
          <a:p>
            <a:pPr algn="just"/>
            <a:endParaRPr lang="es-CR" sz="2400" dirty="0" smtClean="0"/>
          </a:p>
          <a:p>
            <a:pPr marL="457200" indent="-457200" algn="just">
              <a:buAutoNum type="arabicPeriod"/>
            </a:pPr>
            <a:r>
              <a:rPr lang="es-CR" sz="2400" dirty="0" smtClean="0"/>
              <a:t>Árbol </a:t>
            </a:r>
            <a:r>
              <a:rPr lang="es-CR" sz="2400" dirty="0"/>
              <a:t>de decisión de variables categóricas: Árbol de decisiones que tiene una variable de destino categórica y luego se llama como árbol de decisión de variable </a:t>
            </a:r>
            <a:r>
              <a:rPr lang="es-CR" sz="2400" dirty="0"/>
              <a:t>categórica (árbol de </a:t>
            </a:r>
            <a:r>
              <a:rPr lang="es-CR" sz="2400" dirty="0" smtClean="0"/>
              <a:t>clasificación) </a:t>
            </a:r>
            <a:r>
              <a:rPr lang="es-CR" sz="2400" dirty="0" smtClean="0"/>
              <a:t>. </a:t>
            </a:r>
            <a:r>
              <a:rPr lang="es-CR" sz="2400" dirty="0"/>
              <a:t>Ejemplo: </a:t>
            </a:r>
            <a:r>
              <a:rPr lang="es-CR" sz="2400" dirty="0" smtClean="0"/>
              <a:t> </a:t>
            </a:r>
            <a:r>
              <a:rPr lang="es-CR" sz="2400" dirty="0"/>
              <a:t>En el escenario anterior del problema del estudiante, donde la variable objetivo era "El estudiante jugará al grillo o no", es decir, SI o NO</a:t>
            </a:r>
            <a:r>
              <a:rPr lang="es-CR" sz="2400" dirty="0" smtClean="0"/>
              <a:t>.</a:t>
            </a:r>
          </a:p>
          <a:p>
            <a:pPr marL="457200" indent="-457200" algn="just">
              <a:buAutoNum type="arabicPeriod"/>
            </a:pPr>
            <a:endParaRPr lang="es-CR" sz="2400" dirty="0"/>
          </a:p>
          <a:p>
            <a:pPr marL="0" indent="0" algn="just">
              <a:buNone/>
            </a:pPr>
            <a:r>
              <a:rPr lang="es-CR" sz="2400" dirty="0"/>
              <a:t>2. Árbol de decisión variable continuo: El árbol de decisión tiene una </a:t>
            </a:r>
            <a:r>
              <a:rPr lang="es-CR" sz="2400" dirty="0" smtClean="0"/>
              <a:t>   variable </a:t>
            </a:r>
            <a:r>
              <a:rPr lang="es-CR" sz="2400" dirty="0"/>
              <a:t>de destino continua y luego se llama Árbol de decisión variable </a:t>
            </a:r>
            <a:r>
              <a:rPr lang="es-CR" sz="2400" dirty="0" smtClean="0"/>
              <a:t>continuo (árbol de </a:t>
            </a:r>
            <a:r>
              <a:rPr lang="es-CR" sz="2400" dirty="0"/>
              <a:t>regresión). Ejemplo: </a:t>
            </a:r>
            <a:r>
              <a:rPr lang="es-CR" sz="2400" dirty="0" smtClean="0"/>
              <a:t> estimación del salario.</a:t>
            </a:r>
            <a:endParaRPr lang="es-CR" sz="2400" dirty="0"/>
          </a:p>
        </p:txBody>
      </p:sp>
      <p:sp>
        <p:nvSpPr>
          <p:cNvPr id="5" name="1 Título"/>
          <p:cNvSpPr>
            <a:spLocks noGrp="1"/>
          </p:cNvSpPr>
          <p:nvPr>
            <p:ph type="title"/>
          </p:nvPr>
        </p:nvSpPr>
        <p:spPr>
          <a:xfrm>
            <a:off x="457200" y="44624"/>
            <a:ext cx="8229600"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4391986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Ejemplo: </a:t>
            </a:r>
            <a:endParaRPr lang="es-CR" sz="2400" dirty="0" smtClean="0"/>
          </a:p>
          <a:p>
            <a:pPr algn="just"/>
            <a:endParaRPr lang="es-CR" sz="2400" dirty="0"/>
          </a:p>
          <a:p>
            <a:pPr algn="just"/>
            <a:r>
              <a:rPr lang="es-CR" sz="2400" dirty="0" smtClean="0"/>
              <a:t>- </a:t>
            </a:r>
            <a:r>
              <a:rPr lang="es-CR" sz="2400" dirty="0"/>
              <a:t>Digamos que tenemos un problema para predecir si un cliente pagará su prima de renovación con una compañía de seguros (sí / no). Aquí sabemos que los ingresos del cliente es una variable significativa, pero la compañía de seguros no tiene detalles de ingresos para todos los clientes. Ahora, como sabemos que esto es una variable importante, entonces podemos construir un árbol de decisiones para predecir el ingreso del cliente basado en la ocupación, el producto y varias otras variables. En este caso, estamos prediciendo valores para la variable continua</a:t>
            </a:r>
          </a:p>
        </p:txBody>
      </p:sp>
      <p:sp>
        <p:nvSpPr>
          <p:cNvPr id="5" name="1 Título"/>
          <p:cNvSpPr>
            <a:spLocks noGrp="1"/>
          </p:cNvSpPr>
          <p:nvPr>
            <p:ph type="title"/>
          </p:nvPr>
        </p:nvSpPr>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29974743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fontScale="92500"/>
          </a:bodyPr>
          <a:lstStyle/>
          <a:p>
            <a:pPr algn="just"/>
            <a:r>
              <a:rPr lang="es-CR" sz="2400" dirty="0"/>
              <a:t>Veamos la terminología básica utilizada con los árboles de decisión</a:t>
            </a:r>
            <a:r>
              <a:rPr lang="es-CR" sz="2400" dirty="0" smtClean="0"/>
              <a:t>:</a:t>
            </a:r>
          </a:p>
          <a:p>
            <a:pPr algn="just"/>
            <a:endParaRPr lang="es-CR" sz="2400" dirty="0"/>
          </a:p>
          <a:p>
            <a:pPr marL="457200" indent="-457200" algn="just">
              <a:buAutoNum type="arabicPeriod"/>
            </a:pPr>
            <a:r>
              <a:rPr lang="es-CR" sz="2400" dirty="0" smtClean="0"/>
              <a:t>Nodo </a:t>
            </a:r>
            <a:r>
              <a:rPr lang="es-CR" sz="2400" dirty="0"/>
              <a:t>raíz: </a:t>
            </a:r>
            <a:r>
              <a:rPr lang="es-CR" sz="2400" dirty="0" smtClean="0"/>
              <a:t>representa </a:t>
            </a:r>
            <a:r>
              <a:rPr lang="es-CR" sz="2400" dirty="0"/>
              <a:t>toda la población o muestra y esto se divide en dos o más conjuntos homogéneos</a:t>
            </a:r>
            <a:r>
              <a:rPr lang="es-CR" sz="2400" dirty="0" smtClean="0"/>
              <a:t>.</a:t>
            </a:r>
          </a:p>
          <a:p>
            <a:pPr marL="0" indent="0" algn="just">
              <a:buNone/>
            </a:pPr>
            <a:endParaRPr lang="es-CR" sz="2400" dirty="0" smtClean="0"/>
          </a:p>
          <a:p>
            <a:pPr marL="0" indent="0" algn="just">
              <a:buNone/>
            </a:pPr>
            <a:r>
              <a:rPr lang="es-CR" sz="2400" dirty="0" smtClean="0"/>
              <a:t>2</a:t>
            </a:r>
            <a:r>
              <a:rPr lang="es-CR" sz="2400" dirty="0" smtClean="0"/>
              <a:t>. División</a:t>
            </a:r>
            <a:r>
              <a:rPr lang="es-CR" sz="2400" dirty="0"/>
              <a:t>: </a:t>
            </a:r>
            <a:r>
              <a:rPr lang="es-CR" sz="2400" dirty="0"/>
              <a:t>e</a:t>
            </a:r>
            <a:r>
              <a:rPr lang="es-CR" sz="2400" dirty="0" smtClean="0"/>
              <a:t>s </a:t>
            </a:r>
            <a:r>
              <a:rPr lang="es-CR" sz="2400" dirty="0"/>
              <a:t>un proceso de dividir un nodo en dos o más </a:t>
            </a:r>
            <a:r>
              <a:rPr lang="es-CR" sz="2400" dirty="0" err="1"/>
              <a:t>subnodos</a:t>
            </a:r>
            <a:r>
              <a:rPr lang="es-CR" sz="2400" dirty="0" smtClean="0"/>
              <a:t>.</a:t>
            </a:r>
          </a:p>
          <a:p>
            <a:pPr marL="0" indent="0" algn="just">
              <a:buNone/>
            </a:pPr>
            <a:endParaRPr lang="es-CR" sz="2400" dirty="0"/>
          </a:p>
          <a:p>
            <a:pPr marL="0" indent="0" algn="just">
              <a:buNone/>
            </a:pPr>
            <a:r>
              <a:rPr lang="es-CR" sz="2400" dirty="0" smtClean="0"/>
              <a:t>3. Nodo </a:t>
            </a:r>
            <a:r>
              <a:rPr lang="es-CR" sz="2400" dirty="0"/>
              <a:t>de decisión: </a:t>
            </a:r>
            <a:r>
              <a:rPr lang="es-CR" sz="2400" dirty="0" smtClean="0"/>
              <a:t>cuando </a:t>
            </a:r>
            <a:r>
              <a:rPr lang="es-CR" sz="2400" dirty="0"/>
              <a:t>un </a:t>
            </a:r>
            <a:r>
              <a:rPr lang="es-CR" sz="2400" dirty="0" smtClean="0"/>
              <a:t>sub-nodo </a:t>
            </a:r>
            <a:r>
              <a:rPr lang="es-CR" sz="2400" dirty="0"/>
              <a:t>se divide en </a:t>
            </a:r>
            <a:r>
              <a:rPr lang="es-CR" sz="2400" dirty="0" err="1"/>
              <a:t>subnodos</a:t>
            </a:r>
            <a:r>
              <a:rPr lang="es-CR" sz="2400" dirty="0"/>
              <a:t> adicionales, se llama nodo de decisión</a:t>
            </a:r>
            <a:r>
              <a:rPr lang="es-CR" sz="2400" dirty="0" smtClean="0"/>
              <a:t>.</a:t>
            </a:r>
          </a:p>
          <a:p>
            <a:pPr marL="0" indent="0" algn="just">
              <a:buNone/>
            </a:pPr>
            <a:endParaRPr lang="es-CR" sz="2400" dirty="0"/>
          </a:p>
          <a:p>
            <a:pPr marL="0" indent="0" algn="just">
              <a:buNone/>
            </a:pPr>
            <a:r>
              <a:rPr lang="es-CR" sz="2400" dirty="0" smtClean="0"/>
              <a:t>4. Nodo </a:t>
            </a:r>
            <a:r>
              <a:rPr lang="es-CR" sz="2400" dirty="0" err="1"/>
              <a:t>Leaf</a:t>
            </a:r>
            <a:r>
              <a:rPr lang="es-CR" sz="2400" dirty="0"/>
              <a:t> / Terminal: </a:t>
            </a:r>
            <a:r>
              <a:rPr lang="es-CR" sz="2400" dirty="0" smtClean="0"/>
              <a:t>los </a:t>
            </a:r>
            <a:r>
              <a:rPr lang="es-CR" sz="2400" dirty="0"/>
              <a:t>nodos que no se dividen se llaman </a:t>
            </a:r>
            <a:r>
              <a:rPr lang="es-CR" sz="2400" dirty="0" err="1"/>
              <a:t>Leaf</a:t>
            </a:r>
            <a:r>
              <a:rPr lang="es-CR" sz="2400" dirty="0"/>
              <a:t> o </a:t>
            </a:r>
            <a:r>
              <a:rPr lang="es-CR" sz="2400" dirty="0" smtClean="0"/>
              <a:t>nodo </a:t>
            </a:r>
            <a:r>
              <a:rPr lang="es-CR" sz="2400" dirty="0" err="1" smtClean="0"/>
              <a:t>termial</a:t>
            </a:r>
            <a:r>
              <a:rPr lang="es-CR" sz="2400" dirty="0"/>
              <a:t>.</a:t>
            </a:r>
          </a:p>
        </p:txBody>
      </p:sp>
      <p:sp>
        <p:nvSpPr>
          <p:cNvPr id="5" name="1 Título"/>
          <p:cNvSpPr>
            <a:spLocks noGrp="1"/>
          </p:cNvSpPr>
          <p:nvPr>
            <p:ph type="title"/>
          </p:nvPr>
        </p:nvSpPr>
        <p:spPr>
          <a:xfrm>
            <a:off x="107504" y="116632"/>
            <a:ext cx="8856984" cy="114300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8875957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107504" y="274638"/>
            <a:ext cx="8928992" cy="994122"/>
          </a:xfrm>
        </p:spPr>
        <p:txBody>
          <a:bodyPr>
            <a:normAutofit fontScale="90000"/>
          </a:bodyPr>
          <a:lstStyle/>
          <a:p>
            <a:r>
              <a:rPr lang="es-CR" dirty="0"/>
              <a:t>¿Qué es un árbol de decisión? </a:t>
            </a:r>
            <a:r>
              <a:rPr lang="es-CR" dirty="0" smtClean="0"/>
              <a:t>¿Cómo </a:t>
            </a:r>
            <a:r>
              <a:rPr lang="es-CR" dirty="0"/>
              <a:t>funciona ?</a:t>
            </a:r>
          </a:p>
        </p:txBody>
      </p:sp>
      <p:pic>
        <p:nvPicPr>
          <p:cNvPr id="7170" name="Picture 2" descr="Decision Tree Terminology, Root Node, Branch, Splitting, Pru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628800"/>
            <a:ext cx="8352928"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0406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412776"/>
            <a:ext cx="8856984" cy="5328592"/>
          </a:xfrm>
        </p:spPr>
        <p:txBody>
          <a:bodyPr>
            <a:normAutofit/>
          </a:bodyPr>
          <a:lstStyle/>
          <a:p>
            <a:pPr algn="just"/>
            <a:r>
              <a:rPr lang="es-CR" sz="2400" dirty="0"/>
              <a:t>Poda: Cuando eliminamos sub-nodos de un nodo de decisión, este proceso se llama poda. Se puede decir un proceso opuesto de división.</a:t>
            </a:r>
          </a:p>
          <a:p>
            <a:pPr algn="just"/>
            <a:r>
              <a:rPr lang="es-CR" sz="2400" dirty="0"/>
              <a:t>Subdivisión / Sub-Árbol: Una sub sección de todo el árbol se llama rama o sub-árbol.</a:t>
            </a:r>
          </a:p>
          <a:p>
            <a:pPr algn="just"/>
            <a:r>
              <a:rPr lang="es-CR" sz="2400" dirty="0"/>
              <a:t>Nodo padre e hijo: Un nodo, que se divide en </a:t>
            </a:r>
            <a:r>
              <a:rPr lang="es-CR" sz="2400" dirty="0" smtClean="0"/>
              <a:t>sub-nodos</a:t>
            </a:r>
            <a:r>
              <a:rPr lang="es-CR" sz="2400" dirty="0"/>
              <a:t>, se llama nodo padre de </a:t>
            </a:r>
            <a:r>
              <a:rPr lang="es-CR" sz="2400" dirty="0" smtClean="0"/>
              <a:t>sub-nodos </a:t>
            </a:r>
            <a:r>
              <a:rPr lang="es-CR" sz="2400" dirty="0"/>
              <a:t>donde como </a:t>
            </a:r>
            <a:r>
              <a:rPr lang="es-CR" sz="2400" dirty="0" smtClean="0"/>
              <a:t>sub-nodos </a:t>
            </a:r>
            <a:r>
              <a:rPr lang="es-CR" sz="2400" dirty="0"/>
              <a:t>son el nodo secundario del nodo padre</a:t>
            </a:r>
            <a:r>
              <a:rPr lang="es-CR" sz="2400" dirty="0" smtClean="0"/>
              <a:t>.</a:t>
            </a:r>
          </a:p>
          <a:p>
            <a:pPr algn="just"/>
            <a:endParaRPr lang="es-CR" sz="2400" dirty="0"/>
          </a:p>
          <a:p>
            <a:r>
              <a:rPr lang="es-CR" sz="2400" dirty="0" smtClean="0"/>
              <a:t>Estos </a:t>
            </a:r>
            <a:r>
              <a:rPr lang="es-CR" sz="2400" dirty="0"/>
              <a:t>son los términos comúnmente utilizados para los árboles de decisión. Como sabemos que cada algoritmo tiene ventajas y desventajas, a continuación son los factores importantes que uno debe saber.</a:t>
            </a:r>
          </a:p>
          <a:p>
            <a:pPr algn="just"/>
            <a:endParaRPr lang="es-CR" sz="2400" dirty="0"/>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4632590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lnSpcReduction="10000"/>
          </a:bodyPr>
          <a:lstStyle/>
          <a:p>
            <a:pPr algn="just"/>
            <a:r>
              <a:rPr lang="es-CR" sz="2400" dirty="0" smtClean="0"/>
              <a:t>Las ventajas son:</a:t>
            </a:r>
          </a:p>
          <a:p>
            <a:pPr algn="just"/>
            <a:endParaRPr lang="es-CR" sz="2400" dirty="0" smtClean="0"/>
          </a:p>
          <a:p>
            <a:pPr marL="457200" indent="-457200" algn="just">
              <a:buAutoNum type="arabicPeriod"/>
            </a:pPr>
            <a:r>
              <a:rPr lang="es-CR" sz="2400" dirty="0" smtClean="0"/>
              <a:t>Fácil </a:t>
            </a:r>
            <a:r>
              <a:rPr lang="es-CR" sz="2400" dirty="0"/>
              <a:t>de entender: La salida del árbol de decisión es muy fácil de entender incluso para las personas de antecedentes no analíticos. No requiere ningún conocimiento estadístico para leerlos e interpretarlos. Su representación gráfica es muy intuitiva y los usuarios pueden relacionar fácilmente su hipótesis</a:t>
            </a:r>
            <a:r>
              <a:rPr lang="es-CR" sz="2400" dirty="0" smtClean="0"/>
              <a:t>.</a:t>
            </a:r>
          </a:p>
          <a:p>
            <a:pPr marL="457200" indent="-457200" algn="just">
              <a:buAutoNum type="arabicPeriod"/>
            </a:pPr>
            <a:endParaRPr lang="es-CR" sz="2400" dirty="0"/>
          </a:p>
          <a:p>
            <a:pPr marL="0" indent="0" algn="just">
              <a:buNone/>
            </a:pPr>
            <a:r>
              <a:rPr lang="es-CR" sz="2400" dirty="0"/>
              <a:t>2. Útil en la exploración de datos: Árbol de decisión es una de las formas más rápidas de identificar las variables más significativas y la relación entre dos o más variables. Con la ayuda de árboles de decisión, podemos crear nuevas variables / características que tengan mejor poder para predecir la variable objetivo.</a:t>
            </a:r>
            <a:endParaRPr lang="es-CR" sz="2400" dirty="0" smtClean="0"/>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611645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marL="0" indent="0" algn="just">
              <a:buNone/>
            </a:pPr>
            <a:r>
              <a:rPr lang="es-CR" sz="2400" dirty="0"/>
              <a:t>3. </a:t>
            </a:r>
            <a:r>
              <a:rPr lang="es-CR" sz="2400" dirty="0" smtClean="0"/>
              <a:t>Menor </a:t>
            </a:r>
            <a:r>
              <a:rPr lang="es-CR" sz="2400" dirty="0"/>
              <a:t>limpieza de datos: requiere menos limpieza de datos en comparación con otras técnicas de modelado. No está influenciado por los valores atípicos y los valores perdidos en un grado razonable</a:t>
            </a:r>
            <a:r>
              <a:rPr lang="es-CR" sz="2400" dirty="0" smtClean="0"/>
              <a:t>.</a:t>
            </a:r>
          </a:p>
          <a:p>
            <a:pPr marL="0" indent="0" algn="just">
              <a:buNone/>
            </a:pPr>
            <a:endParaRPr lang="es-CR" sz="2400" dirty="0"/>
          </a:p>
          <a:p>
            <a:pPr marL="0" indent="0" algn="just">
              <a:buNone/>
            </a:pPr>
            <a:r>
              <a:rPr lang="es-CR" sz="2400" dirty="0"/>
              <a:t>4. El tipo de datos no es una restricción: puede manejar variables numéricas y categóricas</a:t>
            </a:r>
            <a:r>
              <a:rPr lang="es-CR" sz="2400" dirty="0" smtClean="0"/>
              <a:t>.</a:t>
            </a:r>
          </a:p>
          <a:p>
            <a:pPr marL="0" indent="0" algn="just">
              <a:buNone/>
            </a:pPr>
            <a:endParaRPr lang="es-CR" sz="2400" dirty="0"/>
          </a:p>
          <a:p>
            <a:pPr marL="0" indent="0" algn="just">
              <a:buNone/>
            </a:pPr>
            <a:r>
              <a:rPr lang="es-CR" sz="2400" dirty="0"/>
              <a:t>5. Método no paramétrico: Se considera que el árbol de decisión es un método no paramétrico. Esto significa que los árboles de decisión no tienen suposiciones acerca de la distribución del espacio y la estructura del clasificador.</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2837343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smtClean="0"/>
              <a:t>Las desventajas:</a:t>
            </a:r>
          </a:p>
          <a:p>
            <a:pPr marL="0" indent="0" algn="just">
              <a:buNone/>
            </a:pPr>
            <a:endParaRPr lang="es-CR" sz="2400" dirty="0"/>
          </a:p>
          <a:p>
            <a:pPr marL="0" indent="0" algn="just">
              <a:buNone/>
            </a:pPr>
            <a:r>
              <a:rPr lang="es-CR" sz="2400" dirty="0" smtClean="0"/>
              <a:t>1. Ajuste </a:t>
            </a:r>
            <a:r>
              <a:rPr lang="es-CR" sz="2400" dirty="0"/>
              <a:t>excesivo: La adaptación excesiva es una de las dificultades más prácticas para los modelos de árboles de decisión. Este problema se resuelve estableciendo restricciones sobre los parámetros del modelo y la poda (discutido en detalle a continuación</a:t>
            </a:r>
            <a:r>
              <a:rPr lang="es-CR" sz="2400" dirty="0" smtClean="0"/>
              <a:t>).</a:t>
            </a:r>
          </a:p>
          <a:p>
            <a:pPr marL="0" indent="0" algn="just">
              <a:buNone/>
            </a:pPr>
            <a:endParaRPr lang="es-CR" sz="2400" dirty="0"/>
          </a:p>
          <a:p>
            <a:pPr marL="0" indent="0" algn="just">
              <a:buNone/>
            </a:pPr>
            <a:r>
              <a:rPr lang="es-CR" sz="2400" dirty="0"/>
              <a:t>2. No apto para variables continuas: Al trabajar con variables numéricas continuas, el árbol de decisión pierde información cuando categoriza variables en diferentes categorías.</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¿Qué es un árbol de decisión? </a:t>
            </a:r>
            <a:r>
              <a:rPr lang="es-CR" dirty="0" smtClean="0"/>
              <a:t>¿Cómo </a:t>
            </a:r>
            <a:r>
              <a:rPr lang="es-CR" dirty="0"/>
              <a:t>funciona ?</a:t>
            </a:r>
          </a:p>
        </p:txBody>
      </p:sp>
    </p:spTree>
    <p:extLst>
      <p:ext uri="{BB962C8B-B14F-4D97-AF65-F5344CB8AC3E}">
        <p14:creationId xmlns:p14="http://schemas.microsoft.com/office/powerpoint/2010/main" val="15635930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Todos sabemos que los nodos terminales (o hojas) se encuentra en la parte inferior del árbol de decisión. Esto significa que los árboles de decisión suelen ser dibujados al revés de manera que las hojas son el fondo y las raíces son las cimas (se muestra a continuación).</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smtClean="0"/>
              <a:t>Árboles de regresión vs árboles de clasificación </a:t>
            </a:r>
            <a:endParaRPr lang="es-CR" dirty="0"/>
          </a:p>
        </p:txBody>
      </p:sp>
      <p:pic>
        <p:nvPicPr>
          <p:cNvPr id="17410" name="Picture 2" descr="1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3499212"/>
            <a:ext cx="3816424" cy="3106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8941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340768"/>
            <a:ext cx="8928992" cy="5400600"/>
          </a:xfrm>
        </p:spPr>
        <p:txBody>
          <a:bodyPr>
            <a:normAutofit/>
          </a:bodyPr>
          <a:lstStyle/>
          <a:p>
            <a:pPr algn="just"/>
            <a:r>
              <a:rPr lang="es-CR" sz="2400" dirty="0"/>
              <a:t>Ambos árboles trabajan casi similares entre sí, veamos las principales diferencias y similitud entre la clasificación y los árboles de regresión</a:t>
            </a:r>
            <a:r>
              <a:rPr lang="es-CR" sz="2400" dirty="0" smtClean="0"/>
              <a:t>:</a:t>
            </a:r>
          </a:p>
          <a:p>
            <a:pPr algn="just"/>
            <a:endParaRPr lang="es-CR" sz="2400" dirty="0"/>
          </a:p>
          <a:p>
            <a:pPr algn="just"/>
            <a:r>
              <a:rPr lang="es-CR" sz="2400" dirty="0"/>
              <a:t>1. Los árboles de regresión se usan cuando la variable dependiente es continua. Los árboles de clasificación se utilizan cuando la variable dependiente es categórica</a:t>
            </a:r>
            <a:r>
              <a:rPr lang="es-CR" sz="2400" dirty="0" smtClean="0"/>
              <a:t>.</a:t>
            </a:r>
          </a:p>
          <a:p>
            <a:pPr algn="just"/>
            <a:endParaRPr lang="es-CR" sz="2400" dirty="0"/>
          </a:p>
          <a:p>
            <a:pPr algn="just"/>
            <a:r>
              <a:rPr lang="es-CR" sz="2400" dirty="0"/>
              <a:t>2. En el caso del árbol de regresión, el valor obtenido por los nodos terminales en los datos de entrenamiento es la respuesta media de la observación que cae en esa región. Por lo tanto, si una observación no observada de datos cae en esa región, haremos su predicción con valor medio.</a:t>
            </a:r>
          </a:p>
        </p:txBody>
      </p:sp>
      <p:sp>
        <p:nvSpPr>
          <p:cNvPr id="7" name="1 Título"/>
          <p:cNvSpPr txBox="1">
            <a:spLocks/>
          </p:cNvSpPr>
          <p:nvPr/>
        </p:nvSpPr>
        <p:spPr>
          <a:xfrm>
            <a:off x="107504" y="188640"/>
            <a:ext cx="8928992" cy="108012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R" smtClean="0"/>
              <a:t>Árboles de regresión vs árboles de clasificación </a:t>
            </a:r>
            <a:endParaRPr lang="es-CR" dirty="0"/>
          </a:p>
        </p:txBody>
      </p:sp>
    </p:spTree>
    <p:extLst>
      <p:ext uri="{BB962C8B-B14F-4D97-AF65-F5344CB8AC3E}">
        <p14:creationId xmlns:p14="http://schemas.microsoft.com/office/powerpoint/2010/main" val="30725672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340768"/>
            <a:ext cx="8928992" cy="5400600"/>
          </a:xfrm>
        </p:spPr>
        <p:txBody>
          <a:bodyPr>
            <a:normAutofit fontScale="92500" lnSpcReduction="20000"/>
          </a:bodyPr>
          <a:lstStyle/>
          <a:p>
            <a:pPr algn="just"/>
            <a:r>
              <a:rPr lang="es-CR" sz="2400" dirty="0"/>
              <a:t>3. En el caso del árbol de clasificación, el valor (clase) obtenido por el nodo terminal en los datos de entrenamiento es el modo de las observaciones que caen en esa región. Por lo tanto, si una observación de datos no observados cae en esa región, haremos su predicción con el valor de modo</a:t>
            </a:r>
            <a:r>
              <a:rPr lang="es-CR" sz="2400" dirty="0" smtClean="0"/>
              <a:t>.</a:t>
            </a:r>
          </a:p>
          <a:p>
            <a:pPr algn="just"/>
            <a:endParaRPr lang="es-CR" sz="2400" dirty="0"/>
          </a:p>
          <a:p>
            <a:pPr algn="just"/>
            <a:r>
              <a:rPr lang="es-CR" sz="2400" dirty="0"/>
              <a:t>4. Ambos árboles dividen el espacio predictor (variables independientes) en regiones distintas y no superpuestas. En aras de la simplicidad, se puede pensar en estas regiones como cajas o cajas de alta dimensión</a:t>
            </a:r>
            <a:r>
              <a:rPr lang="es-CR" sz="2400" dirty="0" smtClean="0"/>
              <a:t>.</a:t>
            </a:r>
          </a:p>
          <a:p>
            <a:pPr marL="0" indent="0" algn="just">
              <a:buNone/>
            </a:pPr>
            <a:endParaRPr lang="es-CR" sz="2400" dirty="0"/>
          </a:p>
          <a:p>
            <a:pPr algn="just"/>
            <a:r>
              <a:rPr lang="es-CR" sz="2400" dirty="0"/>
              <a:t>5. Ambos árboles siguen un enfoque codicioso de arriba hacia abajo conocido como división binaria recursiva. Lo llamamos "top-</a:t>
            </a:r>
            <a:r>
              <a:rPr lang="es-CR" sz="2400" dirty="0" err="1"/>
              <a:t>down</a:t>
            </a:r>
            <a:r>
              <a:rPr lang="es-CR" sz="2400" dirty="0"/>
              <a:t>" porque comienza desde la parte superior del árbol cuando todas las observaciones están disponibles en una sola región y divide sucesivamente el espacio predictor en dos nuevas ramas en el árbol. Se conoce como "codicioso" porque, el algoritmo cuida (busca la mejor variable disponible) sobre sólo la división actual, y no sobre las divisiones futuras que conducirán a un árbol mejor.</a:t>
            </a:r>
          </a:p>
        </p:txBody>
      </p:sp>
      <p:sp>
        <p:nvSpPr>
          <p:cNvPr id="5" name="1 Título"/>
          <p:cNvSpPr>
            <a:spLocks noGrp="1"/>
          </p:cNvSpPr>
          <p:nvPr>
            <p:ph type="title"/>
          </p:nvPr>
        </p:nvSpPr>
        <p:spPr>
          <a:xfrm>
            <a:off x="107504" y="44624"/>
            <a:ext cx="8928992" cy="1080120"/>
          </a:xfrm>
        </p:spPr>
        <p:txBody>
          <a:bodyPr>
            <a:normAutofit fontScale="90000"/>
          </a:bodyPr>
          <a:lstStyle/>
          <a:p>
            <a:r>
              <a:rPr lang="es-CR" dirty="0" smtClean="0"/>
              <a:t>Árboles de regresión vs árboles de clasificación </a:t>
            </a:r>
            <a:endParaRPr lang="es-CR" dirty="0"/>
          </a:p>
        </p:txBody>
      </p:sp>
    </p:spTree>
    <p:extLst>
      <p:ext uri="{BB962C8B-B14F-4D97-AF65-F5344CB8AC3E}">
        <p14:creationId xmlns:p14="http://schemas.microsoft.com/office/powerpoint/2010/main" val="10826678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6. Este proceso de división se continúa hasta que se alcanza un criterio de parada definido por el usuario. Por ejemplo: podemos decirle al algoritmo que se detenga una vez que el número de observaciones por nodo sea inferior a 50</a:t>
            </a:r>
            <a:r>
              <a:rPr lang="es-CR" sz="2400" dirty="0" smtClean="0"/>
              <a:t>.</a:t>
            </a:r>
          </a:p>
          <a:p>
            <a:pPr algn="just"/>
            <a:endParaRPr lang="es-CR" sz="2400" dirty="0"/>
          </a:p>
          <a:p>
            <a:pPr algn="just"/>
            <a:r>
              <a:rPr lang="es-CR" sz="2400" dirty="0"/>
              <a:t>7. En ambos casos, el proceso de división da lugar a árboles completamente crecidos hasta que se alcanza el criterio de detención. Sin embargo, es probable que el árbol completamente desarrollado sobrepase los datos, lo que conduce a una escasa precisión en datos no vistos. Esto trae "poda". La poda es una de las técnicas que se utilizan para hacer sobrepeso. Aprenderemos más al respecto en la siguiente sección.</a:t>
            </a:r>
          </a:p>
        </p:txBody>
      </p:sp>
      <p:sp>
        <p:nvSpPr>
          <p:cNvPr id="7" name="1 Título"/>
          <p:cNvSpPr>
            <a:spLocks noGrp="1"/>
          </p:cNvSpPr>
          <p:nvPr>
            <p:ph type="title"/>
          </p:nvPr>
        </p:nvSpPr>
        <p:spPr>
          <a:xfrm>
            <a:off x="107504" y="188640"/>
            <a:ext cx="8928992" cy="1080120"/>
          </a:xfrm>
        </p:spPr>
        <p:txBody>
          <a:bodyPr>
            <a:normAutofit fontScale="90000"/>
          </a:bodyPr>
          <a:lstStyle/>
          <a:p>
            <a:r>
              <a:rPr lang="es-CR" dirty="0" smtClean="0"/>
              <a:t>Árboles de regresión vs árboles de clasificación </a:t>
            </a:r>
            <a:endParaRPr lang="es-CR" dirty="0"/>
          </a:p>
        </p:txBody>
      </p:sp>
    </p:spTree>
    <p:extLst>
      <p:ext uri="{BB962C8B-B14F-4D97-AF65-F5344CB8AC3E}">
        <p14:creationId xmlns:p14="http://schemas.microsoft.com/office/powerpoint/2010/main" val="20191106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196752"/>
            <a:ext cx="8928992" cy="5544616"/>
          </a:xfrm>
        </p:spPr>
        <p:txBody>
          <a:bodyPr>
            <a:normAutofit fontScale="92500" lnSpcReduction="10000"/>
          </a:bodyPr>
          <a:lstStyle/>
          <a:p>
            <a:pPr algn="just"/>
            <a:r>
              <a:rPr lang="es-CR" sz="2400" dirty="0"/>
              <a:t>La decisión de hacer divisiones estratégicas afecta en gran medida la precisión de un árbol. Los criterios de decisión son diferentes para árboles de clasificación y regresión.</a:t>
            </a:r>
          </a:p>
          <a:p>
            <a:pPr algn="just"/>
            <a:endParaRPr lang="es-CR" sz="2400" dirty="0"/>
          </a:p>
          <a:p>
            <a:pPr algn="just"/>
            <a:r>
              <a:rPr lang="es-CR" sz="2400" dirty="0"/>
              <a:t>Los árboles de decisión utilizan múltiples algoritmos para decidir dividir un nodo en dos o más </a:t>
            </a:r>
            <a:r>
              <a:rPr lang="es-CR" sz="2400" dirty="0" err="1"/>
              <a:t>subnodos</a:t>
            </a:r>
            <a:r>
              <a:rPr lang="es-CR" sz="2400" dirty="0"/>
              <a:t>. La creación de </a:t>
            </a:r>
            <a:r>
              <a:rPr lang="es-CR" sz="2400" dirty="0" err="1"/>
              <a:t>subnodos</a:t>
            </a:r>
            <a:r>
              <a:rPr lang="es-CR" sz="2400" dirty="0"/>
              <a:t> aumenta la homogeneidad de los </a:t>
            </a:r>
            <a:r>
              <a:rPr lang="es-CR" sz="2400" dirty="0" err="1"/>
              <a:t>subnodos</a:t>
            </a:r>
            <a:r>
              <a:rPr lang="es-CR" sz="2400" dirty="0"/>
              <a:t> resultantes. En otras palabras, podemos decir que la pureza del nodo aumenta con respecto a la variable objetivo. El árbol de decisiones divide los nodos en todas las variables disponibles y, a continuación, selecciona la división que da lugar a los </a:t>
            </a:r>
            <a:r>
              <a:rPr lang="es-CR" sz="2400" dirty="0" err="1"/>
              <a:t>subnodos</a:t>
            </a:r>
            <a:r>
              <a:rPr lang="es-CR" sz="2400" dirty="0"/>
              <a:t> más homogéneos.</a:t>
            </a:r>
          </a:p>
          <a:p>
            <a:pPr algn="just"/>
            <a:endParaRPr lang="es-CR" sz="2400" dirty="0"/>
          </a:p>
          <a:p>
            <a:pPr algn="just"/>
            <a:r>
              <a:rPr lang="es-CR" sz="2400" dirty="0"/>
              <a:t>La selección del algoritmo también se basa en el tipo de variables objetivo. Veamos los cuatro algoritmos más utilizados en el árbol de decisiones</a:t>
            </a:r>
            <a:r>
              <a:rPr lang="es-CR" sz="2400" dirty="0" smtClean="0"/>
              <a:t>: </a:t>
            </a:r>
            <a:r>
              <a:rPr lang="es-CR" sz="2400" dirty="0" err="1" smtClean="0"/>
              <a:t>Gini</a:t>
            </a:r>
            <a:r>
              <a:rPr lang="es-CR" sz="2400" dirty="0" smtClean="0"/>
              <a:t>, Chi-Cuadrado,  </a:t>
            </a:r>
            <a:r>
              <a:rPr lang="es-CR" sz="2400" dirty="0" err="1" smtClean="0"/>
              <a:t>Ganacia</a:t>
            </a:r>
            <a:r>
              <a:rPr lang="es-CR" sz="2400" dirty="0" smtClean="0"/>
              <a:t> de Información, Reducción de variancia.</a:t>
            </a:r>
            <a:endParaRPr lang="es-CR" sz="2400" dirty="0"/>
          </a:p>
        </p:txBody>
      </p:sp>
      <p:sp>
        <p:nvSpPr>
          <p:cNvPr id="5" name="1 Título"/>
          <p:cNvSpPr>
            <a:spLocks noGrp="1"/>
          </p:cNvSpPr>
          <p:nvPr>
            <p:ph type="title"/>
          </p:nvPr>
        </p:nvSpPr>
        <p:spPr>
          <a:xfrm>
            <a:off x="0" y="44624"/>
            <a:ext cx="9144000" cy="1080120"/>
          </a:xfrm>
        </p:spPr>
        <p:txBody>
          <a:bodyPr>
            <a:normAutofit/>
          </a:bodyPr>
          <a:lstStyle/>
          <a:p>
            <a:r>
              <a:rPr lang="es-CR" dirty="0"/>
              <a:t>¿Cómo un árbol decide dónde dividir?</a:t>
            </a:r>
          </a:p>
        </p:txBody>
      </p:sp>
    </p:spTree>
    <p:extLst>
      <p:ext uri="{BB962C8B-B14F-4D97-AF65-F5344CB8AC3E}">
        <p14:creationId xmlns:p14="http://schemas.microsoft.com/office/powerpoint/2010/main" val="29813546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El índice de </a:t>
            </a:r>
            <a:r>
              <a:rPr lang="es-CR" sz="2400" dirty="0" err="1"/>
              <a:t>Gini</a:t>
            </a:r>
            <a:r>
              <a:rPr lang="es-CR" sz="2400" dirty="0"/>
              <a:t> dice, si seleccionamos dos artículos de una población al azar entonces deben ser de la misma clase y la probabilidad para esto es 1 si la población es pura.</a:t>
            </a:r>
          </a:p>
          <a:p>
            <a:pPr algn="just"/>
            <a:endParaRPr lang="es-CR" sz="2400" dirty="0"/>
          </a:p>
          <a:p>
            <a:pPr marL="0" indent="0" algn="just">
              <a:buNone/>
            </a:pPr>
            <a:r>
              <a:rPr lang="es-CR" sz="2400" dirty="0" smtClean="0"/>
              <a:t>1.Funciona </a:t>
            </a:r>
            <a:r>
              <a:rPr lang="es-CR" sz="2400" dirty="0"/>
              <a:t>con la variable objetivo categórica "Éxito" o "Fracaso</a:t>
            </a:r>
            <a:r>
              <a:rPr lang="es-CR" sz="2400" dirty="0" smtClean="0"/>
              <a:t>".</a:t>
            </a:r>
          </a:p>
          <a:p>
            <a:pPr marL="0" indent="0" algn="just">
              <a:buNone/>
            </a:pPr>
            <a:endParaRPr lang="es-CR" sz="2400" dirty="0"/>
          </a:p>
          <a:p>
            <a:pPr marL="0" indent="0" algn="just">
              <a:buNone/>
            </a:pPr>
            <a:r>
              <a:rPr lang="es-CR" sz="2400" dirty="0"/>
              <a:t>2. Realiza solamente divisiones </a:t>
            </a:r>
            <a:r>
              <a:rPr lang="es-CR" sz="2400" dirty="0" smtClean="0"/>
              <a:t>binarias</a:t>
            </a:r>
          </a:p>
          <a:p>
            <a:pPr marL="0" indent="0" algn="just">
              <a:buNone/>
            </a:pPr>
            <a:endParaRPr lang="es-CR" sz="2400" dirty="0"/>
          </a:p>
          <a:p>
            <a:pPr marL="0" indent="0" algn="just">
              <a:buNone/>
            </a:pPr>
            <a:r>
              <a:rPr lang="es-CR" sz="2400" dirty="0"/>
              <a:t>3. Mayor el valor de </a:t>
            </a:r>
            <a:r>
              <a:rPr lang="es-CR" sz="2400" dirty="0" err="1"/>
              <a:t>Gini</a:t>
            </a:r>
            <a:r>
              <a:rPr lang="es-CR" sz="2400" dirty="0"/>
              <a:t> mayor la homogeneidad</a:t>
            </a:r>
            <a:r>
              <a:rPr lang="es-CR" sz="2400" dirty="0" smtClean="0"/>
              <a:t>.</a:t>
            </a:r>
          </a:p>
          <a:p>
            <a:pPr marL="0" indent="0" algn="just">
              <a:buNone/>
            </a:pPr>
            <a:endParaRPr lang="es-CR" sz="2400" dirty="0"/>
          </a:p>
          <a:p>
            <a:pPr marL="0" indent="0" algn="just">
              <a:buNone/>
            </a:pPr>
            <a:r>
              <a:rPr lang="es-CR" sz="2400" dirty="0"/>
              <a:t>4. CART (Árbol de clasificación y de regresión) utiliza el método </a:t>
            </a:r>
            <a:r>
              <a:rPr lang="es-CR" sz="2400" dirty="0" err="1"/>
              <a:t>Gini</a:t>
            </a:r>
            <a:r>
              <a:rPr lang="es-CR" sz="2400" dirty="0"/>
              <a:t> para crear divisiones binarias.</a:t>
            </a:r>
          </a:p>
        </p:txBody>
      </p:sp>
      <p:sp>
        <p:nvSpPr>
          <p:cNvPr id="7"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 </a:t>
            </a:r>
            <a:r>
              <a:rPr lang="es-CR" dirty="0" err="1" smtClean="0"/>
              <a:t>Indice</a:t>
            </a:r>
            <a:r>
              <a:rPr lang="es-CR" dirty="0" smtClean="0"/>
              <a:t> de </a:t>
            </a:r>
            <a:r>
              <a:rPr lang="es-CR" dirty="0" err="1" smtClean="0"/>
              <a:t>Gini</a:t>
            </a:r>
            <a:endParaRPr lang="es-CR" dirty="0"/>
          </a:p>
        </p:txBody>
      </p:sp>
    </p:spTree>
    <p:extLst>
      <p:ext uri="{BB962C8B-B14F-4D97-AF65-F5344CB8AC3E}">
        <p14:creationId xmlns:p14="http://schemas.microsoft.com/office/powerpoint/2010/main" val="2613194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287524" y="1412776"/>
            <a:ext cx="8568952" cy="5184576"/>
          </a:xfrm>
        </p:spPr>
        <p:txBody>
          <a:bodyPr>
            <a:normAutofit/>
          </a:bodyPr>
          <a:lstStyle/>
          <a:p>
            <a:pPr algn="just"/>
            <a:r>
              <a:rPr lang="es-CR" sz="2400" dirty="0"/>
              <a:t>Pasos para calcular </a:t>
            </a:r>
            <a:r>
              <a:rPr lang="es-CR" sz="2400" dirty="0" err="1"/>
              <a:t>Gini</a:t>
            </a:r>
            <a:r>
              <a:rPr lang="es-CR" sz="2400" dirty="0"/>
              <a:t> para una división</a:t>
            </a:r>
          </a:p>
          <a:p>
            <a:pPr algn="just"/>
            <a:endParaRPr lang="es-CR" sz="2400" dirty="0"/>
          </a:p>
          <a:p>
            <a:pPr marL="0" indent="0" algn="just">
              <a:buNone/>
            </a:pPr>
            <a:r>
              <a:rPr lang="es-CR" sz="2400" dirty="0"/>
              <a:t>1. Calcular </a:t>
            </a:r>
            <a:r>
              <a:rPr lang="es-CR" sz="2400" dirty="0" err="1"/>
              <a:t>Gini</a:t>
            </a:r>
            <a:r>
              <a:rPr lang="es-CR" sz="2400" dirty="0"/>
              <a:t> para </a:t>
            </a:r>
            <a:r>
              <a:rPr lang="es-CR" sz="2400" dirty="0" err="1"/>
              <a:t>subnodos</a:t>
            </a:r>
            <a:r>
              <a:rPr lang="es-CR" sz="2400" dirty="0"/>
              <a:t>, usando la fórmula suma de cuadrado de probabilidad de éxito y fracaso (p ^ 2 + q ^ 2).</a:t>
            </a:r>
          </a:p>
          <a:p>
            <a:pPr marL="0" indent="0" algn="just">
              <a:buNone/>
            </a:pPr>
            <a:r>
              <a:rPr lang="es-CR" sz="2400" dirty="0"/>
              <a:t>2. Calcular el </a:t>
            </a:r>
            <a:r>
              <a:rPr lang="es-CR" sz="2400" dirty="0" err="1"/>
              <a:t>Gini</a:t>
            </a:r>
            <a:r>
              <a:rPr lang="es-CR" sz="2400" dirty="0"/>
              <a:t> para la división mediante el puntaje de </a:t>
            </a:r>
            <a:r>
              <a:rPr lang="es-CR" sz="2400" dirty="0" err="1"/>
              <a:t>Gini</a:t>
            </a:r>
            <a:r>
              <a:rPr lang="es-CR" sz="2400" dirty="0"/>
              <a:t> ponderado de cada nodo de esa división</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 </a:t>
            </a:r>
            <a:r>
              <a:rPr lang="es-CR" dirty="0" err="1"/>
              <a:t>Indice</a:t>
            </a:r>
            <a:r>
              <a:rPr lang="es-CR" dirty="0"/>
              <a:t> de </a:t>
            </a:r>
            <a:r>
              <a:rPr lang="es-CR" dirty="0" err="1"/>
              <a:t>Gini</a:t>
            </a:r>
            <a:endParaRPr lang="es-CR" dirty="0"/>
          </a:p>
        </p:txBody>
      </p:sp>
      <p:pic>
        <p:nvPicPr>
          <p:cNvPr id="26626" name="Picture 2" descr="https://www.analyticsvidhya.com/wp-content/uploads/2015/01/Decision_Tree_Algorithm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188652"/>
            <a:ext cx="7056784" cy="2484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249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fontScale="92500"/>
          </a:bodyPr>
          <a:lstStyle/>
          <a:p>
            <a:pPr algn="just"/>
            <a:r>
              <a:rPr lang="es-CR" sz="2400" dirty="0"/>
              <a:t>Es un algoritmo para descubrir la significación estadística entre las diferencias entre los </a:t>
            </a:r>
            <a:r>
              <a:rPr lang="es-CR" sz="2400" dirty="0" err="1"/>
              <a:t>subnodos</a:t>
            </a:r>
            <a:r>
              <a:rPr lang="es-CR" sz="2400" dirty="0"/>
              <a:t> y el nodo padre. La medimos por suma de cuadrados de diferencias estandarizadas entre las frecuencias observadas y esperadas de la variable objetivo.</a:t>
            </a:r>
          </a:p>
          <a:p>
            <a:pPr algn="just"/>
            <a:endParaRPr lang="es-CR" sz="2400" dirty="0"/>
          </a:p>
          <a:p>
            <a:pPr algn="just"/>
            <a:r>
              <a:rPr lang="es-CR" sz="2400" dirty="0"/>
              <a:t>1. Funciona con la variable objetivo categórica "Éxito" o "Fracaso".</a:t>
            </a:r>
          </a:p>
          <a:p>
            <a:pPr algn="just"/>
            <a:r>
              <a:rPr lang="es-CR" sz="2400" dirty="0"/>
              <a:t>2. Puede realizar dos o más divisiones.</a:t>
            </a:r>
          </a:p>
          <a:p>
            <a:pPr algn="just"/>
            <a:r>
              <a:rPr lang="es-CR" sz="2400" dirty="0"/>
              <a:t>3. Mayor el valor de Chi-Cuadrado mayor la significación estadística de las diferencias entre el sub-nodo y el nodo padre.</a:t>
            </a:r>
          </a:p>
          <a:p>
            <a:pPr algn="just"/>
            <a:r>
              <a:rPr lang="es-CR" sz="2400" dirty="0"/>
              <a:t>4. Chi-cuadrado de cada nodo se calcula mediante la fórmula,</a:t>
            </a:r>
          </a:p>
          <a:p>
            <a:pPr algn="just"/>
            <a:r>
              <a:rPr lang="es-CR" sz="2400" dirty="0"/>
              <a:t>5. Chi-cuadrado = ((Actual - Esperado) ^ 2 / Esperado) ^ 1/2</a:t>
            </a:r>
          </a:p>
          <a:p>
            <a:pPr algn="just"/>
            <a:r>
              <a:rPr lang="es-CR" sz="2400" dirty="0"/>
              <a:t>6. Genera un árbol llamado CHAID (Chi-</a:t>
            </a:r>
            <a:r>
              <a:rPr lang="es-CR" sz="2400" dirty="0" err="1"/>
              <a:t>square</a:t>
            </a:r>
            <a:r>
              <a:rPr lang="es-CR" sz="2400" dirty="0"/>
              <a:t> </a:t>
            </a:r>
            <a:r>
              <a:rPr lang="es-CR" sz="2400" dirty="0" err="1"/>
              <a:t>Automatic</a:t>
            </a:r>
            <a:r>
              <a:rPr lang="es-CR" sz="2400" dirty="0"/>
              <a:t> </a:t>
            </a:r>
            <a:r>
              <a:rPr lang="es-CR" sz="2400" dirty="0" err="1"/>
              <a:t>Interaction</a:t>
            </a:r>
            <a:r>
              <a:rPr lang="es-CR" sz="2400" dirty="0"/>
              <a:t> Detector)</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 </a:t>
            </a:r>
            <a:br>
              <a:rPr lang="es-CR" dirty="0" smtClean="0"/>
            </a:br>
            <a:r>
              <a:rPr lang="es-CR" dirty="0" smtClean="0"/>
              <a:t>Chi-cuadrado</a:t>
            </a:r>
            <a:endParaRPr lang="es-CR" dirty="0"/>
          </a:p>
        </p:txBody>
      </p:sp>
    </p:spTree>
    <p:extLst>
      <p:ext uri="{BB962C8B-B14F-4D97-AF65-F5344CB8AC3E}">
        <p14:creationId xmlns:p14="http://schemas.microsoft.com/office/powerpoint/2010/main" val="26191023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Pasos para calcular el Chi cuadrado para una división</a:t>
            </a:r>
            <a:r>
              <a:rPr lang="es-CR" sz="2400" dirty="0" smtClean="0"/>
              <a:t>:</a:t>
            </a:r>
            <a:endParaRPr lang="es-CR" sz="2400" dirty="0"/>
          </a:p>
          <a:p>
            <a:pPr algn="just"/>
            <a:r>
              <a:rPr lang="es-CR" sz="2400" dirty="0"/>
              <a:t>1. Calcular Chi-cuadrado para el nodo individual calculando la desviación para el éxito y el fracaso ambos</a:t>
            </a:r>
          </a:p>
          <a:p>
            <a:pPr algn="just"/>
            <a:r>
              <a:rPr lang="es-CR" sz="2400" dirty="0"/>
              <a:t>2. Calcular el Chi-cuadrado de Split usando la Suma de todo Chi-cuadrado de éxito y Fracaso de cada nodo de la división</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 </a:t>
            </a:r>
            <a:r>
              <a:rPr lang="es-CR" dirty="0"/>
              <a:t>Chi-cuadrado</a:t>
            </a:r>
          </a:p>
        </p:txBody>
      </p:sp>
      <p:pic>
        <p:nvPicPr>
          <p:cNvPr id="24578" name="Picture 2" descr="Decision Tree, Chi-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789040"/>
            <a:ext cx="7134225" cy="1295401"/>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Decision Tree, Chi-Squ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7" y="5301208"/>
            <a:ext cx="7134225" cy="1295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0926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Mira la imagen de abajo y piensa qué nodo se puede describir fácilmente. Estoy seguro, su respuesta es C porque requiere menos información ya que todos los valores son similares. Por otro lado, B requiere más información para describirlo y A requiere la máxima información. En otras palabras, podemos decir que C es un nodo Puro, B es menos impuro y A es más impuro.</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 Ganancia de información</a:t>
            </a:r>
            <a:endParaRPr lang="es-CR" dirty="0"/>
          </a:p>
        </p:txBody>
      </p:sp>
      <p:pic>
        <p:nvPicPr>
          <p:cNvPr id="23554" name="Picture 2" descr="Information Gain, 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4293096"/>
            <a:ext cx="6019800" cy="2238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9908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Ahora, podemos construir una conclusión de que menos nodo impuro requiere menos información para describirlo. Y, nodo más impuro requiere más información. La teoría de la información es una medida para definir este grado de desorganización en un sistema conocido como Entropía. Si la muestra es completamente homogénea, entonces la entropía es cero y si la muestra es igualmente dividida (50% - 50%), tiene entropía de uno.</a:t>
            </a:r>
          </a:p>
          <a:p>
            <a:pPr algn="just"/>
            <a:endParaRPr lang="es-CR" sz="2400" dirty="0"/>
          </a:p>
          <a:p>
            <a:pPr algn="just"/>
            <a:r>
              <a:rPr lang="es-CR" sz="2400" dirty="0"/>
              <a:t>La entropía se puede calcular usando la fórmula:</a:t>
            </a:r>
          </a:p>
          <a:p>
            <a:pPr marL="0" indent="0" algn="just">
              <a:buNone/>
            </a:pPr>
            <a:endParaRPr lang="es-CR" sz="2400" dirty="0"/>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a:t>
            </a:r>
            <a:br>
              <a:rPr lang="es-CR" dirty="0" smtClean="0"/>
            </a:br>
            <a:r>
              <a:rPr lang="es-CR" dirty="0"/>
              <a:t>Ganancia de información</a:t>
            </a:r>
          </a:p>
        </p:txBody>
      </p:sp>
      <p:pic>
        <p:nvPicPr>
          <p:cNvPr id="22530" name="Picture 2" descr="Entropy, 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5805264"/>
            <a:ext cx="4692741" cy="645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015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Aquí p y q es la probabilidad de éxito y fracaso, respectivamente, en ese nodo. La entropía también se utiliza con la variable objetivo categórica. Elige la división que tiene la entropía más baja en comparación con el nodo padre y otras divisiones. Cuanto menor sea la entropía, mejor será.</a:t>
            </a:r>
          </a:p>
          <a:p>
            <a:pPr algn="just"/>
            <a:endParaRPr lang="es-CR" sz="2400" dirty="0"/>
          </a:p>
          <a:p>
            <a:pPr algn="just"/>
            <a:r>
              <a:rPr lang="es-CR" sz="2400" dirty="0"/>
              <a:t>Pasos para calcular la entropía para una división:</a:t>
            </a:r>
          </a:p>
          <a:p>
            <a:pPr algn="just"/>
            <a:endParaRPr lang="es-CR" sz="2400" dirty="0"/>
          </a:p>
          <a:p>
            <a:pPr algn="just"/>
            <a:r>
              <a:rPr lang="es-CR" sz="2400" dirty="0"/>
              <a:t>1.Cálculo de la entropía del nodo padre</a:t>
            </a:r>
          </a:p>
          <a:p>
            <a:pPr algn="just"/>
            <a:r>
              <a:rPr lang="es-CR" sz="2400" dirty="0"/>
              <a:t>2. Calcule la entropía de cada nodo individual de división y calcule el promedio ponderado de todos los </a:t>
            </a:r>
            <a:r>
              <a:rPr lang="es-CR" sz="2400" dirty="0" err="1"/>
              <a:t>subnodos</a:t>
            </a:r>
            <a:r>
              <a:rPr lang="es-CR" sz="2400" dirty="0"/>
              <a:t> disponibles en la división.</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a:t>
            </a:r>
            <a:br>
              <a:rPr lang="es-CR" dirty="0" smtClean="0"/>
            </a:br>
            <a:r>
              <a:rPr lang="es-CR" dirty="0"/>
              <a:t>Ganancia de información</a:t>
            </a:r>
          </a:p>
        </p:txBody>
      </p:sp>
    </p:spTree>
    <p:extLst>
      <p:ext uri="{BB962C8B-B14F-4D97-AF65-F5344CB8AC3E}">
        <p14:creationId xmlns:p14="http://schemas.microsoft.com/office/powerpoint/2010/main" val="30260303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Hasta ahora, hemos discutido los algoritmos para la variable objetivo categórica. La reducción de la varianza es un algoritmo utilizado para las variables objetivo continuas (problemas de regresión). Este algoritmo utiliza la fórmula estándar de varianza para elegir la mejor división. La división con menor varianza se selecciona como criterio para dividir la población</a:t>
            </a:r>
            <a:r>
              <a:rPr lang="es-CR" sz="2400" dirty="0" smtClean="0"/>
              <a:t>:</a:t>
            </a:r>
          </a:p>
          <a:p>
            <a:pPr algn="just"/>
            <a:endParaRPr lang="es-CR" sz="2400" dirty="0"/>
          </a:p>
          <a:p>
            <a:pPr algn="just"/>
            <a:endParaRPr lang="es-CR" sz="2400" dirty="0" smtClean="0"/>
          </a:p>
          <a:p>
            <a:pPr algn="just"/>
            <a:endParaRPr lang="es-CR" sz="2400" dirty="0"/>
          </a:p>
          <a:p>
            <a:pPr algn="just"/>
            <a:endParaRPr lang="es-CR" sz="2400" dirty="0" smtClean="0"/>
          </a:p>
          <a:p>
            <a:pPr algn="just"/>
            <a:r>
              <a:rPr lang="es-CR" sz="2400" dirty="0"/>
              <a:t>Por encima de X-bar es la media de los valores, X es real </a:t>
            </a:r>
            <a:r>
              <a:rPr lang="es-CR" sz="2400" dirty="0" smtClean="0"/>
              <a:t>y </a:t>
            </a:r>
            <a:r>
              <a:rPr lang="es-CR" sz="2400" b="1" dirty="0" smtClean="0"/>
              <a:t>n</a:t>
            </a:r>
            <a:r>
              <a:rPr lang="es-CR" sz="2400" dirty="0" smtClean="0"/>
              <a:t> </a:t>
            </a:r>
            <a:r>
              <a:rPr lang="es-CR" sz="2400" dirty="0"/>
              <a:t>es el número de valores.</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a:t>
            </a:r>
            <a:br>
              <a:rPr lang="es-CR" dirty="0" smtClean="0"/>
            </a:br>
            <a:r>
              <a:rPr lang="es-CR" dirty="0" smtClean="0"/>
              <a:t>Reducción en variancia</a:t>
            </a:r>
            <a:endParaRPr lang="es-CR" dirty="0"/>
          </a:p>
        </p:txBody>
      </p:sp>
      <p:pic>
        <p:nvPicPr>
          <p:cNvPr id="38914" name="Picture 2" descr="https://www.analyticsvidhya.com/wp-content/uploads/2015/01/Varin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149080"/>
            <a:ext cx="3095625" cy="904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0770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2736304"/>
          </a:xfrm>
        </p:spPr>
        <p:txBody>
          <a:bodyPr>
            <a:normAutofit/>
          </a:bodyPr>
          <a:lstStyle/>
          <a:p>
            <a:pPr algn="just"/>
            <a:r>
              <a:rPr lang="es-CR" sz="2400" dirty="0"/>
              <a:t>Pasos para calcular la varianza:</a:t>
            </a:r>
          </a:p>
          <a:p>
            <a:pPr algn="just"/>
            <a:endParaRPr lang="es-CR" sz="2400" dirty="0"/>
          </a:p>
          <a:p>
            <a:pPr marL="0" indent="0" algn="just">
              <a:buNone/>
            </a:pPr>
            <a:r>
              <a:rPr lang="es-CR" sz="2400" dirty="0"/>
              <a:t>1. Calcule la varianza para cada nodo.</a:t>
            </a:r>
          </a:p>
          <a:p>
            <a:pPr marL="0" indent="0" algn="just">
              <a:buNone/>
            </a:pPr>
            <a:r>
              <a:rPr lang="es-CR" sz="2400" dirty="0"/>
              <a:t>2. Calcule la varianza para cada división como promedio ponderado de cada varianza del nodo.</a:t>
            </a:r>
          </a:p>
        </p:txBody>
      </p:sp>
      <p:sp>
        <p:nvSpPr>
          <p:cNvPr id="5" name="1 Título"/>
          <p:cNvSpPr>
            <a:spLocks noGrp="1"/>
          </p:cNvSpPr>
          <p:nvPr>
            <p:ph type="title"/>
          </p:nvPr>
        </p:nvSpPr>
        <p:spPr>
          <a:xfrm>
            <a:off x="107504" y="188640"/>
            <a:ext cx="8928992" cy="1080120"/>
          </a:xfrm>
        </p:spPr>
        <p:txBody>
          <a:bodyPr>
            <a:normAutofit fontScale="90000"/>
          </a:bodyPr>
          <a:lstStyle/>
          <a:p>
            <a:r>
              <a:rPr lang="es-CR" dirty="0"/>
              <a:t>¿Cómo un árbol decide dónde dividir</a:t>
            </a:r>
            <a:r>
              <a:rPr lang="es-CR" dirty="0" smtClean="0"/>
              <a:t>?</a:t>
            </a:r>
            <a:br>
              <a:rPr lang="es-CR" dirty="0" smtClean="0"/>
            </a:br>
            <a:r>
              <a:rPr lang="es-CR" dirty="0" smtClean="0"/>
              <a:t>Reducción en variancia</a:t>
            </a:r>
            <a:endParaRPr lang="es-CR" dirty="0"/>
          </a:p>
        </p:txBody>
      </p:sp>
    </p:spTree>
    <p:extLst>
      <p:ext uri="{BB962C8B-B14F-4D97-AF65-F5344CB8AC3E}">
        <p14:creationId xmlns:p14="http://schemas.microsoft.com/office/powerpoint/2010/main" val="26026979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
        <p:nvSpPr>
          <p:cNvPr id="4" name="2 Marcador de contenido"/>
          <p:cNvSpPr>
            <a:spLocks noGrp="1"/>
          </p:cNvSpPr>
          <p:nvPr>
            <p:ph idx="1"/>
          </p:nvPr>
        </p:nvSpPr>
        <p:spPr>
          <a:xfrm>
            <a:off x="251520" y="1628800"/>
            <a:ext cx="8640960" cy="5040560"/>
          </a:xfrm>
        </p:spPr>
        <p:txBody>
          <a:bodyPr>
            <a:normAutofit/>
          </a:bodyPr>
          <a:lstStyle/>
          <a:p>
            <a:pPr algn="just"/>
            <a:r>
              <a:rPr lang="es-CR" sz="2400" dirty="0" smtClean="0"/>
              <a:t>La sobre o sub estimación (</a:t>
            </a:r>
            <a:r>
              <a:rPr lang="es-CR" sz="2400" dirty="0" err="1" smtClean="0"/>
              <a:t>Overfitting</a:t>
            </a:r>
            <a:r>
              <a:rPr lang="es-CR" sz="2400" dirty="0" smtClean="0"/>
              <a:t>) </a:t>
            </a:r>
            <a:r>
              <a:rPr lang="es-CR" sz="2400" dirty="0"/>
              <a:t>es uno de los desafíos claves enfrentados mientras </a:t>
            </a:r>
            <a:r>
              <a:rPr lang="es-CR" sz="2400" dirty="0" smtClean="0"/>
              <a:t>aplicamos los árboles. </a:t>
            </a:r>
            <a:r>
              <a:rPr lang="es-CR" sz="2400" dirty="0"/>
              <a:t>Si no hay un conjunto de límites de un árbol de decisión, le dará 100% de precisión en el entrenamiento puesto que en el peor de los casos terminará haciendo 1 hoja por cada observación. Por lo tanto, la prevención de </a:t>
            </a:r>
            <a:r>
              <a:rPr lang="es-CR" sz="2400" b="1" dirty="0" err="1"/>
              <a:t>overfitting</a:t>
            </a:r>
            <a:r>
              <a:rPr lang="es-CR" sz="2400" b="1" dirty="0"/>
              <a:t> </a:t>
            </a:r>
            <a:r>
              <a:rPr lang="es-CR" sz="2400" dirty="0"/>
              <a:t>es fundamental mientras se modela un árbol de decisión y se puede hacer de dos maneras:</a:t>
            </a:r>
          </a:p>
          <a:p>
            <a:pPr algn="just"/>
            <a:endParaRPr lang="es-CR" sz="2400" dirty="0"/>
          </a:p>
          <a:p>
            <a:pPr algn="just"/>
            <a:r>
              <a:rPr lang="es-CR" sz="2400" dirty="0"/>
              <a:t>1.Configuración de restricciones en el tamaño del </a:t>
            </a:r>
            <a:r>
              <a:rPr lang="es-CR" sz="2400" dirty="0" smtClean="0"/>
              <a:t>árbol</a:t>
            </a:r>
          </a:p>
          <a:p>
            <a:pPr algn="just"/>
            <a:r>
              <a:rPr lang="es-CR" sz="2400" dirty="0" smtClean="0"/>
              <a:t>2.La Poda</a:t>
            </a:r>
            <a:endParaRPr lang="es-CR" sz="2400" dirty="0"/>
          </a:p>
          <a:p>
            <a:pPr marL="0" indent="0" algn="just">
              <a:buNone/>
            </a:pPr>
            <a:endParaRPr lang="es-CR" sz="2400" dirty="0" smtClean="0"/>
          </a:p>
          <a:p>
            <a:pPr marL="0" indent="0" algn="just">
              <a:buNone/>
            </a:pPr>
            <a:r>
              <a:rPr lang="es-CR" sz="2400" dirty="0" smtClean="0"/>
              <a:t>Vamos </a:t>
            </a:r>
            <a:r>
              <a:rPr lang="es-CR" sz="2400" dirty="0"/>
              <a:t>a discutir ambos brevemente.</a:t>
            </a:r>
          </a:p>
        </p:txBody>
      </p:sp>
    </p:spTree>
    <p:extLst>
      <p:ext uri="{BB962C8B-B14F-4D97-AF65-F5344CB8AC3E}">
        <p14:creationId xmlns:p14="http://schemas.microsoft.com/office/powerpoint/2010/main" val="14605818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marL="0" indent="0" algn="just">
              <a:buNone/>
            </a:pPr>
            <a:r>
              <a:rPr lang="es-CR" sz="2400" b="1" u="sng" dirty="0"/>
              <a:t>Estableciendo limitaciones en el tamaño del </a:t>
            </a:r>
            <a:r>
              <a:rPr lang="es-CR" sz="2400" b="1" u="sng" dirty="0" smtClean="0"/>
              <a:t>árbol</a:t>
            </a:r>
          </a:p>
          <a:p>
            <a:pPr marL="0" indent="0" algn="just">
              <a:buNone/>
            </a:pPr>
            <a:r>
              <a:rPr lang="es-CR" sz="2400" dirty="0"/>
              <a:t>Esto se puede hacer usando varios parámetros que se utilizan para definir un árbol. Primero, veamos la estructura general de un árbol de decisión:</a:t>
            </a:r>
          </a:p>
          <a:p>
            <a:pPr marL="0" indent="0" algn="just">
              <a:buNone/>
            </a:pPr>
            <a:endParaRPr lang="es-CR" sz="2400" b="1" u="sng" dirty="0"/>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pic>
        <p:nvPicPr>
          <p:cNvPr id="35842" name="Picture 2" descr="tree infographi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379975"/>
            <a:ext cx="7513003" cy="3146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7978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A continuación se explican los parámetros utilizados para definir un árbol. Los parámetros descritos a continuación son independientes de la herramienta</a:t>
            </a:r>
            <a:r>
              <a:rPr lang="es-CR" sz="2400" dirty="0" smtClean="0"/>
              <a:t>.</a:t>
            </a:r>
          </a:p>
          <a:p>
            <a:pPr algn="just"/>
            <a:endParaRPr lang="es-CR" sz="2400" dirty="0"/>
          </a:p>
          <a:p>
            <a:pPr algn="just"/>
            <a:endParaRPr lang="es-CR" sz="2400" dirty="0"/>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31166662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1. </a:t>
            </a:r>
            <a:r>
              <a:rPr lang="es-CR" sz="2400" u="sng" dirty="0"/>
              <a:t>Muestras mínimas para una división de nodos</a:t>
            </a:r>
          </a:p>
          <a:p>
            <a:pPr marL="0" indent="0" algn="just">
              <a:buNone/>
            </a:pPr>
            <a:r>
              <a:rPr lang="es-CR" sz="2400" dirty="0"/>
              <a:t>-Define el número mínimo de muestras (u observaciones) que se requieren en un nodo a considerar para la división.</a:t>
            </a:r>
          </a:p>
          <a:p>
            <a:pPr marL="0" indent="0" algn="just">
              <a:buNone/>
            </a:pPr>
            <a:r>
              <a:rPr lang="es-CR" sz="2400" dirty="0"/>
              <a:t>-Usado para controlar el ajuste excesivo. Valores más altos impiden que un modelo de aprendizaje de las relaciones que pueden ser muy específicos para la muestra particular seleccionada para un árbol.</a:t>
            </a:r>
          </a:p>
          <a:p>
            <a:pPr marL="0" indent="0" algn="just">
              <a:buNone/>
            </a:pPr>
            <a:r>
              <a:rPr lang="es-CR" sz="2400" dirty="0"/>
              <a:t>-Demasiado valores altos pueden conducir a bajo ajustada por lo tanto, debe ajustarse utilizando CV.</a:t>
            </a:r>
          </a:p>
        </p:txBody>
      </p:sp>
      <p:sp>
        <p:nvSpPr>
          <p:cNvPr id="6"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6186008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lnSpcReduction="10000"/>
          </a:bodyPr>
          <a:lstStyle/>
          <a:p>
            <a:pPr algn="just"/>
            <a:r>
              <a:rPr lang="es-CR" sz="2400" dirty="0"/>
              <a:t>2. Muestras mínimas para un nodo terminal (hoja</a:t>
            </a:r>
            <a:r>
              <a:rPr lang="es-CR" sz="2400" dirty="0" smtClean="0"/>
              <a:t>)</a:t>
            </a:r>
          </a:p>
          <a:p>
            <a:pPr algn="just"/>
            <a:endParaRPr lang="es-CR" sz="2400" dirty="0"/>
          </a:p>
          <a:p>
            <a:pPr algn="just"/>
            <a:r>
              <a:rPr lang="es-CR" sz="2400" dirty="0"/>
              <a:t>3. Profundidad máxima del árbol (profundidad vertical</a:t>
            </a:r>
            <a:r>
              <a:rPr lang="es-CR" sz="2400" dirty="0" smtClean="0"/>
              <a:t>)</a:t>
            </a:r>
          </a:p>
          <a:p>
            <a:pPr algn="just"/>
            <a:endParaRPr lang="es-CR" sz="2400" dirty="0"/>
          </a:p>
          <a:p>
            <a:pPr algn="just"/>
            <a:r>
              <a:rPr lang="es-CR" sz="2400" dirty="0"/>
              <a:t>4. Número máximo de nodos </a:t>
            </a:r>
            <a:r>
              <a:rPr lang="es-CR" sz="2400" dirty="0" smtClean="0"/>
              <a:t>terminales</a:t>
            </a:r>
          </a:p>
          <a:p>
            <a:pPr algn="just"/>
            <a:endParaRPr lang="es-CR" sz="2400" dirty="0"/>
          </a:p>
          <a:p>
            <a:pPr algn="just"/>
            <a:r>
              <a:rPr lang="es-CR" sz="2400" dirty="0"/>
              <a:t>5. Características máximas a considerar para la </a:t>
            </a:r>
            <a:r>
              <a:rPr lang="es-CR" sz="2400" dirty="0" smtClean="0"/>
              <a:t>división</a:t>
            </a:r>
          </a:p>
          <a:p>
            <a:pPr algn="just"/>
            <a:endParaRPr lang="es-CR" sz="2400" dirty="0"/>
          </a:p>
          <a:p>
            <a:pPr marL="0" indent="0" algn="just">
              <a:buNone/>
            </a:pPr>
            <a:r>
              <a:rPr lang="es-CR" sz="2400" dirty="0" err="1" smtClean="0"/>
              <a:t>Refierase</a:t>
            </a:r>
            <a:r>
              <a:rPr lang="es-CR" sz="2400" dirty="0" smtClean="0"/>
              <a:t> a la siguiente página:</a:t>
            </a:r>
          </a:p>
          <a:p>
            <a:pPr marL="0" indent="0" algn="just">
              <a:buNone/>
            </a:pPr>
            <a:endParaRPr lang="es-CR" sz="2400" dirty="0"/>
          </a:p>
          <a:p>
            <a:pPr marL="0" indent="0" algn="just">
              <a:buNone/>
            </a:pPr>
            <a:r>
              <a:rPr lang="es-CR" sz="2400" dirty="0"/>
              <a:t>https://www.analyticsvidhya.com/blog/2016/04/complete-tutorial-tree-based-modeling-scratch-in-python/</a:t>
            </a:r>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1285761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b="1" u="sng" dirty="0" smtClean="0"/>
              <a:t>La poda</a:t>
            </a:r>
          </a:p>
          <a:p>
            <a:pPr marL="0" indent="0" algn="just">
              <a:buNone/>
            </a:pPr>
            <a:endParaRPr lang="es-CR" sz="2400" b="1" u="sng" dirty="0"/>
          </a:p>
          <a:p>
            <a:pPr marL="0" indent="0" algn="just">
              <a:buNone/>
            </a:pPr>
            <a:r>
              <a:rPr lang="es-CR" sz="2400" dirty="0"/>
              <a:t>Como se discutió anteriormente, la técnica de establecer la restricción es un enfoque codicioso. En otras palabras, comprobará la mejor división instantáneamente y avanzará hasta que se alcance una de las condiciones de parada especificadas. Consideremos el siguiente caso </a:t>
            </a:r>
            <a:r>
              <a:rPr lang="es-CR" sz="2400" dirty="0" smtClean="0"/>
              <a:t>cuando se </a:t>
            </a:r>
            <a:r>
              <a:rPr lang="es-CR" sz="2400" dirty="0"/>
              <a:t>conduce:</a:t>
            </a:r>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pic>
        <p:nvPicPr>
          <p:cNvPr id="31746" name="Picture 2" descr="https://www.analyticsvidhya.com/wp-content/uploads/2016/04/graphic-1024x3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653136"/>
            <a:ext cx="6984776" cy="1961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1376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Hay 2 carriles:</a:t>
            </a:r>
          </a:p>
          <a:p>
            <a:pPr marL="0" indent="0" algn="just">
              <a:buNone/>
            </a:pPr>
            <a:r>
              <a:rPr lang="es-CR" sz="2400" dirty="0" smtClean="0"/>
              <a:t>1</a:t>
            </a:r>
            <a:r>
              <a:rPr lang="es-CR" sz="2400" dirty="0"/>
              <a:t>. Un carril con coches que se mueven a 80km / h</a:t>
            </a:r>
          </a:p>
          <a:p>
            <a:pPr marL="0" indent="0" algn="just">
              <a:buNone/>
            </a:pPr>
            <a:r>
              <a:rPr lang="es-CR" sz="2400" dirty="0"/>
              <a:t>2. Un carril con camiones que se mueven a 30km / h</a:t>
            </a:r>
          </a:p>
          <a:p>
            <a:pPr algn="just"/>
            <a:endParaRPr lang="es-CR" sz="2400" dirty="0"/>
          </a:p>
          <a:p>
            <a:pPr marL="0" indent="0" algn="just">
              <a:buNone/>
            </a:pPr>
            <a:r>
              <a:rPr lang="es-CR" sz="2400" dirty="0"/>
              <a:t>En este instante, usted es el coche amarillo y tiene 2 opciones:</a:t>
            </a:r>
          </a:p>
          <a:p>
            <a:pPr algn="just"/>
            <a:endParaRPr lang="es-CR" sz="2400" dirty="0"/>
          </a:p>
          <a:p>
            <a:pPr marL="0" indent="0" algn="just">
              <a:buNone/>
            </a:pPr>
            <a:r>
              <a:rPr lang="es-CR" sz="2400" dirty="0"/>
              <a:t>1. Tome a la izquierda y adelantar a los otros 2 coches rápidamente</a:t>
            </a:r>
          </a:p>
          <a:p>
            <a:pPr marL="0" indent="0" algn="just">
              <a:buNone/>
            </a:pPr>
            <a:r>
              <a:rPr lang="es-CR" sz="2400" dirty="0"/>
              <a:t>2. Manténgase en movimiento en el carril actual</a:t>
            </a:r>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2574067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07504" y="1556792"/>
            <a:ext cx="8928992" cy="5184576"/>
          </a:xfrm>
        </p:spPr>
        <p:txBody>
          <a:bodyPr>
            <a:normAutofit lnSpcReduction="10000"/>
          </a:bodyPr>
          <a:lstStyle/>
          <a:p>
            <a:pPr algn="just"/>
            <a:r>
              <a:rPr lang="es-CR" sz="2400" dirty="0"/>
              <a:t>Vamos a analizar estas opciones. En la primera opción, adelantarás inmediatamente el coche y llegarás detrás del camión y empezarás a moverte a 30 km / h, buscando una oportunidad de retroceder. Todos los coches originalmente detrás de usted avanzan en el mientras tanto. Esta sería la opción óptima si su objetivo es maximizar la distancia recorrida en los siguientes 10 segundos. En la última opción, la venta a través de la misma velocidad, camiones cruzados y luego superar tal vez dependiendo de la situación por delante. Codicioso usted</a:t>
            </a:r>
            <a:r>
              <a:rPr lang="es-CR" sz="2400" dirty="0" smtClean="0"/>
              <a:t>!</a:t>
            </a:r>
          </a:p>
          <a:p>
            <a:pPr algn="just"/>
            <a:r>
              <a:rPr lang="es-CR" sz="2400" dirty="0"/>
              <a:t>Esta es exactamente la diferencia entre el árbol de decisión normal y poda. Un árbol de decisión con restricciones no verá el camión por delante y adoptará un enfoque codicioso tomando una izquierda. Por otro lado si usamos la poda, en efecto miramos algunos pasos adelante y tomamos una decisión.</a:t>
            </a:r>
          </a:p>
        </p:txBody>
      </p:sp>
      <p:sp>
        <p:nvSpPr>
          <p:cNvPr id="5" name="1 Título"/>
          <p:cNvSpPr>
            <a:spLocks noGrp="1"/>
          </p:cNvSpPr>
          <p:nvPr>
            <p:ph type="title"/>
          </p:nvPr>
        </p:nvSpPr>
        <p:spPr>
          <a:xfrm>
            <a:off x="107504" y="-2738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30040973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323528" y="1556792"/>
            <a:ext cx="8568952" cy="5184576"/>
          </a:xfrm>
        </p:spPr>
        <p:txBody>
          <a:bodyPr>
            <a:normAutofit/>
          </a:bodyPr>
          <a:lstStyle/>
          <a:p>
            <a:pPr algn="just"/>
            <a:r>
              <a:rPr lang="es-CR" sz="2400" dirty="0"/>
              <a:t>Así que sabemos que la poda es mejor. ¿Pero cómo implementarlo en el árbol de decisión? La idea es simple</a:t>
            </a:r>
            <a:r>
              <a:rPr lang="es-CR" sz="2400" dirty="0" smtClean="0"/>
              <a:t>.</a:t>
            </a:r>
          </a:p>
          <a:p>
            <a:pPr marL="0" indent="0" algn="just">
              <a:buNone/>
            </a:pPr>
            <a:endParaRPr lang="es-CR" sz="2400" dirty="0"/>
          </a:p>
          <a:p>
            <a:pPr marL="0" indent="0" algn="just">
              <a:buNone/>
            </a:pPr>
            <a:r>
              <a:rPr lang="es-CR" sz="2400" dirty="0" smtClean="0"/>
              <a:t>1</a:t>
            </a:r>
            <a:r>
              <a:rPr lang="es-CR" sz="2400" dirty="0"/>
              <a:t>. Primero hacemos el árbol de la decisión a una profundidad grande.</a:t>
            </a:r>
          </a:p>
          <a:p>
            <a:pPr marL="0" indent="0" algn="just">
              <a:buNone/>
            </a:pPr>
            <a:r>
              <a:rPr lang="es-CR" sz="2400" dirty="0"/>
              <a:t>2. Luego empezamos en la parte inferior y empezamos a quitar las hojas que nos están dando resultados negativos cuando se comparan desde la parte superior.</a:t>
            </a:r>
          </a:p>
          <a:p>
            <a:pPr marL="0" indent="0" algn="just">
              <a:buNone/>
            </a:pPr>
            <a:r>
              <a:rPr lang="es-CR" sz="2400" dirty="0"/>
              <a:t>3. Supongamos que una división nos está dando una ganancia de -10 (pérdida de 10) y luego la siguiente división en que nos da una ganancia de 20. Un árbol de decisión simple se detendrá en el paso 1, pero en la poda, vamos a ver que La ganancia total es de +10 y mantener ambas hojas.</a:t>
            </a:r>
          </a:p>
        </p:txBody>
      </p:sp>
      <p:sp>
        <p:nvSpPr>
          <p:cNvPr id="5" name="1 Título"/>
          <p:cNvSpPr>
            <a:spLocks noGrp="1"/>
          </p:cNvSpPr>
          <p:nvPr>
            <p:ph type="title"/>
          </p:nvPr>
        </p:nvSpPr>
        <p:spPr>
          <a:xfrm>
            <a:off x="72008" y="44624"/>
            <a:ext cx="8964488" cy="1584176"/>
          </a:xfrm>
        </p:spPr>
        <p:txBody>
          <a:bodyPr>
            <a:noAutofit/>
          </a:bodyPr>
          <a:lstStyle/>
          <a:p>
            <a:r>
              <a:rPr lang="es-CR" sz="3200" dirty="0"/>
              <a:t>¿Cuáles son los parámetros clave del modelado de árboles y cómo podemos evitar el exceso de ajuste en árboles de decisión?</a:t>
            </a:r>
          </a:p>
        </p:txBody>
      </p:sp>
    </p:spTree>
    <p:extLst>
      <p:ext uri="{BB962C8B-B14F-4D97-AF65-F5344CB8AC3E}">
        <p14:creationId xmlns:p14="http://schemas.microsoft.com/office/powerpoint/2010/main" val="23902945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125760"/>
            <a:ext cx="8928992" cy="1143000"/>
          </a:xfrm>
        </p:spPr>
        <p:txBody>
          <a:bodyPr>
            <a:normAutofit fontScale="90000"/>
          </a:bodyPr>
          <a:lstStyle/>
          <a:p>
            <a:r>
              <a:rPr lang="es-CR" sz="4000" dirty="0"/>
              <a:t>¿Son modelos basados en árboles mejores que modelos lineales?</a:t>
            </a:r>
          </a:p>
        </p:txBody>
      </p:sp>
      <p:sp>
        <p:nvSpPr>
          <p:cNvPr id="3" name="2 Marcador de contenido"/>
          <p:cNvSpPr>
            <a:spLocks noGrp="1"/>
          </p:cNvSpPr>
          <p:nvPr>
            <p:ph idx="1"/>
          </p:nvPr>
        </p:nvSpPr>
        <p:spPr/>
        <p:txBody>
          <a:bodyPr>
            <a:normAutofit/>
          </a:bodyPr>
          <a:lstStyle/>
          <a:p>
            <a:pPr algn="just"/>
            <a:r>
              <a:rPr lang="es-CR" sz="2400" dirty="0"/>
              <a:t>"Si puedo usar la regresión logística para problemas de clasificación y regresión lineal para problemas de regresión, ¿por qué hay necesidad de usar árboles"? </a:t>
            </a:r>
            <a:endParaRPr lang="es-CR" sz="2400" dirty="0" smtClean="0"/>
          </a:p>
          <a:p>
            <a:pPr algn="just"/>
            <a:endParaRPr lang="es-CR" sz="2400" dirty="0"/>
          </a:p>
          <a:p>
            <a:pPr algn="just"/>
            <a:r>
              <a:rPr lang="es-CR" sz="2400" dirty="0" smtClean="0"/>
              <a:t>Muchos </a:t>
            </a:r>
            <a:r>
              <a:rPr lang="es-CR" sz="2400" dirty="0"/>
              <a:t>de nosotros tenemos esta pregunta. Y, esto es válido también.</a:t>
            </a:r>
          </a:p>
          <a:p>
            <a:endParaRPr lang="es-CR" sz="2400" dirty="0"/>
          </a:p>
          <a:p>
            <a:pPr algn="just"/>
            <a:r>
              <a:rPr lang="es-CR" sz="2400" dirty="0"/>
              <a:t>En realidad, puede utilizar cualquier algoritmo. Depende del tipo de problema que esté resolviendo. Echemos un vistazo a algunos factores clave que le ayudarán a decidir qué algoritmo utilizar:</a:t>
            </a:r>
          </a:p>
        </p:txBody>
      </p:sp>
    </p:spTree>
    <p:extLst>
      <p:ext uri="{BB962C8B-B14F-4D97-AF65-F5344CB8AC3E}">
        <p14:creationId xmlns:p14="http://schemas.microsoft.com/office/powerpoint/2010/main" val="10015825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412776"/>
            <a:ext cx="8712968" cy="5112568"/>
          </a:xfrm>
        </p:spPr>
        <p:txBody>
          <a:bodyPr>
            <a:normAutofit/>
          </a:bodyPr>
          <a:lstStyle/>
          <a:p>
            <a:pPr marL="457200" indent="-457200" algn="just">
              <a:buAutoNum type="arabicPeriod"/>
            </a:pPr>
            <a:r>
              <a:rPr lang="es-CR" sz="2400" dirty="0" smtClean="0"/>
              <a:t>Si </a:t>
            </a:r>
            <a:r>
              <a:rPr lang="es-CR" sz="2400" dirty="0"/>
              <a:t>la relación entre variable dependiente y independiente es bien aproximada por un modelo lineal, la regresión lineal superará al modelo basado en árboles</a:t>
            </a:r>
            <a:r>
              <a:rPr lang="es-CR" sz="2400" dirty="0" smtClean="0"/>
              <a:t>.</a:t>
            </a:r>
          </a:p>
          <a:p>
            <a:pPr marL="0" indent="0" algn="just">
              <a:buNone/>
            </a:pPr>
            <a:endParaRPr lang="es-CR" sz="2400" dirty="0"/>
          </a:p>
          <a:p>
            <a:pPr marL="0" indent="0" algn="just">
              <a:buNone/>
            </a:pPr>
            <a:r>
              <a:rPr lang="es-CR" sz="2400" dirty="0" smtClean="0"/>
              <a:t>2. Si </a:t>
            </a:r>
            <a:r>
              <a:rPr lang="es-CR" sz="2400" dirty="0"/>
              <a:t>existe una alta no linealidad y relación compleja entre variables dependientes e independientes, un modelo de árbol superará a un método de regresión clásico.</a:t>
            </a:r>
          </a:p>
          <a:p>
            <a:pPr marL="0" indent="0" algn="just">
              <a:buNone/>
            </a:pPr>
            <a:endParaRPr lang="es-CR" sz="2400" dirty="0"/>
          </a:p>
          <a:p>
            <a:pPr marL="0" indent="0" algn="just">
              <a:buNone/>
            </a:pPr>
            <a:r>
              <a:rPr lang="es-CR" sz="2400" dirty="0"/>
              <a:t>3. Si necesita construir un modelo que sea fácil de explicar a la gente, un modelo de árbol de decisión siempre será mejor que un modelo lineal. Los modelos de árboles de decisión son aún más fáciles de interpretar que la regresión lineal.</a:t>
            </a:r>
          </a:p>
        </p:txBody>
      </p:sp>
      <p:sp>
        <p:nvSpPr>
          <p:cNvPr id="4" name="1 Título"/>
          <p:cNvSpPr>
            <a:spLocks noGrp="1"/>
          </p:cNvSpPr>
          <p:nvPr>
            <p:ph type="title"/>
          </p:nvPr>
        </p:nvSpPr>
        <p:spPr>
          <a:xfrm>
            <a:off x="107504" y="125760"/>
            <a:ext cx="8928992" cy="1143000"/>
          </a:xfrm>
        </p:spPr>
        <p:txBody>
          <a:bodyPr>
            <a:normAutofit fontScale="90000"/>
          </a:bodyPr>
          <a:lstStyle/>
          <a:p>
            <a:r>
              <a:rPr lang="es-CR" sz="4000" dirty="0"/>
              <a:t>¿Son modelos basados en árboles mejores que modelos lineales?</a:t>
            </a:r>
          </a:p>
        </p:txBody>
      </p:sp>
    </p:spTree>
    <p:extLst>
      <p:ext uri="{BB962C8B-B14F-4D97-AF65-F5344CB8AC3E}">
        <p14:creationId xmlns:p14="http://schemas.microsoft.com/office/powerpoint/2010/main" val="18633226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274638"/>
            <a:ext cx="8640960" cy="1143000"/>
          </a:xfrm>
        </p:spPr>
        <p:txBody>
          <a:bodyPr>
            <a:normAutofit/>
          </a:bodyPr>
          <a:lstStyle/>
          <a:p>
            <a:r>
              <a:rPr lang="es-CR" dirty="0" smtClean="0"/>
              <a:t>¿Qué </a:t>
            </a:r>
            <a:r>
              <a:rPr lang="es-CR" dirty="0" smtClean="0"/>
              <a:t>obtenemos </a:t>
            </a:r>
            <a:r>
              <a:rPr lang="es-CR" dirty="0" smtClean="0"/>
              <a:t>al final del análisis?</a:t>
            </a:r>
            <a:endParaRPr lang="es-CR" dirty="0"/>
          </a:p>
        </p:txBody>
      </p:sp>
      <p:sp>
        <p:nvSpPr>
          <p:cNvPr id="3" name="2 Marcador de contenido"/>
          <p:cNvSpPr>
            <a:spLocks noGrp="1"/>
          </p:cNvSpPr>
          <p:nvPr>
            <p:ph idx="1"/>
          </p:nvPr>
        </p:nvSpPr>
        <p:spPr/>
        <p:txBody>
          <a:bodyPr>
            <a:normAutofit/>
          </a:bodyPr>
          <a:lstStyle/>
          <a:p>
            <a:r>
              <a:rPr lang="es-CR" sz="2400" dirty="0" smtClean="0"/>
              <a:t>Recapitulando, podemos obtener 3 cosas a partir de los árboles de decisión:</a:t>
            </a:r>
          </a:p>
          <a:p>
            <a:endParaRPr lang="es-CR" sz="2400" dirty="0"/>
          </a:p>
          <a:p>
            <a:pPr marL="457200" indent="-457200">
              <a:buAutoNum type="arabicPeriod"/>
            </a:pPr>
            <a:r>
              <a:rPr lang="es-CR" sz="2400" dirty="0" smtClean="0"/>
              <a:t>Predicciones  o clasificaciones</a:t>
            </a:r>
          </a:p>
          <a:p>
            <a:pPr marL="457200" indent="-457200">
              <a:buAutoNum type="arabicPeriod"/>
            </a:pPr>
            <a:r>
              <a:rPr lang="es-CR" sz="2400" dirty="0" smtClean="0"/>
              <a:t>Conocimiento de la estructura del árbol</a:t>
            </a:r>
          </a:p>
          <a:p>
            <a:pPr marL="457200" indent="-457200">
              <a:buAutoNum type="arabicPeriod"/>
            </a:pPr>
            <a:r>
              <a:rPr lang="es-CR" sz="2400" dirty="0" smtClean="0"/>
              <a:t>Descripción de los nodos.</a:t>
            </a:r>
          </a:p>
          <a:p>
            <a:pPr marL="457200" indent="-457200">
              <a:buAutoNum type="arabicPeriod"/>
            </a:pPr>
            <a:r>
              <a:rPr lang="es-CR" sz="2400" dirty="0" smtClean="0"/>
              <a:t>Toma de decisiones a partir de todo lo anterior.</a:t>
            </a:r>
          </a:p>
          <a:p>
            <a:pPr marL="457200" indent="-457200">
              <a:buAutoNum type="arabicPeriod"/>
            </a:pPr>
            <a:endParaRPr lang="es-CR" sz="2400" dirty="0"/>
          </a:p>
          <a:p>
            <a:pPr marL="0" indent="0">
              <a:buNone/>
            </a:pPr>
            <a:endParaRPr lang="es-CR" sz="2400" dirty="0" smtClean="0"/>
          </a:p>
        </p:txBody>
      </p:sp>
    </p:spTree>
    <p:extLst>
      <p:ext uri="{BB962C8B-B14F-4D97-AF65-F5344CB8AC3E}">
        <p14:creationId xmlns:p14="http://schemas.microsoft.com/office/powerpoint/2010/main" val="16172749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s-CR"/>
          </a:p>
        </p:txBody>
      </p:sp>
      <p:sp>
        <p:nvSpPr>
          <p:cNvPr id="4" name="1 Título"/>
          <p:cNvSpPr>
            <a:spLocks noGrp="1"/>
          </p:cNvSpPr>
          <p:nvPr>
            <p:ph type="title"/>
          </p:nvPr>
        </p:nvSpPr>
        <p:spPr>
          <a:xfrm>
            <a:off x="179512" y="274638"/>
            <a:ext cx="8640960" cy="1143000"/>
          </a:xfrm>
        </p:spPr>
        <p:txBody>
          <a:bodyPr>
            <a:normAutofit/>
          </a:bodyPr>
          <a:lstStyle/>
          <a:p>
            <a:r>
              <a:rPr lang="es-CR" dirty="0" smtClean="0"/>
              <a:t>¿Qué </a:t>
            </a:r>
            <a:r>
              <a:rPr lang="es-CR" dirty="0" smtClean="0"/>
              <a:t>obtenemos </a:t>
            </a:r>
            <a:r>
              <a:rPr lang="es-CR" dirty="0" smtClean="0"/>
              <a:t>al final del análisis?</a:t>
            </a:r>
            <a:endParaRPr lang="es-CR" dirty="0"/>
          </a:p>
        </p:txBody>
      </p:sp>
      <p:pic>
        <p:nvPicPr>
          <p:cNvPr id="1026" name="Picture 2" descr="Image result for decisiÃ³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84784"/>
            <a:ext cx="4056164" cy="5184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decisiÃ³n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542" y="1628800"/>
            <a:ext cx="4495954" cy="504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757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723312" cy="1143000"/>
          </a:xfrm>
        </p:spPr>
        <p:txBody>
          <a:bodyPr>
            <a:normAutofit fontScale="90000"/>
          </a:bodyPr>
          <a:lstStyle/>
          <a:p>
            <a:r>
              <a:rPr lang="es-CR" dirty="0" smtClean="0"/>
              <a:t>Etapas de un análisis por árboles de decisión</a:t>
            </a:r>
            <a:endParaRPr lang="es-CR" dirty="0"/>
          </a:p>
        </p:txBody>
      </p:sp>
      <p:sp>
        <p:nvSpPr>
          <p:cNvPr id="3" name="2 Marcador de contenido"/>
          <p:cNvSpPr>
            <a:spLocks noGrp="1"/>
          </p:cNvSpPr>
          <p:nvPr>
            <p:ph idx="1"/>
          </p:nvPr>
        </p:nvSpPr>
        <p:spPr/>
        <p:txBody>
          <a:bodyPr>
            <a:normAutofit/>
          </a:bodyPr>
          <a:lstStyle/>
          <a:p>
            <a:r>
              <a:rPr lang="es-CR" sz="2400" dirty="0" smtClean="0"/>
              <a:t>Siempre se recomienda:</a:t>
            </a:r>
          </a:p>
          <a:p>
            <a:pPr marL="0" indent="0">
              <a:buNone/>
            </a:pPr>
            <a:endParaRPr lang="es-CR" sz="2400" dirty="0"/>
          </a:p>
          <a:p>
            <a:pPr marL="457200" indent="-457200">
              <a:buAutoNum type="arabicPeriod"/>
            </a:pPr>
            <a:r>
              <a:rPr lang="es-CR" sz="2400" dirty="0" smtClean="0"/>
              <a:t>Análisis descriptivo de las variables.</a:t>
            </a:r>
          </a:p>
          <a:p>
            <a:pPr marL="457200" indent="-457200">
              <a:buAutoNum type="arabicPeriod"/>
            </a:pPr>
            <a:r>
              <a:rPr lang="es-CR" sz="2400" dirty="0" smtClean="0"/>
              <a:t>Estimación del modelo (predicción o clasificación).</a:t>
            </a:r>
          </a:p>
          <a:p>
            <a:pPr marL="457200" indent="-457200">
              <a:buAutoNum type="arabicPeriod"/>
            </a:pPr>
            <a:r>
              <a:rPr lang="es-CR" sz="2400" dirty="0" smtClean="0"/>
              <a:t>La poda o las restricciones de los árboles.</a:t>
            </a:r>
          </a:p>
          <a:p>
            <a:pPr marL="457200" indent="-457200">
              <a:buAutoNum type="arabicPeriod"/>
            </a:pPr>
            <a:r>
              <a:rPr lang="es-CR" sz="2400" dirty="0" smtClean="0"/>
              <a:t>La predicción o clasificación de las variables.</a:t>
            </a:r>
          </a:p>
          <a:p>
            <a:pPr marL="457200" indent="-457200">
              <a:buAutoNum type="arabicPeriod"/>
            </a:pPr>
            <a:r>
              <a:rPr lang="es-CR" sz="2400" dirty="0" smtClean="0"/>
              <a:t>Interpretación de todo lo anterior.</a:t>
            </a:r>
          </a:p>
          <a:p>
            <a:pPr marL="457200" indent="-457200">
              <a:buAutoNum type="arabicPeriod"/>
            </a:pPr>
            <a:endParaRPr lang="es-CR" sz="2400" dirty="0"/>
          </a:p>
          <a:p>
            <a:pPr marL="0" indent="0">
              <a:buNone/>
            </a:pPr>
            <a:endParaRPr lang="es-CR" sz="2400" dirty="0"/>
          </a:p>
        </p:txBody>
      </p:sp>
    </p:spTree>
    <p:extLst>
      <p:ext uri="{BB962C8B-B14F-4D97-AF65-F5344CB8AC3E}">
        <p14:creationId xmlns:p14="http://schemas.microsoft.com/office/powerpoint/2010/main" val="28896696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4" name="2 Marcador de contenido"/>
          <p:cNvSpPr>
            <a:spLocks noGrp="1"/>
          </p:cNvSpPr>
          <p:nvPr>
            <p:ph idx="1"/>
          </p:nvPr>
        </p:nvSpPr>
        <p:spPr>
          <a:xfrm>
            <a:off x="323528" y="1556792"/>
            <a:ext cx="8568952" cy="5184576"/>
          </a:xfrm>
        </p:spPr>
        <p:txBody>
          <a:bodyPr>
            <a:normAutofit/>
          </a:bodyPr>
          <a:lstStyle/>
          <a:p>
            <a:pPr algn="just"/>
            <a:endParaRPr lang="es-CR" sz="2400" dirty="0"/>
          </a:p>
        </p:txBody>
      </p:sp>
      <p:pic>
        <p:nvPicPr>
          <p:cNvPr id="27650"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834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9690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3988</Words>
  <Application>Microsoft Office PowerPoint</Application>
  <PresentationFormat>Presentación en pantalla (4:3)</PresentationFormat>
  <Paragraphs>237</Paragraphs>
  <Slides>46</Slides>
  <Notes>0</Notes>
  <HiddenSlides>0</HiddenSlides>
  <MMClips>0</MMClips>
  <ScaleCrop>false</ScaleCrop>
  <HeadingPairs>
    <vt:vector size="4" baseType="variant">
      <vt:variant>
        <vt:lpstr>Tema</vt:lpstr>
      </vt:variant>
      <vt:variant>
        <vt:i4>1</vt:i4>
      </vt:variant>
      <vt:variant>
        <vt:lpstr>Títulos de diapositiva</vt:lpstr>
      </vt:variant>
      <vt:variant>
        <vt:i4>46</vt:i4>
      </vt:variant>
    </vt:vector>
  </HeadingPairs>
  <TitlesOfParts>
    <vt:vector size="47" baseType="lpstr">
      <vt:lpstr>Tema de Office</vt:lpstr>
      <vt:lpstr>Árboles de decisión</vt:lpstr>
      <vt:lpstr>Introducción</vt:lpstr>
      <vt:lpstr>Introducción</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¿Qué es un árbol de decisión? ¿Cómo funciona ?</vt:lpstr>
      <vt:lpstr>Árboles de regresión vs árboles de clasificación </vt:lpstr>
      <vt:lpstr>Presentación de PowerPoint</vt:lpstr>
      <vt:lpstr>Árboles de regresión vs árboles de clasificación </vt:lpstr>
      <vt:lpstr>Árboles de regresión vs árboles de clasificación </vt:lpstr>
      <vt:lpstr>¿Cómo un árbol decide dónde dividir?</vt:lpstr>
      <vt:lpstr>¿Cómo un árbol decide dónde dividir? Indice de Gini</vt:lpstr>
      <vt:lpstr>¿Cómo un árbol decide dónde dividir? Indice de Gini</vt:lpstr>
      <vt:lpstr>¿Cómo un árbol decide dónde dividir?  Chi-cuadrado</vt:lpstr>
      <vt:lpstr>¿Cómo un árbol decide dónde dividir? Chi-cuadrado</vt:lpstr>
      <vt:lpstr>¿Cómo un árbol decide dónde dividir? Ganancia de información</vt:lpstr>
      <vt:lpstr>¿Cómo un árbol decide dónde dividir? Ganancia de información</vt:lpstr>
      <vt:lpstr>¿Cómo un árbol decide dónde dividir? Ganancia de información</vt:lpstr>
      <vt:lpstr>¿Cómo un árbol decide dónde dividir? Reducción en variancia</vt:lpstr>
      <vt:lpstr>¿Cómo un árbol decide dónde dividir? Reducción en variancia</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¿Cuáles son los parámetros clave del modelado de árboles y cómo podemos evitar el exceso de ajuste en árboles de decisión?</vt:lpstr>
      <vt:lpstr>¿Son modelos basados en árboles mejores que modelos lineales?</vt:lpstr>
      <vt:lpstr>¿Son modelos basados en árboles mejores que modelos lineales?</vt:lpstr>
      <vt:lpstr>¿Qué obtenemos al final del análisis?</vt:lpstr>
      <vt:lpstr>¿Qué obtenemos al final del análisis?</vt:lpstr>
      <vt:lpstr>Etapas de un análisis por árboles de decisión</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Árboles de decisión</dc:title>
  <dc:creator>Oscar Centeno Mora</dc:creator>
  <cp:lastModifiedBy>Oscar Centeno Mora</cp:lastModifiedBy>
  <cp:revision>27</cp:revision>
  <dcterms:created xsi:type="dcterms:W3CDTF">2017-06-20T16:14:24Z</dcterms:created>
  <dcterms:modified xsi:type="dcterms:W3CDTF">2018-06-12T21:01:02Z</dcterms:modified>
</cp:coreProperties>
</file>