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4" r:id="rId6"/>
    <p:sldId id="260" r:id="rId7"/>
    <p:sldId id="261" r:id="rId8"/>
    <p:sldId id="267" r:id="rId9"/>
    <p:sldId id="268" r:id="rId10"/>
    <p:sldId id="269" r:id="rId11"/>
    <p:sldId id="270" r:id="rId12"/>
    <p:sldId id="271" r:id="rId13"/>
    <p:sldId id="272" r:id="rId14"/>
    <p:sldId id="273" r:id="rId15"/>
    <p:sldId id="278" r:id="rId16"/>
    <p:sldId id="277" r:id="rId17"/>
    <p:sldId id="276" r:id="rId18"/>
    <p:sldId id="262" r:id="rId19"/>
    <p:sldId id="263" r:id="rId20"/>
    <p:sldId id="279" r:id="rId21"/>
    <p:sldId id="264" r:id="rId22"/>
    <p:sldId id="265" r:id="rId23"/>
    <p:sldId id="266" r:id="rId24"/>
    <p:sldId id="280" r:id="rId25"/>
    <p:sldId id="282" r:id="rId26"/>
    <p:sldId id="281"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17/04/2018</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993898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17/04/2018</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919366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A4555291-A9D7-4332-8E3F-FBFD5FF24784}" type="datetimeFigureOut">
              <a:rPr lang="es-ES" smtClean="0"/>
              <a:t>17/04/2018</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900419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A4555291-A9D7-4332-8E3F-FBFD5FF24784}" type="datetimeFigureOut">
              <a:rPr lang="es-ES" smtClean="0"/>
              <a:t>17/04/2018</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994137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A4555291-A9D7-4332-8E3F-FBFD5FF24784}" type="datetimeFigureOut">
              <a:rPr lang="es-ES" smtClean="0"/>
              <a:t>17/04/2018</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741491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A4555291-A9D7-4332-8E3F-FBFD5FF24784}" type="datetimeFigureOut">
              <a:rPr lang="es-ES" smtClean="0"/>
              <a:t>17/04/2018</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3603854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4555291-A9D7-4332-8E3F-FBFD5FF24784}" type="datetimeFigureOut">
              <a:rPr lang="es-ES" smtClean="0"/>
              <a:t>17/04/2018</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820191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A4555291-A9D7-4332-8E3F-FBFD5FF24784}" type="datetimeFigureOut">
              <a:rPr lang="es-ES" smtClean="0"/>
              <a:t>17/04/2018</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579232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A4555291-A9D7-4332-8E3F-FBFD5FF24784}" type="datetimeFigureOut">
              <a:rPr lang="es-ES" smtClean="0"/>
              <a:t>17/04/2018</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921489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17/04/2018</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956876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17/04/2018</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3099240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555291-A9D7-4332-8E3F-FBFD5FF24784}" type="datetimeFigureOut">
              <a:rPr lang="es-ES" smtClean="0"/>
              <a:t>17/04/2018</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87BBE-B59F-40C3-B658-5084005BD23B}" type="slidenum">
              <a:rPr lang="es-ES" smtClean="0"/>
              <a:t>‹Nº›</a:t>
            </a:fld>
            <a:endParaRPr lang="es-ES"/>
          </a:p>
        </p:txBody>
      </p:sp>
    </p:spTree>
    <p:extLst>
      <p:ext uri="{BB962C8B-B14F-4D97-AF65-F5344CB8AC3E}">
        <p14:creationId xmlns:p14="http://schemas.microsoft.com/office/powerpoint/2010/main" val="951860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15292" y="94751"/>
            <a:ext cx="9144000" cy="1202826"/>
          </a:xfrm>
        </p:spPr>
        <p:txBody>
          <a:bodyPr/>
          <a:lstStyle/>
          <a:p>
            <a:r>
              <a:rPr lang="es-CR" dirty="0" smtClean="0"/>
              <a:t>Análisis de factores</a:t>
            </a:r>
            <a:endParaRPr lang="es-ES" dirty="0"/>
          </a:p>
        </p:txBody>
      </p:sp>
      <p:sp>
        <p:nvSpPr>
          <p:cNvPr id="3" name="Subtítulo 2"/>
          <p:cNvSpPr>
            <a:spLocks noGrp="1"/>
          </p:cNvSpPr>
          <p:nvPr>
            <p:ph type="subTitle" idx="1"/>
          </p:nvPr>
        </p:nvSpPr>
        <p:spPr>
          <a:xfrm>
            <a:off x="2786744" y="6191792"/>
            <a:ext cx="9144000" cy="485503"/>
          </a:xfrm>
        </p:spPr>
        <p:txBody>
          <a:bodyPr/>
          <a:lstStyle/>
          <a:p>
            <a:pPr algn="r"/>
            <a:r>
              <a:rPr lang="es-CR" dirty="0" smtClean="0"/>
              <a:t>Oscar Centeno Mora</a:t>
            </a:r>
            <a:endParaRPr lang="es-ES" dirty="0"/>
          </a:p>
        </p:txBody>
      </p:sp>
      <p:pic>
        <p:nvPicPr>
          <p:cNvPr id="4100" name="Picture 4" descr="Resultado de imagen para factor analy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758" y="2626405"/>
            <a:ext cx="4703808" cy="2367584"/>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Resultado de imagen para factor analys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8744" y="1558834"/>
            <a:ext cx="3677906" cy="3677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85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73536"/>
            <a:ext cx="10515600" cy="793115"/>
          </a:xfrm>
        </p:spPr>
        <p:txBody>
          <a:bodyPr/>
          <a:lstStyle/>
          <a:p>
            <a:pPr algn="ctr"/>
            <a:r>
              <a:rPr lang="es-CR" dirty="0" smtClean="0"/>
              <a:t>Introducción</a:t>
            </a:r>
            <a:endParaRPr lang="es-ES" dirty="0"/>
          </a:p>
        </p:txBody>
      </p:sp>
      <p:sp>
        <p:nvSpPr>
          <p:cNvPr id="3" name="Marcador de contenido 2"/>
          <p:cNvSpPr>
            <a:spLocks noGrp="1"/>
          </p:cNvSpPr>
          <p:nvPr>
            <p:ph idx="1"/>
          </p:nvPr>
        </p:nvSpPr>
        <p:spPr>
          <a:xfrm>
            <a:off x="341812" y="1555658"/>
            <a:ext cx="8810898" cy="5115107"/>
          </a:xfrm>
        </p:spPr>
        <p:txBody>
          <a:bodyPr>
            <a:normAutofit lnSpcReduction="10000"/>
          </a:bodyPr>
          <a:lstStyle/>
          <a:p>
            <a:pPr algn="just"/>
            <a:r>
              <a:rPr lang="es-CR" sz="2400" dirty="0"/>
              <a:t>El análisis factorial </a:t>
            </a:r>
            <a:r>
              <a:rPr lang="es-CR" sz="2400" dirty="0" smtClean="0"/>
              <a:t>(</a:t>
            </a:r>
            <a:r>
              <a:rPr lang="es-CR" sz="2400" dirty="0"/>
              <a:t>análisis factorial o FA) es un conjunto de técnicas </a:t>
            </a:r>
            <a:r>
              <a:rPr lang="es-CR" sz="2400" dirty="0" smtClean="0"/>
              <a:t>cuyo orígenes </a:t>
            </a:r>
            <a:r>
              <a:rPr lang="es-CR" sz="2400" dirty="0"/>
              <a:t>se encuentran en la obra de Pearson </a:t>
            </a:r>
            <a:r>
              <a:rPr lang="es-CR" sz="2400" dirty="0" smtClean="0"/>
              <a:t>(1901).</a:t>
            </a:r>
          </a:p>
          <a:p>
            <a:pPr algn="just"/>
            <a:endParaRPr lang="es-CR" sz="2400" dirty="0"/>
          </a:p>
          <a:p>
            <a:pPr algn="just"/>
            <a:r>
              <a:rPr lang="es-CR" sz="2400" dirty="0" smtClean="0"/>
              <a:t>Desarrollado </a:t>
            </a:r>
            <a:r>
              <a:rPr lang="es-CR" sz="2400" dirty="0"/>
              <a:t>por </a:t>
            </a:r>
            <a:r>
              <a:rPr lang="es-CR" sz="2400" dirty="0" smtClean="0"/>
              <a:t>psicólogos donde la teoría y el método numérico no poseían justificación teórica alguna, se produjeron diversas </a:t>
            </a:r>
            <a:r>
              <a:rPr lang="es-CR" sz="2400" dirty="0"/>
              <a:t>controversias entre </a:t>
            </a:r>
            <a:r>
              <a:rPr lang="es-CR" sz="2400" dirty="0" smtClean="0"/>
              <a:t>las escuelas de psicólogos.</a:t>
            </a:r>
          </a:p>
          <a:p>
            <a:pPr algn="just"/>
            <a:endParaRPr lang="es-CR" sz="2400" dirty="0"/>
          </a:p>
          <a:p>
            <a:pPr algn="just"/>
            <a:r>
              <a:rPr lang="es-CR" sz="2400" dirty="0" smtClean="0"/>
              <a:t>Más adelante (1940), nuevos fundamentos teóricos, numéricos y estadísticos se establecieron en las diferentes variantes del análisis factorial para ser aprobado como método de análisis. </a:t>
            </a:r>
          </a:p>
          <a:p>
            <a:pPr algn="just"/>
            <a:endParaRPr lang="es-CR" sz="2400" dirty="0"/>
          </a:p>
          <a:p>
            <a:pPr algn="just"/>
            <a:r>
              <a:rPr lang="es-CR" sz="2400" dirty="0" smtClean="0"/>
              <a:t>Algunos estadísticos que consolidaron el método: </a:t>
            </a:r>
            <a:r>
              <a:rPr lang="es-CR" sz="2400" dirty="0" err="1" smtClean="0"/>
              <a:t>Spearman</a:t>
            </a:r>
            <a:r>
              <a:rPr lang="es-CR" sz="2400" dirty="0" smtClean="0"/>
              <a:t>, Thomson, </a:t>
            </a:r>
            <a:r>
              <a:rPr lang="es-CR" sz="2400" dirty="0" err="1" smtClean="0"/>
              <a:t>Thurstone</a:t>
            </a:r>
            <a:r>
              <a:rPr lang="es-CR" sz="2400" dirty="0" smtClean="0"/>
              <a:t>, </a:t>
            </a:r>
            <a:r>
              <a:rPr lang="es-CR" sz="2400" dirty="0" err="1" smtClean="0"/>
              <a:t>Burt</a:t>
            </a:r>
            <a:r>
              <a:rPr lang="es-CR" sz="2400" dirty="0" smtClean="0"/>
              <a:t>, etc.</a:t>
            </a:r>
            <a:endParaRPr lang="es-ES" sz="2400" dirty="0"/>
          </a:p>
        </p:txBody>
      </p:sp>
    </p:spTree>
    <p:extLst>
      <p:ext uri="{BB962C8B-B14F-4D97-AF65-F5344CB8AC3E}">
        <p14:creationId xmlns:p14="http://schemas.microsoft.com/office/powerpoint/2010/main" val="2513452136"/>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55024" y="1242150"/>
            <a:ext cx="8941524" cy="5393781"/>
          </a:xfrm>
        </p:spPr>
        <p:txBody>
          <a:bodyPr>
            <a:normAutofit/>
          </a:bodyPr>
          <a:lstStyle/>
          <a:p>
            <a:pPr algn="just"/>
            <a:r>
              <a:rPr lang="es-CR" sz="2400" dirty="0"/>
              <a:t>En el AF la atención se </a:t>
            </a:r>
            <a:r>
              <a:rPr lang="es-CR" sz="2400" dirty="0" smtClean="0"/>
              <a:t>centra principalmente </a:t>
            </a:r>
            <a:r>
              <a:rPr lang="es-CR" sz="2400" dirty="0"/>
              <a:t>en las variables estadísticas y no en los individuos; </a:t>
            </a:r>
            <a:r>
              <a:rPr lang="es-CR" sz="2400" dirty="0" smtClean="0"/>
              <a:t>es </a:t>
            </a:r>
            <a:r>
              <a:rPr lang="es-CR" sz="2400" dirty="0"/>
              <a:t>más </a:t>
            </a:r>
            <a:r>
              <a:rPr lang="es-CR" sz="2400" dirty="0" smtClean="0"/>
              <a:t>un método </a:t>
            </a:r>
            <a:r>
              <a:rPr lang="es-CR" sz="2400" dirty="0"/>
              <a:t>de análisis </a:t>
            </a:r>
            <a:r>
              <a:rPr lang="es-CR" sz="2400" dirty="0" err="1"/>
              <a:t>multivariante</a:t>
            </a:r>
            <a:r>
              <a:rPr lang="es-CR" sz="2400" dirty="0"/>
              <a:t> </a:t>
            </a:r>
            <a:r>
              <a:rPr lang="es-CR" sz="2400" dirty="0" smtClean="0"/>
              <a:t>que un </a:t>
            </a:r>
            <a:r>
              <a:rPr lang="es-CR" sz="2400" dirty="0"/>
              <a:t>método de análisis </a:t>
            </a:r>
            <a:r>
              <a:rPr lang="es-CR" sz="2400" dirty="0" smtClean="0"/>
              <a:t>multidimensional. </a:t>
            </a:r>
          </a:p>
          <a:p>
            <a:pPr algn="just"/>
            <a:endParaRPr lang="es-CR" sz="2400" dirty="0"/>
          </a:p>
          <a:p>
            <a:pPr algn="just"/>
            <a:r>
              <a:rPr lang="es-CR" sz="2400" dirty="0" smtClean="0"/>
              <a:t>Existen dos grandes variaciones del análisis factorial: análisis factorial exploratorio, y análisis factorial confirmatorio. Nos enfocaremos únicamente en la modalidad exploratoria.</a:t>
            </a:r>
          </a:p>
          <a:p>
            <a:pPr algn="just"/>
            <a:endParaRPr lang="es-CR" sz="2400" dirty="0" smtClean="0"/>
          </a:p>
          <a:p>
            <a:pPr algn="just"/>
            <a:r>
              <a:rPr lang="es-CR" sz="2400" dirty="0" smtClean="0"/>
              <a:t>Al igual que el PCA, en el AF se busca reducir un número </a:t>
            </a:r>
            <a:r>
              <a:rPr lang="es-CR" sz="2400" i="1" dirty="0" smtClean="0"/>
              <a:t>p</a:t>
            </a:r>
            <a:r>
              <a:rPr lang="es-CR" sz="2400" dirty="0" smtClean="0"/>
              <a:t> a </a:t>
            </a:r>
            <a:r>
              <a:rPr lang="es-CR" sz="2400" i="1" dirty="0" smtClean="0"/>
              <a:t>k</a:t>
            </a:r>
            <a:r>
              <a:rPr lang="es-CR" sz="2400" dirty="0" smtClean="0"/>
              <a:t> variables. Sin embargo, el AF posee ciertas características que lo hacen el análisis ideal para conocer las estructura subyacente que se desea estudiar. </a:t>
            </a:r>
            <a:r>
              <a:rPr lang="es-CR" sz="2400" dirty="0"/>
              <a:t> </a:t>
            </a:r>
            <a:r>
              <a:rPr lang="es-CR" sz="2400" dirty="0" smtClean="0"/>
              <a:t>Se dice que el AF es más elaborado, y se buscan conclusiones más contundentes, el PCA busca más aproximaciones a nivel gráfico del conjunto de datos.</a:t>
            </a:r>
            <a:endParaRPr lang="es-CR" sz="2400" dirty="0"/>
          </a:p>
          <a:p>
            <a:pPr algn="just"/>
            <a:endParaRPr lang="es-ES" sz="2400" dirty="0"/>
          </a:p>
        </p:txBody>
      </p:sp>
      <p:sp>
        <p:nvSpPr>
          <p:cNvPr id="4" name="Título 1"/>
          <p:cNvSpPr>
            <a:spLocks noGrp="1"/>
          </p:cNvSpPr>
          <p:nvPr>
            <p:ph type="title"/>
          </p:nvPr>
        </p:nvSpPr>
        <p:spPr>
          <a:xfrm>
            <a:off x="838200" y="173536"/>
            <a:ext cx="10515600" cy="793115"/>
          </a:xfrm>
        </p:spPr>
        <p:txBody>
          <a:bodyPr/>
          <a:lstStyle/>
          <a:p>
            <a:pPr algn="ctr"/>
            <a:r>
              <a:rPr lang="es-CR" dirty="0" smtClean="0"/>
              <a:t>Introducción</a:t>
            </a:r>
            <a:endParaRPr lang="es-ES" dirty="0"/>
          </a:p>
        </p:txBody>
      </p:sp>
    </p:spTree>
    <p:extLst>
      <p:ext uri="{BB962C8B-B14F-4D97-AF65-F5344CB8AC3E}">
        <p14:creationId xmlns:p14="http://schemas.microsoft.com/office/powerpoint/2010/main" val="357126336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0154" y="103868"/>
            <a:ext cx="10515600" cy="827949"/>
          </a:xfrm>
        </p:spPr>
        <p:txBody>
          <a:bodyPr/>
          <a:lstStyle/>
          <a:p>
            <a:pPr algn="ctr"/>
            <a:r>
              <a:rPr lang="es-CR" dirty="0" smtClean="0"/>
              <a:t>Diferencias entre el PCA y el AF</a:t>
            </a:r>
            <a:endParaRPr lang="es-ES" dirty="0"/>
          </a:p>
        </p:txBody>
      </p:sp>
      <p:sp>
        <p:nvSpPr>
          <p:cNvPr id="3" name="Marcador de contenido 2"/>
          <p:cNvSpPr>
            <a:spLocks noGrp="1"/>
          </p:cNvSpPr>
          <p:nvPr>
            <p:ph idx="1"/>
          </p:nvPr>
        </p:nvSpPr>
        <p:spPr>
          <a:xfrm>
            <a:off x="193765" y="1120231"/>
            <a:ext cx="8192589" cy="5637620"/>
          </a:xfrm>
        </p:spPr>
        <p:txBody>
          <a:bodyPr>
            <a:normAutofit lnSpcReduction="10000"/>
          </a:bodyPr>
          <a:lstStyle/>
          <a:p>
            <a:pPr algn="just"/>
            <a:r>
              <a:rPr lang="es-CR" sz="2400" dirty="0" smtClean="0"/>
              <a:t>De forma matemática, el PCA </a:t>
            </a:r>
            <a:r>
              <a:rPr lang="es-CR" sz="2400" dirty="0"/>
              <a:t>es </a:t>
            </a:r>
            <a:r>
              <a:rPr lang="es-CR" sz="2400" dirty="0" smtClean="0"/>
              <a:t>un AF pero más </a:t>
            </a:r>
            <a:r>
              <a:rPr lang="es-CR" sz="2400" dirty="0"/>
              <a:t>simple </a:t>
            </a:r>
            <a:r>
              <a:rPr lang="es-CR" sz="2400" dirty="0" smtClean="0"/>
              <a:t>- </a:t>
            </a:r>
            <a:r>
              <a:rPr lang="es-CR" sz="2400" dirty="0"/>
              <a:t>extracción de vector propio, sin </a:t>
            </a:r>
            <a:r>
              <a:rPr lang="es-CR" sz="2400" dirty="0" smtClean="0"/>
              <a:t>rotaciones, y </a:t>
            </a:r>
            <a:r>
              <a:rPr lang="es-CR" sz="2400" dirty="0"/>
              <a:t>sin </a:t>
            </a:r>
            <a:r>
              <a:rPr lang="es-CR" sz="2400" dirty="0" smtClean="0"/>
              <a:t>transformaciones. </a:t>
            </a:r>
          </a:p>
          <a:p>
            <a:pPr algn="just"/>
            <a:endParaRPr lang="es-CR" sz="2400" dirty="0"/>
          </a:p>
          <a:p>
            <a:pPr algn="just"/>
            <a:r>
              <a:rPr lang="es-CR" sz="2400" dirty="0" smtClean="0"/>
              <a:t>Desde </a:t>
            </a:r>
            <a:r>
              <a:rPr lang="es-CR" sz="2400" dirty="0"/>
              <a:t>un punto de vista práctico</a:t>
            </a:r>
            <a:r>
              <a:rPr lang="es-CR" sz="2400" dirty="0" smtClean="0"/>
              <a:t>, el </a:t>
            </a:r>
            <a:r>
              <a:rPr lang="es-CR" sz="2400" dirty="0"/>
              <a:t>PCA es observacional, </a:t>
            </a:r>
            <a:r>
              <a:rPr lang="es-CR" sz="2400" dirty="0" smtClean="0"/>
              <a:t>y el AF </a:t>
            </a:r>
            <a:r>
              <a:rPr lang="es-CR" sz="2400" dirty="0"/>
              <a:t>es un enfoque </a:t>
            </a:r>
            <a:r>
              <a:rPr lang="es-CR" sz="2400" dirty="0" smtClean="0"/>
              <a:t>para un modelo explicito (estructura subyacente).</a:t>
            </a:r>
          </a:p>
          <a:p>
            <a:pPr algn="just"/>
            <a:endParaRPr lang="es-CR" sz="2400" dirty="0"/>
          </a:p>
          <a:p>
            <a:pPr algn="just"/>
            <a:r>
              <a:rPr lang="es-CR" sz="2400" dirty="0" smtClean="0"/>
              <a:t>Mientras que el PCA busca el análisis de la variabilidad, el AF además busca el análisis de la covariancia y correlación entre los factores.</a:t>
            </a:r>
          </a:p>
          <a:p>
            <a:pPr algn="just"/>
            <a:endParaRPr lang="es-CR" sz="2400" dirty="0"/>
          </a:p>
          <a:p>
            <a:pPr algn="just"/>
            <a:r>
              <a:rPr lang="es-CR" sz="2400" dirty="0"/>
              <a:t>El objetivo típico en el análisis factorial es identificar las variables que están relacionadas entre sí, y separarlas de otras (una forma de agrupación variable</a:t>
            </a:r>
            <a:r>
              <a:rPr lang="es-CR" sz="2400" dirty="0" smtClean="0"/>
              <a:t>). Los tipos de rotaciones </a:t>
            </a:r>
            <a:r>
              <a:rPr lang="es-CR" sz="2400" dirty="0"/>
              <a:t>ayudan </a:t>
            </a:r>
            <a:r>
              <a:rPr lang="es-CR" sz="2400" dirty="0" smtClean="0"/>
              <a:t>en este proceso. </a:t>
            </a:r>
            <a:endParaRPr lang="es-ES" sz="2400" dirty="0"/>
          </a:p>
        </p:txBody>
      </p:sp>
    </p:spTree>
    <p:extLst>
      <p:ext uri="{BB962C8B-B14F-4D97-AF65-F5344CB8AC3E}">
        <p14:creationId xmlns:p14="http://schemas.microsoft.com/office/powerpoint/2010/main" val="3616120448"/>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38703"/>
            <a:ext cx="10515600" cy="888908"/>
          </a:xfrm>
        </p:spPr>
        <p:txBody>
          <a:bodyPr/>
          <a:lstStyle/>
          <a:p>
            <a:pPr algn="ctr"/>
            <a:r>
              <a:rPr lang="es-CR" dirty="0" smtClean="0"/>
              <a:t>Etapas de un AF</a:t>
            </a:r>
            <a:endParaRPr lang="es-ES" dirty="0"/>
          </a:p>
        </p:txBody>
      </p:sp>
      <p:sp>
        <p:nvSpPr>
          <p:cNvPr id="3" name="Marcador de contenido 2"/>
          <p:cNvSpPr>
            <a:spLocks noGrp="1"/>
          </p:cNvSpPr>
          <p:nvPr>
            <p:ph idx="1"/>
          </p:nvPr>
        </p:nvSpPr>
        <p:spPr>
          <a:xfrm>
            <a:off x="237308" y="1155064"/>
            <a:ext cx="10515600" cy="5088982"/>
          </a:xfrm>
        </p:spPr>
        <p:txBody>
          <a:bodyPr>
            <a:normAutofit/>
          </a:bodyPr>
          <a:lstStyle/>
          <a:p>
            <a:r>
              <a:rPr lang="es-CR" sz="2400" dirty="0" smtClean="0"/>
              <a:t>Al hacer un AF, se deberían llevar a cabo las siguientes etapas:</a:t>
            </a:r>
          </a:p>
          <a:p>
            <a:pPr marL="0" indent="0">
              <a:buNone/>
            </a:pPr>
            <a:endParaRPr lang="es-CR" sz="2400" dirty="0"/>
          </a:p>
          <a:p>
            <a:pPr marL="457200" indent="-457200">
              <a:buAutoNum type="arabicPeriod"/>
            </a:pPr>
            <a:r>
              <a:rPr lang="es-CR" sz="2400" dirty="0" smtClean="0"/>
              <a:t>Análisis descriptivos de las variables.</a:t>
            </a:r>
          </a:p>
          <a:p>
            <a:pPr marL="457200" indent="-457200">
              <a:buAutoNum type="arabicPeriod"/>
            </a:pPr>
            <a:r>
              <a:rPr lang="es-CR" sz="2400" dirty="0" smtClean="0"/>
              <a:t>Primera aproximación de la composición de los datos.</a:t>
            </a:r>
          </a:p>
          <a:p>
            <a:pPr marL="457200" indent="-457200">
              <a:buAutoNum type="arabicPeriod"/>
            </a:pPr>
            <a:r>
              <a:rPr lang="es-CR" sz="2400" dirty="0" smtClean="0"/>
              <a:t>Determinar el número de las factores.</a:t>
            </a:r>
          </a:p>
          <a:p>
            <a:pPr marL="457200" indent="-457200">
              <a:buAutoNum type="arabicPeriod"/>
            </a:pPr>
            <a:r>
              <a:rPr lang="es-CR" sz="2400" dirty="0" smtClean="0"/>
              <a:t>Segunda aproximación de la composición de los datos.</a:t>
            </a:r>
          </a:p>
          <a:p>
            <a:pPr marL="457200" indent="-457200">
              <a:buAutoNum type="arabicPeriod"/>
            </a:pPr>
            <a:r>
              <a:rPr lang="es-CR" sz="2400" dirty="0" smtClean="0"/>
              <a:t>Ajustar diversos tipos de rotación.</a:t>
            </a:r>
          </a:p>
          <a:p>
            <a:pPr marL="457200" indent="-457200">
              <a:buAutoNum type="arabicPeriod"/>
            </a:pPr>
            <a:r>
              <a:rPr lang="es-CR" sz="2400" dirty="0" smtClean="0"/>
              <a:t>Determinada la mejor solución en el agrupamiento de variables. </a:t>
            </a:r>
            <a:endParaRPr lang="es-ES" sz="2400" dirty="0"/>
          </a:p>
        </p:txBody>
      </p:sp>
    </p:spTree>
    <p:extLst>
      <p:ext uri="{BB962C8B-B14F-4D97-AF65-F5344CB8AC3E}">
        <p14:creationId xmlns:p14="http://schemas.microsoft.com/office/powerpoint/2010/main" val="33355712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94360" y="174170"/>
            <a:ext cx="10515600" cy="758280"/>
          </a:xfrm>
        </p:spPr>
        <p:txBody>
          <a:bodyPr/>
          <a:lstStyle/>
          <a:p>
            <a:pPr algn="ctr"/>
            <a:r>
              <a:rPr lang="es-CR" dirty="0" smtClean="0"/>
              <a:t>Fundamentos del AF</a:t>
            </a:r>
            <a:endParaRPr lang="es-ES" dirty="0"/>
          </a:p>
        </p:txBody>
      </p:sp>
      <p:sp>
        <p:nvSpPr>
          <p:cNvPr id="3" name="Marcador de contenido 2"/>
          <p:cNvSpPr>
            <a:spLocks noGrp="1"/>
          </p:cNvSpPr>
          <p:nvPr>
            <p:ph idx="1"/>
          </p:nvPr>
        </p:nvSpPr>
        <p:spPr>
          <a:xfrm>
            <a:off x="115389" y="1163774"/>
            <a:ext cx="8810897" cy="5506992"/>
          </a:xfrm>
        </p:spPr>
        <p:txBody>
          <a:bodyPr>
            <a:normAutofit/>
          </a:bodyPr>
          <a:lstStyle/>
          <a:p>
            <a:pPr algn="just"/>
            <a:r>
              <a:rPr lang="es-CR" sz="2400" dirty="0" smtClean="0"/>
              <a:t>El propósito del análisis factorial (AF), es describir la estructura de la matriz de variancia y covariancia entre las </a:t>
            </a:r>
            <a:r>
              <a:rPr lang="es-CR" sz="2400" i="1" dirty="0" smtClean="0"/>
              <a:t>p</a:t>
            </a:r>
            <a:r>
              <a:rPr lang="es-CR" sz="2400" dirty="0" smtClean="0"/>
              <a:t> variables de interés.</a:t>
            </a:r>
          </a:p>
          <a:p>
            <a:pPr algn="just"/>
            <a:endParaRPr lang="es-CR" sz="2400" dirty="0"/>
          </a:p>
          <a:p>
            <a:pPr algn="just"/>
            <a:r>
              <a:rPr lang="es-CR" sz="2400" dirty="0" smtClean="0"/>
              <a:t>A la reducción de variables los llamaremos </a:t>
            </a:r>
            <a:r>
              <a:rPr lang="es-CR" sz="2400" b="1" i="1" dirty="0" smtClean="0"/>
              <a:t>factores</a:t>
            </a:r>
            <a:r>
              <a:rPr lang="es-CR" sz="2400" dirty="0" smtClean="0"/>
              <a:t>, variables subyacentes o variables latentes.</a:t>
            </a:r>
          </a:p>
          <a:p>
            <a:pPr algn="just"/>
            <a:endParaRPr lang="es-CR" sz="2400" dirty="0"/>
          </a:p>
          <a:p>
            <a:pPr algn="just"/>
            <a:r>
              <a:rPr lang="es-CR" sz="2400" dirty="0" smtClean="0"/>
              <a:t>La identificación de tales factores simplifica enormemente la descripción y comprensión de los datos multivariados. Se favorece una interpretación más sencilla y sustantiva de los datos.</a:t>
            </a:r>
          </a:p>
          <a:p>
            <a:pPr algn="just"/>
            <a:endParaRPr lang="es-CR" sz="2400" dirty="0"/>
          </a:p>
          <a:p>
            <a:pPr algn="just"/>
            <a:r>
              <a:rPr lang="es-CR" sz="2400" dirty="0" smtClean="0"/>
              <a:t>Las etapas de un ACP y AF son similares, sin embargo, en el AF buscaremos un re-trabajo en la explicación de las variables para cada uno de los factores.</a:t>
            </a:r>
            <a:endParaRPr lang="es-ES" sz="2400" dirty="0"/>
          </a:p>
        </p:txBody>
      </p:sp>
    </p:spTree>
    <p:extLst>
      <p:ext uri="{BB962C8B-B14F-4D97-AF65-F5344CB8AC3E}">
        <p14:creationId xmlns:p14="http://schemas.microsoft.com/office/powerpoint/2010/main" val="4023290546"/>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29993"/>
            <a:ext cx="10515600" cy="871493"/>
          </a:xfrm>
        </p:spPr>
        <p:txBody>
          <a:bodyPr/>
          <a:lstStyle/>
          <a:p>
            <a:pPr algn="ctr"/>
            <a:r>
              <a:rPr lang="es-CR" dirty="0" smtClean="0"/>
              <a:t>Modelo del AF</a:t>
            </a:r>
            <a:endParaRPr lang="es-E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474" y="1111521"/>
                <a:ext cx="10212977" cy="5559245"/>
              </a:xfrm>
            </p:spPr>
            <p:txBody>
              <a:bodyPr>
                <a:normAutofit/>
              </a:bodyPr>
              <a:lstStyle/>
              <a:p>
                <a:r>
                  <a:rPr lang="es-CR" sz="2400" dirty="0" smtClean="0"/>
                  <a:t>Sea </a:t>
                </a:r>
                <a14:m>
                  <m:oMath xmlns:m="http://schemas.openxmlformats.org/officeDocument/2006/math">
                    <m:r>
                      <a:rPr lang="es-CR" sz="2400" b="0" i="1" smtClean="0">
                        <a:latin typeface="Cambria Math" panose="02040503050406030204" pitchFamily="18" charset="0"/>
                      </a:rPr>
                      <m:t>𝑋</m:t>
                    </m:r>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 </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2</m:t>
                        </m:r>
                      </m:sub>
                    </m:sSub>
                    <m:r>
                      <a:rPr lang="es-CR" sz="2400" b="0" i="1" smtClean="0">
                        <a:latin typeface="Cambria Math" panose="02040503050406030204" pitchFamily="18" charset="0"/>
                      </a:rPr>
                      <m:t>, …,</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𝑝</m:t>
                        </m:r>
                      </m:sub>
                    </m:sSub>
                    <m:r>
                      <a:rPr lang="es-CR" sz="2400" b="0" i="1" smtClean="0">
                        <a:latin typeface="Cambria Math" panose="02040503050406030204" pitchFamily="18" charset="0"/>
                      </a:rPr>
                      <m:t>)</m:t>
                    </m:r>
                  </m:oMath>
                </a14:m>
                <a:r>
                  <a:rPr lang="es-ES" sz="2400" dirty="0" smtClean="0"/>
                  <a:t> el vector aleatorio que contiene </a:t>
                </a:r>
                <a:r>
                  <a:rPr lang="es-ES" sz="2400" i="1" dirty="0" smtClean="0"/>
                  <a:t>p</a:t>
                </a:r>
                <a:r>
                  <a:rPr lang="es-ES" sz="2400" dirty="0" smtClean="0"/>
                  <a:t> variables que se pueden medir y observar, con vector de medias </a:t>
                </a:r>
                <a:r>
                  <a:rPr lang="el-GR" sz="2400" dirty="0" smtClean="0">
                    <a:latin typeface="Times New Roman" panose="02020603050405020304" pitchFamily="18" charset="0"/>
                    <a:cs typeface="Times New Roman" panose="02020603050405020304" pitchFamily="18" charset="0"/>
                  </a:rPr>
                  <a:t>μ</a:t>
                </a:r>
                <a:r>
                  <a:rPr lang="es-CR" sz="2400" dirty="0" smtClean="0">
                    <a:latin typeface="Times New Roman" panose="02020603050405020304" pitchFamily="18" charset="0"/>
                    <a:cs typeface="Times New Roman" panose="02020603050405020304" pitchFamily="18" charset="0"/>
                  </a:rPr>
                  <a:t>, y matriz de variancia y covariancia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cs typeface="Times New Roman" panose="02020603050405020304" pitchFamily="18" charset="0"/>
                      </a:rPr>
                      <m:t>Σ</m:t>
                    </m:r>
                  </m:oMath>
                </a14:m>
                <a:r>
                  <a:rPr lang="es-CR" sz="2400" dirty="0" smtClean="0">
                    <a:latin typeface="Times New Roman" panose="02020603050405020304" pitchFamily="18" charset="0"/>
                    <a:cs typeface="Times New Roman" panose="02020603050405020304" pitchFamily="18" charset="0"/>
                  </a:rPr>
                  <a:t>.</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El modelo se puede presentar de forma matricial como </a:t>
                </a:r>
                <a14:m>
                  <m:oMath xmlns:m="http://schemas.openxmlformats.org/officeDocument/2006/math">
                    <m:r>
                      <a:rPr lang="es-CR" sz="2400" b="0" i="1" smtClean="0">
                        <a:latin typeface="Cambria Math" panose="02040503050406030204" pitchFamily="18" charset="0"/>
                        <a:cs typeface="Times New Roman" panose="02020603050405020304" pitchFamily="18" charset="0"/>
                      </a:rPr>
                      <m:t>𝑋</m:t>
                    </m:r>
                    <m:r>
                      <a:rPr lang="es-CR" sz="2400" b="0" i="1" smtClean="0">
                        <a:latin typeface="Cambria Math" panose="02040503050406030204" pitchFamily="18" charset="0"/>
                        <a:cs typeface="Times New Roman" panose="02020603050405020304" pitchFamily="18" charset="0"/>
                      </a:rPr>
                      <m:t>−</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𝜇</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𝐿𝐹</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𝜀</m:t>
                    </m:r>
                  </m:oMath>
                </a14:m>
                <a:endParaRPr lang="es-ES" sz="2400" dirty="0" smtClean="0"/>
              </a:p>
              <a:p>
                <a:pPr marL="0" indent="0">
                  <a:buNone/>
                </a:pPr>
                <a:r>
                  <a:rPr lang="es-CR" sz="2400" dirty="0"/>
                  <a:t>d</a:t>
                </a:r>
                <a:r>
                  <a:rPr lang="es-CR" sz="2400" dirty="0" smtClean="0"/>
                  <a:t>onde,</a:t>
                </a:r>
              </a:p>
              <a:p>
                <a:pPr marL="0" indent="0">
                  <a:buNone/>
                </a:pPr>
                <a14:m>
                  <m:oMath xmlns:m="http://schemas.openxmlformats.org/officeDocument/2006/math">
                    <m:r>
                      <a:rPr lang="es-CR" sz="2400" i="1">
                        <a:latin typeface="Cambria Math" panose="02040503050406030204" pitchFamily="18" charset="0"/>
                        <a:ea typeface="Cambria Math" panose="02040503050406030204" pitchFamily="18" charset="0"/>
                        <a:cs typeface="Times New Roman" panose="02020603050405020304" pitchFamily="18" charset="0"/>
                      </a:rPr>
                      <m:t>𝐿</m:t>
                    </m:r>
                  </m:oMath>
                </a14:m>
                <a:r>
                  <a:rPr lang="es-ES" sz="2400" dirty="0" smtClean="0"/>
                  <a:t> representan las cargas factoriales </a:t>
                </a:r>
              </a:p>
              <a:p>
                <a:pPr marL="0" indent="0">
                  <a:buNone/>
                </a:pPr>
                <a14:m>
                  <m:oMath xmlns:m="http://schemas.openxmlformats.org/officeDocument/2006/math">
                    <m:r>
                      <a:rPr lang="es-CR" sz="2400" i="1">
                        <a:latin typeface="Cambria Math" panose="02040503050406030204" pitchFamily="18" charset="0"/>
                        <a:ea typeface="Cambria Math" panose="02040503050406030204" pitchFamily="18" charset="0"/>
                        <a:cs typeface="Times New Roman" panose="02020603050405020304" pitchFamily="18" charset="0"/>
                      </a:rPr>
                      <m:t>𝐹</m:t>
                    </m:r>
                  </m:oMath>
                </a14:m>
                <a:r>
                  <a:rPr lang="es-CR" sz="2400" dirty="0" smtClean="0"/>
                  <a:t> es el vector de factores comunes</a:t>
                </a:r>
              </a:p>
              <a:p>
                <a:pPr marL="0" indent="0">
                  <a:buNone/>
                </a:pPr>
                <a14:m>
                  <m:oMath xmlns:m="http://schemas.openxmlformats.org/officeDocument/2006/math">
                    <m:r>
                      <a:rPr lang="es-CR" sz="2400" i="1">
                        <a:latin typeface="Cambria Math" panose="02040503050406030204" pitchFamily="18" charset="0"/>
                        <a:ea typeface="Cambria Math" panose="02040503050406030204" pitchFamily="18" charset="0"/>
                        <a:cs typeface="Times New Roman" panose="02020603050405020304" pitchFamily="18" charset="0"/>
                      </a:rPr>
                      <m:t>𝜀</m:t>
                    </m:r>
                  </m:oMath>
                </a14:m>
                <a:r>
                  <a:rPr lang="es-ES" sz="2400" dirty="0" smtClean="0"/>
                  <a:t> es el vector de factores específicos </a:t>
                </a:r>
              </a:p>
              <a:p>
                <a:pPr marL="0" indent="0">
                  <a:buNone/>
                </a:pPr>
                <a14:m>
                  <m:oMath xmlns:m="http://schemas.openxmlformats.org/officeDocument/2006/math">
                    <m:r>
                      <a:rPr lang="es-CR" sz="2400" i="1">
                        <a:latin typeface="Cambria Math" panose="02040503050406030204" pitchFamily="18" charset="0"/>
                        <a:cs typeface="Times New Roman" panose="02020603050405020304" pitchFamily="18" charset="0"/>
                      </a:rPr>
                      <m:t>𝑋</m:t>
                    </m:r>
                    <m:r>
                      <a:rPr lang="es-CR" sz="2400" i="1">
                        <a:latin typeface="Cambria Math" panose="02040503050406030204" pitchFamily="18" charset="0"/>
                        <a:cs typeface="Times New Roman" panose="02020603050405020304" pitchFamily="18" charset="0"/>
                      </a:rPr>
                      <m:t>−</m:t>
                    </m:r>
                    <m:r>
                      <a:rPr lang="es-CR" sz="2400" i="1">
                        <a:latin typeface="Cambria Math" panose="02040503050406030204" pitchFamily="18" charset="0"/>
                        <a:ea typeface="Cambria Math" panose="02040503050406030204" pitchFamily="18" charset="0"/>
                        <a:cs typeface="Times New Roman" panose="02020603050405020304" pitchFamily="18" charset="0"/>
                      </a:rPr>
                      <m:t>𝜇</m:t>
                    </m:r>
                  </m:oMath>
                </a14:m>
                <a:r>
                  <a:rPr lang="es-ES" sz="2400" dirty="0" smtClean="0"/>
                  <a:t> es la variable menos su media</a:t>
                </a:r>
              </a:p>
              <a:p>
                <a:pPr marL="0" indent="0">
                  <a:buNone/>
                </a:pPr>
                <a:endParaRPr lang="es-CR" sz="2400" dirty="0"/>
              </a:p>
              <a:p>
                <a:r>
                  <a:rPr lang="es-CR" sz="2400" dirty="0" smtClean="0"/>
                  <a:t>¿Por qué utilizamos la forma </a:t>
                </a:r>
                <a14:m>
                  <m:oMath xmlns:m="http://schemas.openxmlformats.org/officeDocument/2006/math">
                    <m:r>
                      <a:rPr lang="es-CR" sz="2400" b="0" i="0" smtClean="0">
                        <a:latin typeface="Cambria Math" panose="02040503050406030204" pitchFamily="18" charset="0"/>
                        <a:cs typeface="Times New Roman" panose="02020603050405020304" pitchFamily="18" charset="0"/>
                      </a:rPr>
                      <m:t>"</m:t>
                    </m:r>
                    <m:r>
                      <a:rPr lang="es-CR" sz="2400" i="1">
                        <a:latin typeface="Cambria Math" panose="02040503050406030204" pitchFamily="18" charset="0"/>
                        <a:cs typeface="Times New Roman" panose="02020603050405020304" pitchFamily="18" charset="0"/>
                      </a:rPr>
                      <m:t>𝑋</m:t>
                    </m:r>
                    <m:r>
                      <a:rPr lang="es-CR" sz="2400" i="1">
                        <a:latin typeface="Cambria Math" panose="02040503050406030204" pitchFamily="18" charset="0"/>
                        <a:cs typeface="Times New Roman" panose="02020603050405020304" pitchFamily="18" charset="0"/>
                      </a:rPr>
                      <m:t>−</m:t>
                    </m:r>
                    <m:r>
                      <a:rPr lang="es-CR" sz="2400" i="1">
                        <a:latin typeface="Cambria Math" panose="02040503050406030204" pitchFamily="18" charset="0"/>
                        <a:ea typeface="Cambria Math" panose="02040503050406030204" pitchFamily="18" charset="0"/>
                        <a:cs typeface="Times New Roman" panose="02020603050405020304" pitchFamily="18" charset="0"/>
                      </a:rPr>
                      <m:t>𝜇</m:t>
                    </m:r>
                    <m:r>
                      <a:rPr lang="es-CR" sz="2400" i="1">
                        <a:latin typeface="Cambria Math" panose="02040503050406030204" pitchFamily="18" charset="0"/>
                        <a:ea typeface="Cambria Math" panose="02040503050406030204" pitchFamily="18" charset="0"/>
                        <a:cs typeface="Times New Roman" panose="02020603050405020304" pitchFamily="18" charset="0"/>
                      </a:rPr>
                      <m:t>=…"</m:t>
                    </m:r>
                  </m:oMath>
                </a14:m>
                <a:r>
                  <a:rPr lang="es-ES" sz="2400" dirty="0" smtClean="0"/>
                  <a:t>, y no </a:t>
                </a:r>
                <a14:m>
                  <m:oMath xmlns:m="http://schemas.openxmlformats.org/officeDocument/2006/math">
                    <m:r>
                      <a:rPr lang="es-CR" sz="2400" b="0" i="0" smtClean="0">
                        <a:latin typeface="Cambria Math" panose="02040503050406030204" pitchFamily="18" charset="0"/>
                        <a:cs typeface="Times New Roman" panose="02020603050405020304" pitchFamily="18" charset="0"/>
                      </a:rPr>
                      <m:t>"</m:t>
                    </m:r>
                    <m:r>
                      <a:rPr lang="es-CR" sz="2400" i="1">
                        <a:latin typeface="Cambria Math" panose="02040503050406030204" pitchFamily="18" charset="0"/>
                        <a:cs typeface="Times New Roman" panose="02020603050405020304" pitchFamily="18" charset="0"/>
                      </a:rPr>
                      <m:t>𝑋</m:t>
                    </m:r>
                    <m:r>
                      <a:rPr lang="es-CR" sz="2400" b="0" i="0" smtClean="0">
                        <a:latin typeface="Cambria Math" panose="02040503050406030204" pitchFamily="18" charset="0"/>
                        <a:cs typeface="Times New Roman" panose="02020603050405020304" pitchFamily="18" charset="0"/>
                      </a:rPr>
                      <m:t>=…"</m:t>
                    </m:r>
                  </m:oMath>
                </a14:m>
                <a:r>
                  <a:rPr lang="es-ES" sz="2400" dirty="0" smtClean="0"/>
                  <a:t> ? </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474" y="1111521"/>
                <a:ext cx="10212977" cy="5559245"/>
              </a:xfrm>
              <a:blipFill rotWithShape="0">
                <a:blip r:embed="rId2"/>
                <a:stretch>
                  <a:fillRect l="-895" t="-1316"/>
                </a:stretch>
              </a:blipFill>
            </p:spPr>
            <p:txBody>
              <a:bodyPr/>
              <a:lstStyle/>
              <a:p>
                <a:r>
                  <a:rPr lang="es-ES">
                    <a:noFill/>
                  </a:rPr>
                  <a:t> </a:t>
                </a:r>
              </a:p>
            </p:txBody>
          </p:sp>
        </mc:Fallback>
      </mc:AlternateContent>
    </p:spTree>
    <p:extLst>
      <p:ext uri="{BB962C8B-B14F-4D97-AF65-F5344CB8AC3E}">
        <p14:creationId xmlns:p14="http://schemas.microsoft.com/office/powerpoint/2010/main" val="1187070953"/>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50221" y="1041853"/>
                <a:ext cx="10691950" cy="5689873"/>
              </a:xfrm>
            </p:spPr>
            <p:txBody>
              <a:bodyPr>
                <a:normAutofit/>
              </a:bodyPr>
              <a:lstStyle/>
              <a:p>
                <a:r>
                  <a:rPr lang="es-CR" sz="2400" dirty="0" smtClean="0"/>
                  <a:t>Un ejemplo de un análisis factorial de un solo factor, con </a:t>
                </a:r>
                <a:r>
                  <a:rPr lang="es-CR" sz="2400" i="1" dirty="0" smtClean="0"/>
                  <a:t>p</a:t>
                </a:r>
                <a:r>
                  <a:rPr lang="es-CR" sz="2400" dirty="0" smtClean="0"/>
                  <a:t> variables es el siguiente:</a:t>
                </a:r>
              </a:p>
              <a:p>
                <a:pPr marL="0" indent="0">
                  <a:buNone/>
                </a:pPr>
                <a:endParaRPr lang="es-CR"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b="0" i="1" smtClean="0">
                              <a:latin typeface="Cambria Math"/>
                            </a:rPr>
                          </m:ctrlPr>
                        </m:sSubPr>
                        <m:e>
                          <m:r>
                            <m:rPr>
                              <m:sty m:val="p"/>
                            </m:rPr>
                            <a:rPr lang="el-GR" sz="2400" b="0" i="1" smtClean="0">
                              <a:latin typeface="Cambria Math" panose="02040503050406030204" pitchFamily="18" charset="0"/>
                            </a:rPr>
                            <m:t>μ</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𝐿</m:t>
                          </m:r>
                        </m:e>
                        <m:sub>
                          <m:r>
                            <a:rPr lang="es-CR" sz="2400" b="0" i="1" smtClean="0">
                              <a:latin typeface="Cambria Math" panose="02040503050406030204" pitchFamily="18" charset="0"/>
                            </a:rPr>
                            <m:t>1</m:t>
                          </m:r>
                        </m:sub>
                      </m:sSub>
                      <m:sSub>
                        <m:sSubPr>
                          <m:ctrlPr>
                            <a:rPr lang="es-CR" sz="2400" b="0" i="1" smtClean="0">
                              <a:latin typeface="Cambria Math"/>
                            </a:rPr>
                          </m:ctrlPr>
                        </m:sSubPr>
                        <m:e>
                          <m:r>
                            <a:rPr lang="es-CR" sz="2400" b="0" i="1" smtClean="0">
                              <a:latin typeface="Cambria Math" panose="02040503050406030204" pitchFamily="18" charset="0"/>
                            </a:rPr>
                            <m:t>𝐹</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b="0" i="1" smtClean="0">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oMath>
                  </m:oMathPara>
                </a14:m>
                <a:endParaRPr lang="es-ES"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2</m:t>
                          </m:r>
                        </m:sub>
                      </m:sSub>
                      <m:sSub>
                        <m:sSubPr>
                          <m:ctrlPr>
                            <a:rPr lang="es-CR" sz="2400" b="0" i="1" smtClean="0">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2</m:t>
                          </m:r>
                        </m:sub>
                      </m:sSub>
                    </m:oMath>
                  </m:oMathPara>
                </a14:m>
                <a:endParaRPr lang="es-ES" sz="2400" dirty="0"/>
              </a:p>
              <a:p>
                <a:pPr marL="0" indent="0">
                  <a:buNone/>
                </a:pPr>
                <a:r>
                  <a:rPr lang="es-CR" sz="2400" dirty="0" smtClean="0"/>
                  <a:t>               ….</a:t>
                </a:r>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𝑝</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𝑝</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𝑝</m:t>
                          </m:r>
                        </m:sub>
                      </m:sSub>
                      <m:sSub>
                        <m:sSubPr>
                          <m:ctrlPr>
                            <a:rPr lang="es-CR" sz="2400" b="0" i="1" smtClean="0">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𝑝</m:t>
                          </m:r>
                        </m:sub>
                      </m:sSub>
                    </m:oMath>
                  </m:oMathPara>
                </a14:m>
                <a:endParaRPr lang="es-CR" sz="2400" dirty="0" smtClean="0"/>
              </a:p>
              <a:p>
                <a:pPr marL="0" indent="0">
                  <a:buNone/>
                </a:pPr>
                <a:endParaRPr lang="es-CR" sz="2400" dirty="0"/>
              </a:p>
              <a:p>
                <a:r>
                  <a:rPr lang="es-CR" sz="2400" dirty="0" smtClean="0"/>
                  <a:t>Un ejemplo de un modelo factorial con 3 variables y 2 factores es el siguiente:</a:t>
                </a:r>
              </a:p>
              <a:p>
                <a:endParaRPr lang="es-CR" sz="2400" dirty="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1</m:t>
                          </m:r>
                          <m:r>
                            <a:rPr lang="es-CR" sz="2400" i="1">
                              <a:latin typeface="Cambria Math" panose="02040503050406030204" pitchFamily="18" charset="0"/>
                            </a:rPr>
                            <m:t>1</m:t>
                          </m:r>
                        </m:sub>
                      </m:sSub>
                      <m:sSub>
                        <m:sSubPr>
                          <m:ctrlPr>
                            <a:rPr lang="es-CR" sz="2400" b="0" i="1" smtClean="0">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1</m:t>
                          </m:r>
                        </m:sub>
                      </m:sSub>
                      <m:r>
                        <a:rPr lang="es-CR" sz="2400" i="1">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𝐿</m:t>
                          </m:r>
                        </m:e>
                        <m:sub>
                          <m:r>
                            <a:rPr lang="es-CR" sz="2400" b="0" i="1" smtClean="0">
                              <a:latin typeface="Cambria Math" panose="02040503050406030204" pitchFamily="18" charset="0"/>
                            </a:rPr>
                            <m:t>12</m:t>
                          </m:r>
                        </m:sub>
                      </m:sSub>
                      <m:sSub>
                        <m:sSubPr>
                          <m:ctrlPr>
                            <a:rPr lang="es-CR" sz="2400" b="0" i="1" smtClean="0">
                              <a:latin typeface="Cambria Math"/>
                            </a:rPr>
                          </m:ctrlPr>
                        </m:sSubPr>
                        <m:e>
                          <m:r>
                            <a:rPr lang="es-CR" sz="2400" b="0" i="1" smtClean="0">
                              <a:latin typeface="Cambria Math" panose="02040503050406030204" pitchFamily="18" charset="0"/>
                            </a:rPr>
                            <m:t>𝐹</m:t>
                          </m:r>
                        </m:e>
                        <m:sub>
                          <m:r>
                            <a:rPr lang="es-CR" sz="2400" b="0" i="1" smtClean="0">
                              <a:latin typeface="Cambria Math" panose="02040503050406030204" pitchFamily="18" charset="0"/>
                            </a:rPr>
                            <m:t>2</m:t>
                          </m:r>
                        </m:sub>
                      </m:sSub>
                      <m:r>
                        <a:rPr lang="es-CR" sz="2400" b="0" i="1" smtClean="0">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i="1">
                              <a:latin typeface="Cambria Math" panose="02040503050406030204" pitchFamily="18" charset="0"/>
                              <a:ea typeface="Cambria Math" panose="02040503050406030204" pitchFamily="18" charset="0"/>
                              <a:cs typeface="Times New Roman" panose="02020603050405020304" pitchFamily="18" charset="0"/>
                            </a:rPr>
                            <m:t>1</m:t>
                          </m:r>
                        </m:sub>
                      </m:sSub>
                    </m:oMath>
                  </m:oMathPara>
                </a14:m>
                <a:endParaRPr lang="es-CR"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2</m:t>
                          </m:r>
                          <m:r>
                            <a:rPr lang="es-CR" sz="2400" i="1">
                              <a:latin typeface="Cambria Math" panose="02040503050406030204" pitchFamily="18" charset="0"/>
                            </a:rPr>
                            <m:t>1</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2</m:t>
                          </m:r>
                          <m:r>
                            <a:rPr lang="es-CR" sz="2400" i="1">
                              <a:latin typeface="Cambria Math" panose="02040503050406030204" pitchFamily="18" charset="0"/>
                            </a:rPr>
                            <m:t>2</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2</m:t>
                          </m:r>
                        </m:sub>
                      </m:sSub>
                    </m:oMath>
                  </m:oMathPara>
                </a14:m>
                <a:endParaRPr lang="es-CR"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3</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3</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3</m:t>
                          </m:r>
                          <m:r>
                            <a:rPr lang="es-CR" sz="2400" i="1">
                              <a:latin typeface="Cambria Math" panose="02040503050406030204" pitchFamily="18" charset="0"/>
                            </a:rPr>
                            <m:t>1</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3</m:t>
                          </m:r>
                          <m:r>
                            <a:rPr lang="es-CR" sz="2400" i="1">
                              <a:latin typeface="Cambria Math" panose="02040503050406030204" pitchFamily="18" charset="0"/>
                            </a:rPr>
                            <m:t>2</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i="1">
                              <a:latin typeface="Cambria Math" panose="02040503050406030204" pitchFamily="18" charset="0"/>
                              <a:ea typeface="Cambria Math" panose="02040503050406030204" pitchFamily="18" charset="0"/>
                              <a:cs typeface="Times New Roman" panose="02020603050405020304" pitchFamily="18" charset="0"/>
                            </a:rPr>
                            <m:t>2</m:t>
                          </m:r>
                        </m:sub>
                      </m:sSub>
                    </m:oMath>
                  </m:oMathPara>
                </a14:m>
                <a:endParaRPr lang="es-CR" sz="2400" dirty="0" smtClean="0"/>
              </a:p>
              <a:p>
                <a:pPr marL="0" indent="0">
                  <a:buNone/>
                </a:pPr>
                <a:endParaRPr lang="es-CR"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50221" y="1041853"/>
                <a:ext cx="10691950" cy="5689873"/>
              </a:xfrm>
              <a:blipFill rotWithShape="0">
                <a:blip r:embed="rId2"/>
                <a:stretch>
                  <a:fillRect l="-798" t="-1501" r="-684"/>
                </a:stretch>
              </a:blipFill>
            </p:spPr>
            <p:txBody>
              <a:bodyPr/>
              <a:lstStyle/>
              <a:p>
                <a:r>
                  <a:rPr lang="es-ES">
                    <a:noFill/>
                  </a:rPr>
                  <a:t> </a:t>
                </a:r>
              </a:p>
            </p:txBody>
          </p:sp>
        </mc:Fallback>
      </mc:AlternateContent>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1026266449"/>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474" y="1442448"/>
                <a:ext cx="10515600" cy="4958352"/>
              </a:xfrm>
            </p:spPr>
            <p:txBody>
              <a:bodyPr>
                <a:normAutofit/>
              </a:bodyPr>
              <a:lstStyle/>
              <a:p>
                <a:pPr algn="just"/>
                <a:r>
                  <a:rPr lang="es-CR" sz="2400" dirty="0" smtClean="0"/>
                  <a:t>Para los datos: suponemos que hay p variables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2</m:t>
                        </m:r>
                      </m:sub>
                    </m:sSub>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𝑝</m:t>
                        </m:r>
                      </m:sub>
                    </m:sSub>
                  </m:oMath>
                </a14:m>
                <a:r>
                  <a:rPr lang="es-ES" sz="2400" dirty="0" smtClean="0"/>
                  <a:t> que están estandarizadas.</a:t>
                </a:r>
              </a:p>
              <a:p>
                <a:pPr algn="just"/>
                <a:endParaRPr lang="es-CR" sz="2400" dirty="0"/>
              </a:p>
              <a:p>
                <a:pPr algn="just"/>
                <a:r>
                  <a:rPr lang="es-CR" sz="2400" dirty="0" smtClean="0"/>
                  <a:t>Se pueden estimar los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𝑘</m:t>
                        </m:r>
                      </m:sub>
                    </m:sSub>
                  </m:oMath>
                </a14:m>
                <a:r>
                  <a:rPr lang="es-ES" sz="2400" dirty="0" smtClean="0"/>
                  <a:t> factores por diversas técnicas: componentes principales, máxima verosimilitud, mínimos cuadrados, etc.</a:t>
                </a:r>
              </a:p>
              <a:p>
                <a:pPr algn="just"/>
                <a:endParaRPr lang="es-CR" sz="2400" dirty="0"/>
              </a:p>
              <a:p>
                <a:pPr algn="just"/>
                <a:r>
                  <a:rPr lang="es-CR" sz="2400" dirty="0" smtClean="0"/>
                  <a:t>Es importante determinar el número de factores que se deben elegir.</a:t>
                </a:r>
              </a:p>
              <a:p>
                <a:pPr algn="just"/>
                <a:endParaRPr lang="es-CR" sz="2400" dirty="0"/>
              </a:p>
              <a:p>
                <a:pPr algn="just"/>
                <a:r>
                  <a:rPr lang="es-CR" sz="2400" dirty="0" smtClean="0"/>
                  <a:t>En el tema de PCA se escogían casi siempre 2 componentes para mejorar la representación gráfica. Acá vamos a elegir los factores según otros criterios.</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474" y="1442448"/>
                <a:ext cx="10515600" cy="4958352"/>
              </a:xfrm>
              <a:blipFill rotWithShape="0">
                <a:blip r:embed="rId2"/>
                <a:stretch>
                  <a:fillRect l="-754" t="-1476" r="-928"/>
                </a:stretch>
              </a:blipFill>
            </p:spPr>
            <p:txBody>
              <a:bodyPr/>
              <a:lstStyle/>
              <a:p>
                <a:r>
                  <a:rPr lang="es-ES">
                    <a:noFill/>
                  </a:rPr>
                  <a:t> </a:t>
                </a:r>
              </a:p>
            </p:txBody>
          </p:sp>
        </mc:Fallback>
      </mc:AlternateContent>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1476792019"/>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80852" y="1094105"/>
            <a:ext cx="10515600" cy="5376364"/>
          </a:xfrm>
        </p:spPr>
        <p:txBody>
          <a:bodyPr>
            <a:normAutofit/>
          </a:bodyPr>
          <a:lstStyle/>
          <a:p>
            <a:r>
              <a:rPr lang="es-CR" sz="2400" dirty="0" smtClean="0"/>
              <a:t>Los factores se pueden elegir según los criterios de:</a:t>
            </a:r>
          </a:p>
          <a:p>
            <a:endParaRPr lang="es-CR" sz="2400" dirty="0"/>
          </a:p>
          <a:p>
            <a:pPr marL="457200" indent="-457200" algn="just">
              <a:buAutoNum type="arabicPeriod"/>
            </a:pPr>
            <a:r>
              <a:rPr lang="es-CR" sz="2400" dirty="0" smtClean="0"/>
              <a:t>Elegir los k factores de modo que la matriz residual sea lo más cercana a 0. Esto es, que haya una equivalencia al encontrar k factores que haga muy pequeña la variancia explicada.</a:t>
            </a:r>
          </a:p>
          <a:p>
            <a:pPr marL="457200" indent="-457200" algn="just">
              <a:buAutoNum type="arabicPeriod"/>
            </a:pPr>
            <a:endParaRPr lang="es-CR" sz="2400" dirty="0"/>
          </a:p>
          <a:p>
            <a:pPr marL="457200" indent="-457200" algn="just">
              <a:buAutoNum type="arabicPeriod"/>
            </a:pPr>
            <a:r>
              <a:rPr lang="es-CR" sz="2400" dirty="0" smtClean="0"/>
              <a:t>Retener tantos factores que sean adecuados para explicar una proporción adecuada de la variancia total.</a:t>
            </a:r>
          </a:p>
          <a:p>
            <a:pPr marL="457200" indent="-457200" algn="just">
              <a:buAutoNum type="arabicPeriod"/>
            </a:pPr>
            <a:endParaRPr lang="es-CR" sz="2400" dirty="0"/>
          </a:p>
          <a:p>
            <a:pPr marL="457200" indent="-457200" algn="just">
              <a:buAutoNum type="arabicPeriod"/>
            </a:pPr>
            <a:r>
              <a:rPr lang="es-CR" sz="2400" dirty="0" smtClean="0"/>
              <a:t>Tomar los factores que tengan raíces características superiores a la unidad.</a:t>
            </a:r>
          </a:p>
          <a:p>
            <a:pPr marL="457200" indent="-457200" algn="just">
              <a:buAutoNum type="arabicPeriod"/>
            </a:pPr>
            <a:endParaRPr lang="es-CR" sz="2400" dirty="0"/>
          </a:p>
          <a:p>
            <a:pPr marL="457200" indent="-457200" algn="just">
              <a:buAutoNum type="arabicPeriod"/>
            </a:pPr>
            <a:r>
              <a:rPr lang="es-CR" sz="2400" dirty="0" smtClean="0"/>
              <a:t>Utilizar el gráfico de sedimentación y valorar donde está la máxima caída.</a:t>
            </a:r>
            <a:endParaRPr lang="es-ES" sz="2400" dirty="0"/>
          </a:p>
        </p:txBody>
      </p:sp>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229948398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90154" y="69033"/>
            <a:ext cx="10515600" cy="871493"/>
          </a:xfrm>
        </p:spPr>
        <p:txBody>
          <a:bodyPr/>
          <a:lstStyle/>
          <a:p>
            <a:pPr algn="ctr"/>
            <a:r>
              <a:rPr lang="es-CR" dirty="0" smtClean="0"/>
              <a:t>Gráfico de sedimentación</a:t>
            </a:r>
            <a:endParaRPr lang="es-ES" dirty="0"/>
          </a:p>
        </p:txBody>
      </p:sp>
      <p:sp>
        <p:nvSpPr>
          <p:cNvPr id="6" name="CuadroTexto 5"/>
          <p:cNvSpPr txBox="1"/>
          <p:nvPr/>
        </p:nvSpPr>
        <p:spPr>
          <a:xfrm>
            <a:off x="7234645" y="1985554"/>
            <a:ext cx="4417424" cy="954107"/>
          </a:xfrm>
          <a:prstGeom prst="rect">
            <a:avLst/>
          </a:prstGeom>
          <a:noFill/>
        </p:spPr>
        <p:txBody>
          <a:bodyPr wrap="square" rtlCol="0">
            <a:spAutoFit/>
          </a:bodyPr>
          <a:lstStyle/>
          <a:p>
            <a:pPr algn="ctr"/>
            <a:r>
              <a:rPr lang="es-CR" sz="2800" dirty="0" smtClean="0"/>
              <a:t>¿Cuál es el número óptimo de factores?</a:t>
            </a:r>
            <a:endParaRPr lang="es-ES" sz="2800" dirty="0"/>
          </a:p>
        </p:txBody>
      </p:sp>
      <p:pic>
        <p:nvPicPr>
          <p:cNvPr id="2050" name="Picture 2" descr="Resultado de imagen para Scree plot"/>
          <p:cNvPicPr>
            <a:picLocks noChangeAspect="1" noChangeArrowheads="1"/>
          </p:cNvPicPr>
          <p:nvPr/>
        </p:nvPicPr>
        <p:blipFill rotWithShape="1">
          <a:blip r:embed="rId2">
            <a:extLst>
              <a:ext uri="{28A0092B-C50C-407E-A947-70E740481C1C}">
                <a14:useLocalDpi xmlns:a14="http://schemas.microsoft.com/office/drawing/2010/main" val="0"/>
              </a:ext>
            </a:extLst>
          </a:blip>
          <a:srcRect r="37358" b="14088"/>
          <a:stretch/>
        </p:blipFill>
        <p:spPr bwMode="auto">
          <a:xfrm>
            <a:off x="599713" y="1436914"/>
            <a:ext cx="6142748" cy="5050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285454"/>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98269" y="1285693"/>
                <a:ext cx="10515600" cy="5428615"/>
              </a:xfrm>
            </p:spPr>
            <p:txBody>
              <a:bodyPr>
                <a:normAutofit/>
              </a:bodyPr>
              <a:lstStyle/>
              <a:p>
                <a:r>
                  <a:rPr lang="es-CR" sz="2400" dirty="0" smtClean="0"/>
                  <a:t>Para el cálculo de las saturaciones (o las cargas factoriales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𝑖</m:t>
                        </m:r>
                      </m:sub>
                    </m:sSub>
                  </m:oMath>
                </a14:m>
                <a:r>
                  <a:rPr lang="es-ES" sz="2400" dirty="0" smtClean="0"/>
                  <a:t>), recordar que son los coeficientes asociados a los factores.</a:t>
                </a:r>
              </a:p>
              <a:p>
                <a:endParaRPr lang="es-CR" sz="2400" dirty="0"/>
              </a:p>
              <a:p>
                <a:r>
                  <a:rPr lang="es-CR" sz="2400" dirty="0" smtClean="0"/>
                  <a:t>Las cargas se pueden ver como las correlaciones entre las variables (cuando estos se consideran ortogonales):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𝐿</m:t>
                        </m:r>
                      </m:e>
                      <m:sub>
                        <m:r>
                          <a:rPr lang="es-CR" sz="2400" i="1">
                            <a:latin typeface="Cambria Math" panose="02040503050406030204" pitchFamily="18" charset="0"/>
                          </a:rPr>
                          <m:t>𝑖</m:t>
                        </m:r>
                        <m:r>
                          <a:rPr lang="es-CR" sz="2400" b="0" i="1" smtClean="0">
                            <a:latin typeface="Cambria Math" panose="02040503050406030204" pitchFamily="18" charset="0"/>
                          </a:rPr>
                          <m:t>𝑗</m:t>
                        </m:r>
                      </m:sub>
                    </m:sSub>
                    <m:r>
                      <a:rPr lang="es-CR" sz="2400" b="0" i="1" smtClean="0">
                        <a:latin typeface="Cambria Math" panose="02040503050406030204" pitchFamily="18" charset="0"/>
                      </a:rPr>
                      <m:t>=</m:t>
                    </m:r>
                    <m:r>
                      <a:rPr lang="es-CR" sz="2400" b="0" i="1" smtClean="0">
                        <a:latin typeface="Cambria Math" panose="02040503050406030204" pitchFamily="18" charset="0"/>
                      </a:rPr>
                      <m:t>𝐶𝑜𝑟</m:t>
                    </m:r>
                    <m:r>
                      <a:rPr lang="es-CR" sz="2400" b="0" i="1" smtClean="0">
                        <a:latin typeface="Cambria Math" panose="02040503050406030204" pitchFamily="18" charset="0"/>
                      </a:rPr>
                      <m:t> (</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𝑖</m:t>
                        </m:r>
                      </m:sub>
                    </m:sSub>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𝑌</m:t>
                        </m:r>
                      </m:e>
                      <m:sub>
                        <m:r>
                          <a:rPr lang="es-CR" sz="2400" b="0" i="1" smtClean="0">
                            <a:latin typeface="Cambria Math" panose="02040503050406030204" pitchFamily="18" charset="0"/>
                          </a:rPr>
                          <m:t>𝑗</m:t>
                        </m:r>
                      </m:sub>
                    </m:sSub>
                    <m:r>
                      <a:rPr lang="es-CR" sz="2400" b="0" i="1" smtClean="0">
                        <a:latin typeface="Cambria Math" panose="02040503050406030204" pitchFamily="18" charset="0"/>
                      </a:rPr>
                      <m:t>)</m:t>
                    </m:r>
                  </m:oMath>
                </a14:m>
                <a:endParaRPr lang="es-ES" sz="2400" dirty="0" smtClean="0"/>
              </a:p>
              <a:p>
                <a:endParaRPr lang="es-CR" sz="2400" dirty="0"/>
              </a:p>
              <a:p>
                <a:r>
                  <a:rPr lang="es-CR" sz="2400" dirty="0" smtClean="0"/>
                  <a:t>Para conocer la porción de la variancia de la variable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𝑖</m:t>
                        </m:r>
                      </m:sub>
                    </m:sSub>
                  </m:oMath>
                </a14:m>
                <a:r>
                  <a:rPr lang="es-ES" sz="2400" dirty="0" smtClean="0"/>
                  <a:t> explicada por el factor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𝑘</m:t>
                        </m:r>
                      </m:sub>
                    </m:sSub>
                  </m:oMath>
                </a14:m>
                <a:r>
                  <a:rPr lang="es-ES" sz="2400" dirty="0" smtClean="0"/>
                  <a:t>, utilizamos la </a:t>
                </a:r>
                <a:r>
                  <a:rPr lang="es-ES" sz="2400" dirty="0" err="1" smtClean="0"/>
                  <a:t>comunalidad</a:t>
                </a:r>
                <a:r>
                  <a:rPr lang="es-ES" sz="2400" dirty="0" smtClean="0"/>
                  <a:t>, la cual se expresa como:</a:t>
                </a:r>
              </a:p>
              <a:p>
                <a:pPr marL="0" indent="0">
                  <a:buNone/>
                </a:pPr>
                <a:endParaRPr lang="es-ES" sz="2400" dirty="0" smtClean="0"/>
              </a:p>
              <a:p>
                <a:pPr marL="0" indent="0">
                  <a:buNone/>
                </a:pPr>
                <a14:m>
                  <m:oMath xmlns:m="http://schemas.openxmlformats.org/officeDocument/2006/math">
                    <m:r>
                      <a:rPr lang="es-CR" sz="2400" b="0" i="1" smtClean="0">
                        <a:latin typeface="Cambria Math" panose="02040503050406030204" pitchFamily="18" charset="0"/>
                      </a:rPr>
                      <m:t>𝐶𝑜𝑚𝑚</m:t>
                    </m:r>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𝑗</m:t>
                        </m:r>
                      </m:sub>
                    </m:sSub>
                    <m:r>
                      <a:rPr lang="es-CR" sz="2400" b="0" i="1" smtClean="0">
                        <a:latin typeface="Cambria Math" panose="02040503050406030204" pitchFamily="18" charset="0"/>
                      </a:rPr>
                      <m:t>)</m:t>
                    </m:r>
                    <m:r>
                      <a:rPr lang="es-CR" sz="2400" i="1">
                        <a:latin typeface="Cambria Math" panose="02040503050406030204" pitchFamily="18" charset="0"/>
                      </a:rPr>
                      <m:t>=</m:t>
                    </m:r>
                    <m:nary>
                      <m:naryPr>
                        <m:chr m:val="∑"/>
                        <m:ctrlPr>
                          <a:rPr lang="es-CR" sz="2400" i="1" smtClean="0">
                            <a:latin typeface="Cambria Math"/>
                          </a:rPr>
                        </m:ctrlPr>
                      </m:naryPr>
                      <m:sub>
                        <m:r>
                          <m:rPr>
                            <m:brk m:alnAt="23"/>
                          </m:rPr>
                          <a:rPr lang="es-CR" sz="2400" b="0" i="1" smtClean="0">
                            <a:latin typeface="Cambria Math" panose="02040503050406030204" pitchFamily="18" charset="0"/>
                          </a:rPr>
                          <m:t>𝑖</m:t>
                        </m:r>
                        <m:r>
                          <a:rPr lang="es-CR" sz="2400" b="0" i="1" smtClean="0">
                            <a:latin typeface="Cambria Math" panose="02040503050406030204" pitchFamily="18" charset="0"/>
                          </a:rPr>
                          <m:t>=1</m:t>
                        </m:r>
                      </m:sub>
                      <m:sup>
                        <m:r>
                          <a:rPr lang="es-CR" sz="2400" b="0" i="1" smtClean="0">
                            <a:latin typeface="Cambria Math" panose="02040503050406030204" pitchFamily="18" charset="0"/>
                          </a:rPr>
                          <m:t>𝑚</m:t>
                        </m:r>
                      </m:sup>
                      <m:e>
                        <m:sSubSup>
                          <m:sSubSupPr>
                            <m:ctrlPr>
                              <a:rPr lang="es-CR" sz="2400" b="0" i="1" smtClean="0">
                                <a:latin typeface="Cambria Math"/>
                                <a:ea typeface="Cambria Math" panose="02040503050406030204" pitchFamily="18" charset="0"/>
                              </a:rPr>
                            </m:ctrlPr>
                          </m:sSubSupPr>
                          <m:e>
                            <m:r>
                              <a:rPr lang="es-CR" sz="2400" i="1" smtClean="0">
                                <a:latin typeface="Cambria Math" panose="02040503050406030204" pitchFamily="18" charset="0"/>
                                <a:ea typeface="Cambria Math" panose="02040503050406030204" pitchFamily="18" charset="0"/>
                              </a:rPr>
                              <m:t>𝜆</m:t>
                            </m:r>
                          </m:e>
                          <m:sub>
                            <m:r>
                              <a:rPr lang="es-CR" sz="2400" b="0" i="1" smtClean="0">
                                <a:latin typeface="Cambria Math" panose="02040503050406030204" pitchFamily="18" charset="0"/>
                                <a:ea typeface="Cambria Math" panose="02040503050406030204" pitchFamily="18" charset="0"/>
                              </a:rPr>
                              <m:t>𝑖𝑗</m:t>
                            </m:r>
                          </m:sub>
                          <m:sup>
                            <m:r>
                              <a:rPr lang="es-CR" sz="2400" b="0" i="1" smtClean="0">
                                <a:latin typeface="Cambria Math" panose="02040503050406030204" pitchFamily="18" charset="0"/>
                                <a:ea typeface="Cambria Math" panose="02040503050406030204" pitchFamily="18" charset="0"/>
                              </a:rPr>
                              <m:t>2</m:t>
                            </m:r>
                          </m:sup>
                        </m:sSubSup>
                      </m:e>
                    </m:nary>
                  </m:oMath>
                </a14:m>
                <a:r>
                  <a:rPr lang="es-ES" sz="2400" dirty="0" smtClean="0"/>
                  <a:t>       la cual se suele denotar como </a:t>
                </a:r>
                <a14:m>
                  <m:oMath xmlns:m="http://schemas.openxmlformats.org/officeDocument/2006/math">
                    <m:r>
                      <a:rPr lang="es-CR" sz="2400" i="1">
                        <a:latin typeface="Cambria Math" panose="02040503050406030204" pitchFamily="18" charset="0"/>
                      </a:rPr>
                      <m:t>𝐶𝑜𝑚𝑚</m:t>
                    </m:r>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𝑗</m:t>
                        </m:r>
                      </m:sub>
                    </m:sSub>
                    <m:r>
                      <a:rPr lang="es-CR" sz="2400" i="1">
                        <a:latin typeface="Cambria Math" panose="02040503050406030204" pitchFamily="18" charset="0"/>
                      </a:rPr>
                      <m:t>)=</m:t>
                    </m:r>
                    <m:sSubSup>
                      <m:sSubSupPr>
                        <m:ctrlPr>
                          <a:rPr lang="es-CR" sz="2400" b="0" i="1" smtClean="0">
                            <a:latin typeface="Cambria Math"/>
                          </a:rPr>
                        </m:ctrlPr>
                      </m:sSubSupPr>
                      <m:e>
                        <m:r>
                          <a:rPr lang="es-CR" sz="2400" b="0" i="1" smtClean="0">
                            <a:latin typeface="Cambria Math" panose="02040503050406030204" pitchFamily="18" charset="0"/>
                          </a:rPr>
                          <m:t>h</m:t>
                        </m:r>
                      </m:e>
                      <m:sub>
                        <m:r>
                          <a:rPr lang="es-CR" sz="2400" b="0" i="1" smtClean="0">
                            <a:latin typeface="Cambria Math" panose="02040503050406030204" pitchFamily="18" charset="0"/>
                          </a:rPr>
                          <m:t>𝑖</m:t>
                        </m:r>
                      </m:sub>
                      <m:sup>
                        <m:r>
                          <a:rPr lang="es-CR" sz="2400" b="0" i="1" smtClean="0">
                            <a:latin typeface="Cambria Math" panose="02040503050406030204" pitchFamily="18" charset="0"/>
                          </a:rPr>
                          <m:t>2</m:t>
                        </m:r>
                      </m:sup>
                    </m:sSubSup>
                  </m:oMath>
                </a14:m>
                <a:r>
                  <a:rPr lang="es-ES" sz="2400" dirty="0" smtClean="0"/>
                  <a:t> </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98269" y="1285693"/>
                <a:ext cx="10515600" cy="5428615"/>
              </a:xfrm>
              <a:blipFill rotWithShape="0">
                <a:blip r:embed="rId2"/>
                <a:stretch>
                  <a:fillRect l="-812" t="-1573" r="-1159"/>
                </a:stretch>
              </a:blipFill>
            </p:spPr>
            <p:txBody>
              <a:bodyPr/>
              <a:lstStyle/>
              <a:p>
                <a:r>
                  <a:rPr lang="es-ES">
                    <a:noFill/>
                  </a:rPr>
                  <a:t> </a:t>
                </a:r>
              </a:p>
            </p:txBody>
          </p:sp>
        </mc:Fallback>
      </mc:AlternateContent>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4055299279"/>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846" y="1018144"/>
            <a:ext cx="10515600" cy="5104205"/>
          </a:xfrm>
        </p:spPr>
        <p:txBody>
          <a:bodyPr>
            <a:normAutofit/>
          </a:bodyPr>
          <a:lstStyle/>
          <a:p>
            <a:r>
              <a:rPr lang="es-CR" sz="2400" dirty="0" smtClean="0"/>
              <a:t>La variancia total para las variables se suele denotar como:</a:t>
            </a:r>
          </a:p>
          <a:p>
            <a:endParaRPr lang="es-CR" sz="2400" dirty="0"/>
          </a:p>
          <a:p>
            <a:endParaRPr lang="es-CR" sz="2400" dirty="0" smtClean="0"/>
          </a:p>
          <a:p>
            <a:endParaRPr lang="es-CR" sz="2400" dirty="0"/>
          </a:p>
          <a:p>
            <a:pPr marL="0" indent="0">
              <a:buNone/>
            </a:pPr>
            <a:endParaRPr lang="es-CR" sz="2400" dirty="0" smtClean="0"/>
          </a:p>
          <a:p>
            <a:endParaRPr lang="es-CR" sz="2400" dirty="0"/>
          </a:p>
          <a:p>
            <a:endParaRPr lang="es-CR" sz="2400" dirty="0" smtClean="0"/>
          </a:p>
          <a:p>
            <a:r>
              <a:rPr lang="es-CR" sz="2400" dirty="0" smtClean="0"/>
              <a:t>La descomponían total se escribe como: </a:t>
            </a:r>
            <a:endParaRPr lang="es-ES" sz="2400" dirty="0"/>
          </a:p>
        </p:txBody>
      </p:sp>
      <p:sp>
        <p:nvSpPr>
          <p:cNvPr id="4" name="Título 1"/>
          <p:cNvSpPr>
            <a:spLocks noGrp="1"/>
          </p:cNvSpPr>
          <p:nvPr>
            <p:ph type="title"/>
          </p:nvPr>
        </p:nvSpPr>
        <p:spPr>
          <a:xfrm>
            <a:off x="607251" y="50899"/>
            <a:ext cx="10515600" cy="871493"/>
          </a:xfrm>
        </p:spPr>
        <p:txBody>
          <a:bodyPr/>
          <a:lstStyle/>
          <a:p>
            <a:pPr algn="ctr"/>
            <a:r>
              <a:rPr lang="es-CR" dirty="0" smtClean="0"/>
              <a:t>Modelo del AF</a:t>
            </a:r>
            <a:endParaRPr lang="es-ES" dirty="0"/>
          </a:p>
        </p:txBody>
      </p:sp>
      <p:graphicFrame>
        <p:nvGraphicFramePr>
          <p:cNvPr id="5" name="Object 9"/>
          <p:cNvGraphicFramePr>
            <a:graphicFrameLocks noChangeAspect="1"/>
          </p:cNvGraphicFramePr>
          <p:nvPr>
            <p:extLst>
              <p:ext uri="{D42A27DB-BD31-4B8C-83A1-F6EECF244321}">
                <p14:modId xmlns:p14="http://schemas.microsoft.com/office/powerpoint/2010/main" val="2562880066"/>
              </p:ext>
            </p:extLst>
          </p:nvPr>
        </p:nvGraphicFramePr>
        <p:xfrm>
          <a:off x="1286671" y="1996723"/>
          <a:ext cx="4502150" cy="928688"/>
        </p:xfrm>
        <a:graphic>
          <a:graphicData uri="http://schemas.openxmlformats.org/presentationml/2006/ole">
            <mc:AlternateContent xmlns:mc="http://schemas.openxmlformats.org/markup-compatibility/2006">
              <mc:Choice xmlns:v="urn:schemas-microsoft-com:vml" Requires="v">
                <p:oleObj spid="_x0000_s1102" name="Equation" r:id="rId3" imgW="2145369" imgH="444307" progId="Equation.DSMT4">
                  <p:embed/>
                </p:oleObj>
              </mc:Choice>
              <mc:Fallback>
                <p:oleObj name="Equation" r:id="rId3" imgW="2145369" imgH="44430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6671" y="1996723"/>
                        <a:ext cx="4502150"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AutoShape 10"/>
          <p:cNvSpPr>
            <a:spLocks/>
          </p:cNvSpPr>
          <p:nvPr/>
        </p:nvSpPr>
        <p:spPr bwMode="auto">
          <a:xfrm rot="16234900">
            <a:off x="3694474" y="2592483"/>
            <a:ext cx="227013" cy="915988"/>
          </a:xfrm>
          <a:prstGeom prst="leftBrace">
            <a:avLst>
              <a:gd name="adj1" fmla="val 33625"/>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7" name="AutoShape 11"/>
          <p:cNvSpPr>
            <a:spLocks/>
          </p:cNvSpPr>
          <p:nvPr/>
        </p:nvSpPr>
        <p:spPr bwMode="auto">
          <a:xfrm rot="16234900">
            <a:off x="5458187" y="2581371"/>
            <a:ext cx="190500" cy="900113"/>
          </a:xfrm>
          <a:prstGeom prst="leftBrace">
            <a:avLst>
              <a:gd name="adj1" fmla="val 39375"/>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8" name="Text Box 12"/>
          <p:cNvSpPr txBox="1">
            <a:spLocks noChangeArrowheads="1"/>
          </p:cNvSpPr>
          <p:nvPr/>
        </p:nvSpPr>
        <p:spPr bwMode="auto">
          <a:xfrm>
            <a:off x="3197587" y="3165571"/>
            <a:ext cx="1377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1800" dirty="0"/>
              <a:t>      </a:t>
            </a:r>
            <a:r>
              <a:rPr lang="fr-FR" altLang="es-ES" sz="1800" dirty="0">
                <a:solidFill>
                  <a:srgbClr val="000099"/>
                </a:solidFill>
              </a:rPr>
              <a:t>h</a:t>
            </a:r>
            <a:r>
              <a:rPr lang="fr-FR" altLang="es-ES" sz="1800" baseline="-25000" dirty="0">
                <a:solidFill>
                  <a:srgbClr val="000099"/>
                </a:solidFill>
              </a:rPr>
              <a:t>i</a:t>
            </a:r>
            <a:r>
              <a:rPr lang="fr-FR" altLang="es-ES" sz="1800" baseline="30000" dirty="0">
                <a:solidFill>
                  <a:srgbClr val="000099"/>
                </a:solidFill>
              </a:rPr>
              <a:t>2</a:t>
            </a:r>
            <a:r>
              <a:rPr lang="fr-FR" altLang="es-ES" sz="1800" dirty="0">
                <a:solidFill>
                  <a:srgbClr val="000099"/>
                </a:solidFill>
              </a:rPr>
              <a:t>  = </a:t>
            </a:r>
          </a:p>
          <a:p>
            <a:r>
              <a:rPr lang="fr-FR" altLang="es-ES" sz="1800" dirty="0" err="1" smtClean="0">
                <a:solidFill>
                  <a:srgbClr val="000099"/>
                </a:solidFill>
              </a:rPr>
              <a:t>comunalidad</a:t>
            </a:r>
            <a:endParaRPr lang="fr-FR" altLang="es-ES" dirty="0"/>
          </a:p>
        </p:txBody>
      </p:sp>
      <p:sp>
        <p:nvSpPr>
          <p:cNvPr id="9" name="Rectangle 13"/>
          <p:cNvSpPr>
            <a:spLocks noChangeArrowheads="1"/>
          </p:cNvSpPr>
          <p:nvPr/>
        </p:nvSpPr>
        <p:spPr bwMode="auto">
          <a:xfrm>
            <a:off x="5026387" y="3165571"/>
            <a:ext cx="14029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1800" dirty="0">
                <a:solidFill>
                  <a:srgbClr val="000099"/>
                </a:solidFill>
              </a:rPr>
              <a:t>Var(</a:t>
            </a:r>
            <a:r>
              <a:rPr lang="fr-FR" altLang="es-ES" sz="1800" dirty="0" err="1">
                <a:solidFill>
                  <a:srgbClr val="000099"/>
                </a:solidFill>
              </a:rPr>
              <a:t>e</a:t>
            </a:r>
            <a:r>
              <a:rPr lang="fr-FR" altLang="es-ES" sz="1800" baseline="-25000" dirty="0" err="1">
                <a:solidFill>
                  <a:srgbClr val="000099"/>
                </a:solidFill>
              </a:rPr>
              <a:t>i</a:t>
            </a:r>
            <a:r>
              <a:rPr lang="fr-FR" altLang="es-ES" sz="1800" dirty="0">
                <a:solidFill>
                  <a:srgbClr val="000099"/>
                </a:solidFill>
              </a:rPr>
              <a:t>)  = </a:t>
            </a:r>
          </a:p>
          <a:p>
            <a:r>
              <a:rPr lang="fr-FR" altLang="es-ES" sz="1800" dirty="0" err="1" smtClean="0">
                <a:solidFill>
                  <a:srgbClr val="000099"/>
                </a:solidFill>
              </a:rPr>
              <a:t>especificidad</a:t>
            </a:r>
            <a:endParaRPr lang="fr-FR" altLang="es-ES" sz="1800" dirty="0"/>
          </a:p>
        </p:txBody>
      </p:sp>
      <p:graphicFrame>
        <p:nvGraphicFramePr>
          <p:cNvPr id="11" name="Object 15"/>
          <p:cNvGraphicFramePr>
            <a:graphicFrameLocks noChangeAspect="1"/>
          </p:cNvGraphicFramePr>
          <p:nvPr>
            <p:extLst>
              <p:ext uri="{D42A27DB-BD31-4B8C-83A1-F6EECF244321}">
                <p14:modId xmlns:p14="http://schemas.microsoft.com/office/powerpoint/2010/main" val="1446280727"/>
              </p:ext>
            </p:extLst>
          </p:nvPr>
        </p:nvGraphicFramePr>
        <p:xfrm>
          <a:off x="838200" y="4505255"/>
          <a:ext cx="7405688" cy="928688"/>
        </p:xfrm>
        <a:graphic>
          <a:graphicData uri="http://schemas.openxmlformats.org/presentationml/2006/ole">
            <mc:AlternateContent xmlns:mc="http://schemas.openxmlformats.org/markup-compatibility/2006">
              <mc:Choice xmlns:v="urn:schemas-microsoft-com:vml" Requires="v">
                <p:oleObj spid="_x0000_s1103" name="Equation" r:id="rId5" imgW="3530600" imgH="444500" progId="Equation.DSMT4">
                  <p:embed/>
                </p:oleObj>
              </mc:Choice>
              <mc:Fallback>
                <p:oleObj name="Equation" r:id="rId5" imgW="3530600" imgH="4445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505255"/>
                        <a:ext cx="7405688"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AutoShape 16"/>
          <p:cNvSpPr>
            <a:spLocks/>
          </p:cNvSpPr>
          <p:nvPr/>
        </p:nvSpPr>
        <p:spPr bwMode="auto">
          <a:xfrm rot="16223417">
            <a:off x="4013993" y="5005915"/>
            <a:ext cx="188913" cy="901700"/>
          </a:xfrm>
          <a:prstGeom prst="leftBrace">
            <a:avLst>
              <a:gd name="adj1" fmla="val 39776"/>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13" name="AutoShape 17"/>
          <p:cNvSpPr>
            <a:spLocks/>
          </p:cNvSpPr>
          <p:nvPr/>
        </p:nvSpPr>
        <p:spPr bwMode="auto">
          <a:xfrm rot="16234900">
            <a:off x="5917407" y="5007501"/>
            <a:ext cx="190500" cy="900113"/>
          </a:xfrm>
          <a:prstGeom prst="leftBrace">
            <a:avLst>
              <a:gd name="adj1" fmla="val 39375"/>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14" name="Text Box 18"/>
          <p:cNvSpPr txBox="1">
            <a:spLocks noChangeArrowheads="1"/>
          </p:cNvSpPr>
          <p:nvPr/>
        </p:nvSpPr>
        <p:spPr bwMode="auto">
          <a:xfrm>
            <a:off x="3657600" y="5667108"/>
            <a:ext cx="147348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smtClean="0">
                <a:solidFill>
                  <a:srgbClr val="000099"/>
                </a:solidFill>
              </a:rPr>
              <a:t>Variancia</a:t>
            </a:r>
            <a:endParaRPr lang="fr-FR" altLang="es-ES" sz="1800" dirty="0">
              <a:solidFill>
                <a:srgbClr val="000099"/>
              </a:solidFill>
            </a:endParaRPr>
          </a:p>
          <a:p>
            <a:pPr>
              <a:spcAft>
                <a:spcPct val="10000"/>
              </a:spcAft>
            </a:pPr>
            <a:r>
              <a:rPr lang="fr-FR" altLang="es-ES" sz="1800" dirty="0" err="1" smtClean="0">
                <a:solidFill>
                  <a:srgbClr val="000099"/>
                </a:solidFill>
              </a:rPr>
              <a:t>explicada</a:t>
            </a:r>
            <a:r>
              <a:rPr lang="fr-FR" altLang="es-ES" sz="1800" dirty="0" smtClean="0">
                <a:solidFill>
                  <a:srgbClr val="000099"/>
                </a:solidFill>
              </a:rPr>
              <a:t> </a:t>
            </a:r>
            <a:r>
              <a:rPr lang="fr-FR" altLang="es-ES" sz="1800" dirty="0" err="1" smtClean="0">
                <a:solidFill>
                  <a:srgbClr val="000099"/>
                </a:solidFill>
              </a:rPr>
              <a:t>por</a:t>
            </a:r>
            <a:endParaRPr lang="fr-FR" altLang="es-ES" sz="1800" dirty="0">
              <a:solidFill>
                <a:srgbClr val="000099"/>
              </a:solidFill>
            </a:endParaRPr>
          </a:p>
          <a:p>
            <a:pPr>
              <a:spcAft>
                <a:spcPct val="10000"/>
              </a:spcAft>
            </a:pPr>
            <a:r>
              <a:rPr lang="fr-FR" altLang="es-ES" sz="1800" dirty="0" smtClean="0">
                <a:solidFill>
                  <a:srgbClr val="000099"/>
                </a:solidFill>
              </a:rPr>
              <a:t>Y</a:t>
            </a:r>
            <a:r>
              <a:rPr lang="fr-FR" altLang="es-ES" sz="1800" baseline="-25000" dirty="0" smtClean="0">
                <a:solidFill>
                  <a:srgbClr val="000099"/>
                </a:solidFill>
              </a:rPr>
              <a:t>1</a:t>
            </a:r>
            <a:r>
              <a:rPr lang="fr-FR" altLang="es-ES" sz="1800" dirty="0" smtClean="0">
                <a:solidFill>
                  <a:srgbClr val="000099"/>
                </a:solidFill>
              </a:rPr>
              <a:t> </a:t>
            </a:r>
            <a:r>
              <a:rPr lang="fr-FR" altLang="es-ES" sz="1800" dirty="0">
                <a:solidFill>
                  <a:srgbClr val="000099"/>
                </a:solidFill>
              </a:rPr>
              <a:t>( = </a:t>
            </a:r>
            <a:r>
              <a:rPr lang="fr-FR" altLang="es-ES" sz="1800" dirty="0">
                <a:solidFill>
                  <a:srgbClr val="000099"/>
                </a:solidFill>
                <a:sym typeface="Symbol" panose="05050102010706020507" pitchFamily="18" charset="2"/>
              </a:rPr>
              <a:t></a:t>
            </a:r>
            <a:r>
              <a:rPr lang="fr-FR" altLang="es-ES" sz="1800" baseline="-25000" dirty="0">
                <a:solidFill>
                  <a:srgbClr val="000099"/>
                </a:solidFill>
                <a:sym typeface="Symbol" panose="05050102010706020507" pitchFamily="18" charset="2"/>
              </a:rPr>
              <a:t>1</a:t>
            </a:r>
            <a:r>
              <a:rPr lang="fr-FR" altLang="es-ES" sz="1800" dirty="0">
                <a:solidFill>
                  <a:srgbClr val="000099"/>
                </a:solidFill>
                <a:sym typeface="Symbol" panose="05050102010706020507" pitchFamily="18" charset="2"/>
              </a:rPr>
              <a:t>)</a:t>
            </a:r>
            <a:endParaRPr lang="fr-FR" altLang="es-ES" dirty="0"/>
          </a:p>
        </p:txBody>
      </p:sp>
      <p:sp>
        <p:nvSpPr>
          <p:cNvPr id="15" name="Rectangle 19"/>
          <p:cNvSpPr>
            <a:spLocks noChangeArrowheads="1"/>
          </p:cNvSpPr>
          <p:nvPr/>
        </p:nvSpPr>
        <p:spPr bwMode="auto">
          <a:xfrm>
            <a:off x="5562600" y="5667108"/>
            <a:ext cx="1514475"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a:solidFill>
                  <a:srgbClr val="000099"/>
                </a:solidFill>
              </a:rPr>
              <a:t>Variancia</a:t>
            </a:r>
            <a:endParaRPr lang="fr-FR" altLang="es-ES" sz="1800" dirty="0">
              <a:solidFill>
                <a:srgbClr val="000099"/>
              </a:solidFill>
            </a:endParaRPr>
          </a:p>
          <a:p>
            <a:pPr>
              <a:spcAft>
                <a:spcPct val="10000"/>
              </a:spcAft>
            </a:pPr>
            <a:r>
              <a:rPr lang="fr-FR" altLang="es-ES" sz="1800" dirty="0" err="1">
                <a:solidFill>
                  <a:srgbClr val="000099"/>
                </a:solidFill>
              </a:rPr>
              <a:t>explicada</a:t>
            </a:r>
            <a:r>
              <a:rPr lang="fr-FR" altLang="es-ES" sz="1800" dirty="0">
                <a:solidFill>
                  <a:srgbClr val="000099"/>
                </a:solidFill>
              </a:rPr>
              <a:t> </a:t>
            </a:r>
            <a:r>
              <a:rPr lang="fr-FR" altLang="es-ES" sz="1800" dirty="0" err="1">
                <a:solidFill>
                  <a:srgbClr val="000099"/>
                </a:solidFill>
              </a:rPr>
              <a:t>por</a:t>
            </a:r>
            <a:endParaRPr lang="fr-FR" altLang="es-ES" sz="1800" dirty="0">
              <a:solidFill>
                <a:srgbClr val="000099"/>
              </a:solidFill>
            </a:endParaRPr>
          </a:p>
          <a:p>
            <a:pPr>
              <a:spcAft>
                <a:spcPct val="10000"/>
              </a:spcAft>
            </a:pPr>
            <a:r>
              <a:rPr lang="fr-FR" altLang="es-ES" sz="1800" dirty="0" smtClean="0">
                <a:solidFill>
                  <a:srgbClr val="000099"/>
                </a:solidFill>
              </a:rPr>
              <a:t>par </a:t>
            </a:r>
            <a:r>
              <a:rPr lang="fr-FR" altLang="es-ES" sz="1800" dirty="0" err="1">
                <a:solidFill>
                  <a:srgbClr val="000099"/>
                </a:solidFill>
              </a:rPr>
              <a:t>Y</a:t>
            </a:r>
            <a:r>
              <a:rPr lang="fr-FR" altLang="es-ES" sz="1800" baseline="-25000" dirty="0" err="1">
                <a:solidFill>
                  <a:srgbClr val="000099"/>
                </a:solidFill>
              </a:rPr>
              <a:t>m</a:t>
            </a:r>
            <a:r>
              <a:rPr lang="fr-FR" altLang="es-ES" sz="1800" dirty="0">
                <a:solidFill>
                  <a:srgbClr val="000099"/>
                </a:solidFill>
              </a:rPr>
              <a:t> ( = </a:t>
            </a:r>
            <a:r>
              <a:rPr lang="fr-FR" altLang="es-ES" sz="1800" dirty="0">
                <a:solidFill>
                  <a:srgbClr val="000099"/>
                </a:solidFill>
                <a:sym typeface="Symbol" panose="05050102010706020507" pitchFamily="18" charset="2"/>
              </a:rPr>
              <a:t></a:t>
            </a:r>
            <a:r>
              <a:rPr lang="fr-FR" altLang="es-ES" sz="1800" baseline="-25000" dirty="0">
                <a:solidFill>
                  <a:srgbClr val="000099"/>
                </a:solidFill>
                <a:sym typeface="Symbol" panose="05050102010706020507" pitchFamily="18" charset="2"/>
              </a:rPr>
              <a:t>m</a:t>
            </a:r>
            <a:r>
              <a:rPr lang="fr-FR" altLang="es-ES" sz="1800" dirty="0">
                <a:solidFill>
                  <a:srgbClr val="000099"/>
                </a:solidFill>
                <a:sym typeface="Symbol" panose="05050102010706020507" pitchFamily="18" charset="2"/>
              </a:rPr>
              <a:t>)</a:t>
            </a:r>
          </a:p>
        </p:txBody>
      </p:sp>
      <p:sp>
        <p:nvSpPr>
          <p:cNvPr id="16" name="AutoShape 20"/>
          <p:cNvSpPr>
            <a:spLocks/>
          </p:cNvSpPr>
          <p:nvPr/>
        </p:nvSpPr>
        <p:spPr bwMode="auto">
          <a:xfrm rot="16234900">
            <a:off x="7593807" y="5083701"/>
            <a:ext cx="190500" cy="900113"/>
          </a:xfrm>
          <a:prstGeom prst="leftBrace">
            <a:avLst>
              <a:gd name="adj1" fmla="val 39375"/>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fr-FR" altLang="es-ES">
              <a:solidFill>
                <a:srgbClr val="FF0000"/>
              </a:solidFill>
            </a:endParaRPr>
          </a:p>
        </p:txBody>
      </p:sp>
      <p:sp>
        <p:nvSpPr>
          <p:cNvPr id="17" name="Rectangle 21"/>
          <p:cNvSpPr>
            <a:spLocks noChangeArrowheads="1"/>
          </p:cNvSpPr>
          <p:nvPr/>
        </p:nvSpPr>
        <p:spPr bwMode="auto">
          <a:xfrm>
            <a:off x="7226300" y="5743308"/>
            <a:ext cx="10731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smtClean="0">
                <a:solidFill>
                  <a:srgbClr val="FF0000"/>
                </a:solidFill>
              </a:rPr>
              <a:t>Variancia</a:t>
            </a:r>
            <a:endParaRPr lang="fr-FR" altLang="es-ES" sz="1800" dirty="0">
              <a:solidFill>
                <a:srgbClr val="FF0000"/>
              </a:solidFill>
            </a:endParaRPr>
          </a:p>
          <a:p>
            <a:pPr>
              <a:spcAft>
                <a:spcPct val="10000"/>
              </a:spcAft>
            </a:pPr>
            <a:r>
              <a:rPr lang="fr-FR" altLang="es-ES" sz="1800" dirty="0" err="1" smtClean="0">
                <a:solidFill>
                  <a:srgbClr val="FF0000"/>
                </a:solidFill>
              </a:rPr>
              <a:t>residual</a:t>
            </a:r>
            <a:endParaRPr lang="fr-FR" altLang="es-ES" sz="1800" baseline="-25000" dirty="0">
              <a:solidFill>
                <a:srgbClr val="FF0000"/>
              </a:solidFill>
            </a:endParaRPr>
          </a:p>
        </p:txBody>
      </p:sp>
      <p:sp>
        <p:nvSpPr>
          <p:cNvPr id="18" name="AutoShape 22"/>
          <p:cNvSpPr>
            <a:spLocks/>
          </p:cNvSpPr>
          <p:nvPr/>
        </p:nvSpPr>
        <p:spPr bwMode="auto">
          <a:xfrm rot="16223417">
            <a:off x="1211263" y="4832083"/>
            <a:ext cx="228600" cy="1435100"/>
          </a:xfrm>
          <a:prstGeom prst="leftBrace">
            <a:avLst>
              <a:gd name="adj1" fmla="val 52315"/>
              <a:gd name="adj2" fmla="val 50000"/>
            </a:avLst>
          </a:prstGeom>
          <a:noFill/>
          <a:ln w="9525">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fr-FR" altLang="es-ES">
              <a:solidFill>
                <a:srgbClr val="006600"/>
              </a:solidFill>
            </a:endParaRPr>
          </a:p>
        </p:txBody>
      </p:sp>
      <p:sp>
        <p:nvSpPr>
          <p:cNvPr id="19" name="Rectangle 23"/>
          <p:cNvSpPr>
            <a:spLocks noChangeArrowheads="1"/>
          </p:cNvSpPr>
          <p:nvPr/>
        </p:nvSpPr>
        <p:spPr bwMode="auto">
          <a:xfrm>
            <a:off x="838200" y="5743308"/>
            <a:ext cx="1056764" cy="674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smtClean="0">
                <a:solidFill>
                  <a:srgbClr val="006600"/>
                </a:solidFill>
              </a:rPr>
              <a:t>Variancia</a:t>
            </a:r>
            <a:endParaRPr lang="fr-FR" altLang="es-ES" sz="1800" dirty="0">
              <a:solidFill>
                <a:srgbClr val="006600"/>
              </a:solidFill>
            </a:endParaRPr>
          </a:p>
          <a:p>
            <a:pPr>
              <a:spcAft>
                <a:spcPct val="10000"/>
              </a:spcAft>
            </a:pPr>
            <a:r>
              <a:rPr lang="fr-FR" altLang="es-ES" sz="1800" dirty="0" smtClean="0">
                <a:solidFill>
                  <a:srgbClr val="006600"/>
                </a:solidFill>
              </a:rPr>
              <a:t>total</a:t>
            </a:r>
            <a:endParaRPr lang="fr-FR" altLang="es-ES" sz="1800" baseline="-25000" dirty="0">
              <a:solidFill>
                <a:srgbClr val="006600"/>
              </a:solidFill>
            </a:endParaRPr>
          </a:p>
        </p:txBody>
      </p:sp>
    </p:spTree>
    <p:extLst>
      <p:ext uri="{BB962C8B-B14F-4D97-AF65-F5344CB8AC3E}">
        <p14:creationId xmlns:p14="http://schemas.microsoft.com/office/powerpoint/2010/main" val="1929132186"/>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6053" y="111668"/>
            <a:ext cx="10515600" cy="870971"/>
          </a:xfrm>
        </p:spPr>
        <p:txBody>
          <a:bodyPr/>
          <a:lstStyle/>
          <a:p>
            <a:pPr algn="ctr"/>
            <a:r>
              <a:rPr lang="es-CR" dirty="0" smtClean="0"/>
              <a:t>La rotación factorial</a:t>
            </a:r>
            <a:endParaRPr lang="es-ES" dirty="0"/>
          </a:p>
        </p:txBody>
      </p:sp>
      <p:sp>
        <p:nvSpPr>
          <p:cNvPr id="3" name="Marcador de contenido 2"/>
          <p:cNvSpPr>
            <a:spLocks noGrp="1"/>
          </p:cNvSpPr>
          <p:nvPr>
            <p:ph idx="1"/>
          </p:nvPr>
        </p:nvSpPr>
        <p:spPr>
          <a:xfrm>
            <a:off x="524692" y="1214652"/>
            <a:ext cx="10515600" cy="5390864"/>
          </a:xfrm>
        </p:spPr>
        <p:txBody>
          <a:bodyPr>
            <a:normAutofit/>
          </a:bodyPr>
          <a:lstStyle/>
          <a:p>
            <a:r>
              <a:rPr lang="es-CR" sz="2400" dirty="0" smtClean="0"/>
              <a:t>Las cargas factoriales obtenidas inicialmente se pueden transformar mediante una rotación ortogonal, para obtener nuevas cargas que todavía reproducen la matriz de correlación en forma equivalente.</a:t>
            </a:r>
          </a:p>
          <a:p>
            <a:endParaRPr lang="es-CR" sz="2400" dirty="0"/>
          </a:p>
          <a:p>
            <a:r>
              <a:rPr lang="es-CR" sz="2400" dirty="0" smtClean="0"/>
              <a:t>Existen también rotaciones oblicuas, es decir rotaciones de los ejes que no los mantienen perpendiculares.</a:t>
            </a:r>
          </a:p>
          <a:p>
            <a:endParaRPr lang="es-CR" sz="2400" dirty="0"/>
          </a:p>
          <a:p>
            <a:r>
              <a:rPr lang="es-CR" sz="2400" dirty="0" smtClean="0"/>
              <a:t>Para interpretar los factores corrientemente se agrupan las variables que tienen cargas altas en los mismos factores. </a:t>
            </a:r>
          </a:p>
          <a:p>
            <a:endParaRPr lang="es-CR" sz="2400" dirty="0"/>
          </a:p>
          <a:p>
            <a:r>
              <a:rPr lang="es-CR" sz="2400" dirty="0" smtClean="0"/>
              <a:t>Pero a veces </a:t>
            </a:r>
            <a:r>
              <a:rPr lang="es-CR" sz="2400" dirty="0"/>
              <a:t>l</a:t>
            </a:r>
            <a:r>
              <a:rPr lang="es-CR" sz="2400" dirty="0" smtClean="0"/>
              <a:t>as cargas factoriales originales no se pueden interpretar fácilmente debido a que la mayoría de los factores están correlacionados con muchas variables, y no ofrecen un patrón claro. </a:t>
            </a:r>
            <a:endParaRPr lang="es-ES" sz="2400" dirty="0"/>
          </a:p>
        </p:txBody>
      </p:sp>
    </p:spTree>
    <p:extLst>
      <p:ext uri="{BB962C8B-B14F-4D97-AF65-F5344CB8AC3E}">
        <p14:creationId xmlns:p14="http://schemas.microsoft.com/office/powerpoint/2010/main" val="392394721"/>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421" y="982639"/>
            <a:ext cx="10836321" cy="5714764"/>
          </a:xfrm>
        </p:spPr>
        <p:txBody>
          <a:bodyPr>
            <a:normAutofit lnSpcReduction="10000"/>
          </a:bodyPr>
          <a:lstStyle/>
          <a:p>
            <a:pPr algn="just"/>
            <a:r>
              <a:rPr lang="es-CR" sz="2400" dirty="0" smtClean="0"/>
              <a:t>Sin embargo, una rotación de las mismas puede facilitar esa interpretación mediante la búsqueda de una estructura simple de cargas.</a:t>
            </a:r>
          </a:p>
          <a:p>
            <a:pPr algn="just"/>
            <a:endParaRPr lang="es-CR" sz="2400" dirty="0"/>
          </a:p>
          <a:p>
            <a:pPr algn="just"/>
            <a:r>
              <a:rPr lang="es-CR" sz="2400" dirty="0" smtClean="0"/>
              <a:t>Esta estructura más simple debería ser tal que cada factor tenga cargas no nulas en solo unas pocas variables, y que cada variable tenga cargas no nulas en solo unos cuantos factores.</a:t>
            </a:r>
          </a:p>
          <a:p>
            <a:pPr algn="just"/>
            <a:endParaRPr lang="es-CR" sz="2400" dirty="0"/>
          </a:p>
          <a:p>
            <a:pPr algn="just"/>
            <a:r>
              <a:rPr lang="es-CR" sz="2400" dirty="0" smtClean="0"/>
              <a:t>De esta manera cada factor se puede interpretar más fácilmente al estar asociado solamente a unas pocas variables.</a:t>
            </a:r>
          </a:p>
          <a:p>
            <a:pPr algn="just"/>
            <a:endParaRPr lang="es-CR" sz="2400" dirty="0"/>
          </a:p>
          <a:p>
            <a:pPr algn="just"/>
            <a:r>
              <a:rPr lang="es-CR" sz="2400" dirty="0" smtClean="0"/>
              <a:t>La rotación no afecta la bondad de ajuste de la solución factorial: la </a:t>
            </a:r>
            <a:r>
              <a:rPr lang="es-CR" sz="2400" dirty="0" err="1" smtClean="0"/>
              <a:t>comunalidad</a:t>
            </a:r>
            <a:r>
              <a:rPr lang="es-CR" sz="2400" dirty="0" smtClean="0"/>
              <a:t> y el % de variancia explicado por todos los factores no varían. Sin embargo, el porcentaje de variancia explicado individualmente por cada uno de los factores si cambia, produciendo una redistribución de la variancia total explicada entre los diferentes factores.</a:t>
            </a:r>
            <a:endParaRPr lang="es-ES" sz="2400" dirty="0"/>
          </a:p>
        </p:txBody>
      </p:sp>
      <p:sp>
        <p:nvSpPr>
          <p:cNvPr id="4" name="Título 1"/>
          <p:cNvSpPr>
            <a:spLocks noGrp="1"/>
          </p:cNvSpPr>
          <p:nvPr>
            <p:ph type="title"/>
          </p:nvPr>
        </p:nvSpPr>
        <p:spPr>
          <a:xfrm>
            <a:off x="756053" y="111668"/>
            <a:ext cx="10515600" cy="870971"/>
          </a:xfrm>
        </p:spPr>
        <p:txBody>
          <a:bodyPr/>
          <a:lstStyle/>
          <a:p>
            <a:pPr algn="ctr"/>
            <a:r>
              <a:rPr lang="es-CR" dirty="0" smtClean="0"/>
              <a:t>La rotación factorial</a:t>
            </a:r>
            <a:endParaRPr lang="es-ES" dirty="0"/>
          </a:p>
        </p:txBody>
      </p:sp>
    </p:spTree>
    <p:extLst>
      <p:ext uri="{BB962C8B-B14F-4D97-AF65-F5344CB8AC3E}">
        <p14:creationId xmlns:p14="http://schemas.microsoft.com/office/powerpoint/2010/main" val="1210597701"/>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Marcador de número de diapositiva 4"/>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2575DB3-E06C-4E64-8861-64E25A013532}" type="slidenum">
              <a:rPr lang="fr-FR" altLang="es-ES" sz="1400"/>
              <a:pPr/>
              <a:t>16</a:t>
            </a:fld>
            <a:endParaRPr lang="fr-FR" altLang="es-ES" sz="1400"/>
          </a:p>
        </p:txBody>
      </p:sp>
      <p:sp>
        <p:nvSpPr>
          <p:cNvPr id="39939" name="Rectangle 2"/>
          <p:cNvSpPr>
            <a:spLocks noGrp="1" noChangeArrowheads="1"/>
          </p:cNvSpPr>
          <p:nvPr>
            <p:ph type="title"/>
          </p:nvPr>
        </p:nvSpPr>
        <p:spPr>
          <a:xfrm>
            <a:off x="1036319" y="248309"/>
            <a:ext cx="9196251" cy="524323"/>
          </a:xfrm>
        </p:spPr>
        <p:txBody>
          <a:bodyPr>
            <a:noAutofit/>
          </a:bodyPr>
          <a:lstStyle/>
          <a:p>
            <a:pPr algn="ctr"/>
            <a:r>
              <a:rPr lang="fr-FR" altLang="es-ES" sz="3600" b="1" dirty="0" smtClean="0">
                <a:solidFill>
                  <a:srgbClr val="000099"/>
                </a:solidFill>
              </a:rPr>
              <a:t>La </a:t>
            </a:r>
            <a:r>
              <a:rPr lang="fr-FR" altLang="es-ES" sz="3600" b="1" dirty="0" err="1" smtClean="0">
                <a:solidFill>
                  <a:srgbClr val="000099"/>
                </a:solidFill>
              </a:rPr>
              <a:t>idea</a:t>
            </a:r>
            <a:r>
              <a:rPr lang="fr-FR" altLang="es-ES" sz="3600" b="1" dirty="0" smtClean="0">
                <a:solidFill>
                  <a:srgbClr val="000099"/>
                </a:solidFill>
              </a:rPr>
              <a:t> de la </a:t>
            </a:r>
            <a:r>
              <a:rPr lang="fr-FR" altLang="es-ES" sz="3600" b="1" dirty="0" err="1" smtClean="0">
                <a:solidFill>
                  <a:srgbClr val="000099"/>
                </a:solidFill>
              </a:rPr>
              <a:t>rotación</a:t>
            </a:r>
            <a:endParaRPr lang="fr-FR" altLang="es-ES" sz="5400" dirty="0" smtClean="0"/>
          </a:p>
        </p:txBody>
      </p:sp>
      <p:sp>
        <p:nvSpPr>
          <p:cNvPr id="39940" name="Rectangle 3"/>
          <p:cNvSpPr>
            <a:spLocks noChangeArrowheads="1"/>
          </p:cNvSpPr>
          <p:nvPr/>
        </p:nvSpPr>
        <p:spPr bwMode="auto">
          <a:xfrm>
            <a:off x="2387503" y="949191"/>
            <a:ext cx="6059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fr-FR" altLang="es-ES" sz="2800" b="1" dirty="0" err="1" smtClean="0"/>
              <a:t>Matriz</a:t>
            </a:r>
            <a:r>
              <a:rPr lang="fr-FR" altLang="es-ES" sz="2800" b="1" dirty="0" smtClean="0"/>
              <a:t> </a:t>
            </a:r>
            <a:r>
              <a:rPr lang="fr-FR" altLang="es-ES" sz="2800" b="1" dirty="0"/>
              <a:t>de </a:t>
            </a:r>
            <a:r>
              <a:rPr lang="fr-FR" altLang="es-ES" sz="2800" b="1" dirty="0" err="1" smtClean="0"/>
              <a:t>rotación</a:t>
            </a:r>
            <a:r>
              <a:rPr lang="fr-FR" altLang="es-ES" sz="2800" b="1" dirty="0" smtClean="0"/>
              <a:t> de un </a:t>
            </a:r>
            <a:r>
              <a:rPr lang="fr-FR" altLang="es-ES" sz="2800" b="1" dirty="0" err="1" smtClean="0"/>
              <a:t>ángulo</a:t>
            </a:r>
            <a:r>
              <a:rPr lang="fr-FR" altLang="es-ES" sz="2800" b="1" dirty="0" smtClean="0"/>
              <a:t> </a:t>
            </a:r>
            <a:r>
              <a:rPr lang="fr-FR" altLang="es-ES" sz="2800" b="1" dirty="0" smtClean="0">
                <a:sym typeface="Symbol" panose="05050102010706020507" pitchFamily="18" charset="2"/>
              </a:rPr>
              <a:t> </a:t>
            </a:r>
            <a:endParaRPr lang="fr-FR" altLang="es-ES" sz="2800" b="1" dirty="0"/>
          </a:p>
        </p:txBody>
      </p:sp>
      <p:grpSp>
        <p:nvGrpSpPr>
          <p:cNvPr id="39941" name="Group 7"/>
          <p:cNvGrpSpPr>
            <a:grpSpLocks/>
          </p:cNvGrpSpPr>
          <p:nvPr/>
        </p:nvGrpSpPr>
        <p:grpSpPr bwMode="auto">
          <a:xfrm>
            <a:off x="2667000" y="2362200"/>
            <a:ext cx="4038600" cy="3276600"/>
            <a:chOff x="720" y="1488"/>
            <a:chExt cx="2544" cy="2064"/>
          </a:xfrm>
        </p:grpSpPr>
        <p:sp>
          <p:nvSpPr>
            <p:cNvPr id="39980" name="Line 5"/>
            <p:cNvSpPr>
              <a:spLocks noChangeShapeType="1"/>
            </p:cNvSpPr>
            <p:nvPr/>
          </p:nvSpPr>
          <p:spPr bwMode="auto">
            <a:xfrm>
              <a:off x="720" y="2880"/>
              <a:ext cx="25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81" name="Line 6"/>
            <p:cNvSpPr>
              <a:spLocks noChangeShapeType="1"/>
            </p:cNvSpPr>
            <p:nvPr/>
          </p:nvSpPr>
          <p:spPr bwMode="auto">
            <a:xfrm flipV="1">
              <a:off x="1104" y="1488"/>
              <a:ext cx="0" cy="20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39942" name="Group 23"/>
          <p:cNvGrpSpPr>
            <a:grpSpLocks/>
          </p:cNvGrpSpPr>
          <p:nvPr/>
        </p:nvGrpSpPr>
        <p:grpSpPr bwMode="auto">
          <a:xfrm rot="138967">
            <a:off x="2547938" y="2471738"/>
            <a:ext cx="4038600" cy="3276600"/>
            <a:chOff x="636" y="1518"/>
            <a:chExt cx="2544" cy="2064"/>
          </a:xfrm>
        </p:grpSpPr>
        <p:sp>
          <p:nvSpPr>
            <p:cNvPr id="39978" name="Line 9"/>
            <p:cNvSpPr>
              <a:spLocks noChangeShapeType="1"/>
            </p:cNvSpPr>
            <p:nvPr/>
          </p:nvSpPr>
          <p:spPr bwMode="auto">
            <a:xfrm rot="1510176">
              <a:off x="636" y="3253"/>
              <a:ext cx="25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9" name="Line 10"/>
            <p:cNvSpPr>
              <a:spLocks noChangeShapeType="1"/>
            </p:cNvSpPr>
            <p:nvPr/>
          </p:nvSpPr>
          <p:spPr bwMode="auto">
            <a:xfrm rot="1510176" flipV="1">
              <a:off x="1258" y="1518"/>
              <a:ext cx="0" cy="20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39943" name="Freeform 17"/>
          <p:cNvSpPr>
            <a:spLocks/>
          </p:cNvSpPr>
          <p:nvPr/>
        </p:nvSpPr>
        <p:spPr bwMode="auto">
          <a:xfrm rot="-1981432">
            <a:off x="3824288" y="4648200"/>
            <a:ext cx="304800" cy="152400"/>
          </a:xfrm>
          <a:custGeom>
            <a:avLst/>
            <a:gdLst>
              <a:gd name="T0" fmla="*/ 304800 w 96"/>
              <a:gd name="T1" fmla="*/ 0 h 144"/>
              <a:gd name="T2" fmla="*/ 0 w 96"/>
              <a:gd name="T3" fmla="*/ 152400 h 144"/>
              <a:gd name="T4" fmla="*/ 0 60000 65536"/>
              <a:gd name="T5" fmla="*/ 0 60000 65536"/>
            </a:gdLst>
            <a:ahLst/>
            <a:cxnLst>
              <a:cxn ang="T4">
                <a:pos x="T0" y="T1"/>
              </a:cxn>
              <a:cxn ang="T5">
                <a:pos x="T2" y="T3"/>
              </a:cxn>
            </a:cxnLst>
            <a:rect l="0" t="0" r="r" b="b"/>
            <a:pathLst>
              <a:path w="96" h="144">
                <a:moveTo>
                  <a:pt x="96" y="0"/>
                </a:moveTo>
                <a:cubicBezTo>
                  <a:pt x="56" y="60"/>
                  <a:pt x="16" y="120"/>
                  <a:pt x="0" y="144"/>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4" name="Text Box 18"/>
          <p:cNvSpPr txBox="1">
            <a:spLocks noChangeArrowheads="1"/>
          </p:cNvSpPr>
          <p:nvPr/>
        </p:nvSpPr>
        <p:spPr bwMode="auto">
          <a:xfrm>
            <a:off x="4038601" y="4567238"/>
            <a:ext cx="3032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1800">
                <a:sym typeface="Symbol" panose="05050102010706020507" pitchFamily="18" charset="2"/>
              </a:rPr>
              <a:t></a:t>
            </a:r>
            <a:endParaRPr lang="fr-FR" altLang="es-ES"/>
          </a:p>
        </p:txBody>
      </p:sp>
      <p:sp>
        <p:nvSpPr>
          <p:cNvPr id="39945" name="Line 22"/>
          <p:cNvSpPr>
            <a:spLocks noChangeShapeType="1"/>
          </p:cNvSpPr>
          <p:nvPr/>
        </p:nvSpPr>
        <p:spPr bwMode="auto">
          <a:xfrm rot="2047515">
            <a:off x="3900488" y="4808538"/>
            <a:ext cx="0" cy="107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6" name="Text Box 24"/>
          <p:cNvSpPr txBox="1">
            <a:spLocks noChangeArrowheads="1"/>
          </p:cNvSpPr>
          <p:nvPr/>
        </p:nvSpPr>
        <p:spPr bwMode="auto">
          <a:xfrm>
            <a:off x="6705601" y="42672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47" name="Text Box 25"/>
          <p:cNvSpPr txBox="1">
            <a:spLocks noChangeArrowheads="1"/>
          </p:cNvSpPr>
          <p:nvPr/>
        </p:nvSpPr>
        <p:spPr bwMode="auto">
          <a:xfrm>
            <a:off x="3048001" y="19812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Y</a:t>
            </a:r>
          </a:p>
        </p:txBody>
      </p:sp>
      <p:sp>
        <p:nvSpPr>
          <p:cNvPr id="39948" name="Text Box 26"/>
          <p:cNvSpPr txBox="1">
            <a:spLocks noChangeArrowheads="1"/>
          </p:cNvSpPr>
          <p:nvPr/>
        </p:nvSpPr>
        <p:spPr bwMode="auto">
          <a:xfrm>
            <a:off x="4114801" y="2133600"/>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Y´</a:t>
            </a:r>
          </a:p>
        </p:txBody>
      </p:sp>
      <p:sp>
        <p:nvSpPr>
          <p:cNvPr id="39949" name="Rectangle 27"/>
          <p:cNvSpPr>
            <a:spLocks noChangeArrowheads="1"/>
          </p:cNvSpPr>
          <p:nvPr/>
        </p:nvSpPr>
        <p:spPr bwMode="auto">
          <a:xfrm>
            <a:off x="6400801" y="5867400"/>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50" name="Text Box 28"/>
          <p:cNvSpPr txBox="1">
            <a:spLocks noChangeArrowheads="1"/>
          </p:cNvSpPr>
          <p:nvPr/>
        </p:nvSpPr>
        <p:spPr bwMode="auto">
          <a:xfrm>
            <a:off x="5562601" y="31242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A</a:t>
            </a:r>
          </a:p>
        </p:txBody>
      </p:sp>
      <p:sp>
        <p:nvSpPr>
          <p:cNvPr id="39951" name="Text Box 29"/>
          <p:cNvSpPr txBox="1">
            <a:spLocks noChangeArrowheads="1"/>
          </p:cNvSpPr>
          <p:nvPr/>
        </p:nvSpPr>
        <p:spPr bwMode="auto">
          <a:xfrm>
            <a:off x="5486400" y="3505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a:t>
            </a:r>
          </a:p>
        </p:txBody>
      </p:sp>
      <p:sp>
        <p:nvSpPr>
          <p:cNvPr id="39952" name="Text Box 32"/>
          <p:cNvSpPr txBox="1">
            <a:spLocks noChangeArrowheads="1"/>
          </p:cNvSpPr>
          <p:nvPr/>
        </p:nvSpPr>
        <p:spPr bwMode="auto">
          <a:xfrm>
            <a:off x="5486400" y="4495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53" name="Text Box 33"/>
          <p:cNvSpPr txBox="1">
            <a:spLocks noChangeArrowheads="1"/>
          </p:cNvSpPr>
          <p:nvPr/>
        </p:nvSpPr>
        <p:spPr bwMode="auto">
          <a:xfrm>
            <a:off x="2971800" y="3352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y</a:t>
            </a:r>
          </a:p>
        </p:txBody>
      </p:sp>
      <p:sp>
        <p:nvSpPr>
          <p:cNvPr id="39954" name="Line 35"/>
          <p:cNvSpPr>
            <a:spLocks noChangeShapeType="1"/>
          </p:cNvSpPr>
          <p:nvPr/>
        </p:nvSpPr>
        <p:spPr bwMode="auto">
          <a:xfrm flipH="1">
            <a:off x="3276600" y="3733800"/>
            <a:ext cx="2362200" cy="0"/>
          </a:xfrm>
          <a:prstGeom prst="line">
            <a:avLst/>
          </a:prstGeom>
          <a:noFill/>
          <a:ln w="254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5" name="Line 36"/>
          <p:cNvSpPr>
            <a:spLocks noChangeShapeType="1"/>
          </p:cNvSpPr>
          <p:nvPr/>
        </p:nvSpPr>
        <p:spPr bwMode="auto">
          <a:xfrm>
            <a:off x="5638800" y="3733800"/>
            <a:ext cx="0" cy="838200"/>
          </a:xfrm>
          <a:prstGeom prst="line">
            <a:avLst/>
          </a:prstGeom>
          <a:noFill/>
          <a:ln w="254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6" name="Line 37"/>
          <p:cNvSpPr>
            <a:spLocks noChangeShapeType="1"/>
          </p:cNvSpPr>
          <p:nvPr/>
        </p:nvSpPr>
        <p:spPr bwMode="auto">
          <a:xfrm flipH="1" flipV="1">
            <a:off x="4114800" y="2895600"/>
            <a:ext cx="1524000" cy="838200"/>
          </a:xfrm>
          <a:prstGeom prst="line">
            <a:avLst/>
          </a:prstGeom>
          <a:noFill/>
          <a:ln w="254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7" name="Line 38"/>
          <p:cNvSpPr>
            <a:spLocks noChangeShapeType="1"/>
          </p:cNvSpPr>
          <p:nvPr/>
        </p:nvSpPr>
        <p:spPr bwMode="auto">
          <a:xfrm flipH="1">
            <a:off x="4800600" y="3657600"/>
            <a:ext cx="838200" cy="1676400"/>
          </a:xfrm>
          <a:prstGeom prst="line">
            <a:avLst/>
          </a:prstGeom>
          <a:noFill/>
          <a:ln w="254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8" name="Rectangle 39"/>
          <p:cNvSpPr>
            <a:spLocks noChangeArrowheads="1"/>
          </p:cNvSpPr>
          <p:nvPr/>
        </p:nvSpPr>
        <p:spPr bwMode="auto">
          <a:xfrm>
            <a:off x="4495800" y="533400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59" name="Rectangle 40"/>
          <p:cNvSpPr>
            <a:spLocks noChangeArrowheads="1"/>
          </p:cNvSpPr>
          <p:nvPr/>
        </p:nvSpPr>
        <p:spPr bwMode="auto">
          <a:xfrm>
            <a:off x="3733800" y="266700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dirty="0"/>
              <a:t>y´</a:t>
            </a:r>
          </a:p>
        </p:txBody>
      </p:sp>
      <p:graphicFrame>
        <p:nvGraphicFramePr>
          <p:cNvPr id="39960" name="Object 41"/>
          <p:cNvGraphicFramePr>
            <a:graphicFrameLocks noChangeAspect="1"/>
          </p:cNvGraphicFramePr>
          <p:nvPr/>
        </p:nvGraphicFramePr>
        <p:xfrm>
          <a:off x="6858000" y="2286000"/>
          <a:ext cx="3505200" cy="876300"/>
        </p:xfrm>
        <a:graphic>
          <a:graphicData uri="http://schemas.openxmlformats.org/presentationml/2006/ole">
            <mc:AlternateContent xmlns:mc="http://schemas.openxmlformats.org/markup-compatibility/2006">
              <mc:Choice xmlns:v="urn:schemas-microsoft-com:vml" Requires="v">
                <p:oleObj spid="_x0000_s3109" name="Equation" r:id="rId3" imgW="1828800" imgH="457200" progId="Equation.DSMT4">
                  <p:embed/>
                </p:oleObj>
              </mc:Choice>
              <mc:Fallback>
                <p:oleObj name="Equation" r:id="rId3" imgW="182880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2286000"/>
                        <a:ext cx="350520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1" name="AutoShape 42"/>
          <p:cNvSpPr>
            <a:spLocks/>
          </p:cNvSpPr>
          <p:nvPr/>
        </p:nvSpPr>
        <p:spPr bwMode="auto">
          <a:xfrm rot="-5375203">
            <a:off x="8726488" y="2476501"/>
            <a:ext cx="225425" cy="1981200"/>
          </a:xfrm>
          <a:prstGeom prst="leftBrace">
            <a:avLst>
              <a:gd name="adj1" fmla="val 7323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39962" name="Text Box 43"/>
          <p:cNvSpPr txBox="1">
            <a:spLocks noChangeArrowheads="1"/>
          </p:cNvSpPr>
          <p:nvPr/>
        </p:nvSpPr>
        <p:spPr bwMode="auto">
          <a:xfrm>
            <a:off x="8670925" y="3698875"/>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T</a:t>
            </a:r>
          </a:p>
        </p:txBody>
      </p:sp>
      <p:sp>
        <p:nvSpPr>
          <p:cNvPr id="39963" name="Text Box 44"/>
          <p:cNvSpPr txBox="1">
            <a:spLocks noChangeArrowheads="1"/>
          </p:cNvSpPr>
          <p:nvPr/>
        </p:nvSpPr>
        <p:spPr bwMode="auto">
          <a:xfrm>
            <a:off x="7467601" y="4724401"/>
            <a:ext cx="2869760" cy="941796"/>
          </a:xfrm>
          <a:prstGeom prst="rect">
            <a:avLst/>
          </a:prstGeom>
          <a:noFill/>
          <a:ln w="254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30000"/>
              </a:spcAft>
            </a:pPr>
            <a:r>
              <a:rPr lang="fr-FR" altLang="es-ES" dirty="0" err="1" smtClean="0"/>
              <a:t>Matriz</a:t>
            </a:r>
            <a:r>
              <a:rPr lang="fr-FR" altLang="es-ES" dirty="0" smtClean="0"/>
              <a:t> </a:t>
            </a:r>
            <a:r>
              <a:rPr lang="fr-FR" altLang="es-ES" dirty="0"/>
              <a:t>de </a:t>
            </a:r>
            <a:r>
              <a:rPr lang="fr-FR" altLang="es-ES" dirty="0" err="1" smtClean="0"/>
              <a:t>rotación</a:t>
            </a:r>
            <a:r>
              <a:rPr lang="fr-FR" altLang="es-ES" dirty="0" smtClean="0"/>
              <a:t> </a:t>
            </a:r>
            <a:r>
              <a:rPr lang="fr-FR" altLang="es-ES" dirty="0"/>
              <a:t>T :</a:t>
            </a:r>
          </a:p>
          <a:p>
            <a:r>
              <a:rPr lang="fr-FR" altLang="es-ES" dirty="0"/>
              <a:t>        T´T = T T´= I</a:t>
            </a:r>
          </a:p>
        </p:txBody>
      </p:sp>
      <p:grpSp>
        <p:nvGrpSpPr>
          <p:cNvPr id="35898" name="Group 58"/>
          <p:cNvGrpSpPr>
            <a:grpSpLocks/>
          </p:cNvGrpSpPr>
          <p:nvPr/>
        </p:nvGrpSpPr>
        <p:grpSpPr bwMode="auto">
          <a:xfrm>
            <a:off x="2730500" y="4495800"/>
            <a:ext cx="2266950" cy="914400"/>
            <a:chOff x="760" y="2832"/>
            <a:chExt cx="1428" cy="576"/>
          </a:xfrm>
        </p:grpSpPr>
        <p:sp>
          <p:nvSpPr>
            <p:cNvPr id="39973" name="Text Box 45"/>
            <p:cNvSpPr txBox="1">
              <a:spLocks noChangeArrowheads="1"/>
            </p:cNvSpPr>
            <p:nvPr/>
          </p:nvSpPr>
          <p:spPr bwMode="auto">
            <a:xfrm>
              <a:off x="1680" y="3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solidFill>
                    <a:srgbClr val="006600"/>
                  </a:solidFill>
                </a:rPr>
                <a:t>*</a:t>
              </a:r>
              <a:endParaRPr lang="fr-FR" altLang="es-ES"/>
            </a:p>
          </p:txBody>
        </p:sp>
        <p:sp>
          <p:nvSpPr>
            <p:cNvPr id="39974" name="Line 46"/>
            <p:cNvSpPr>
              <a:spLocks noChangeShapeType="1"/>
            </p:cNvSpPr>
            <p:nvPr/>
          </p:nvSpPr>
          <p:spPr bwMode="auto">
            <a:xfrm flipV="1">
              <a:off x="1776" y="2880"/>
              <a:ext cx="0" cy="336"/>
            </a:xfrm>
            <a:prstGeom prst="line">
              <a:avLst/>
            </a:prstGeom>
            <a:noFill/>
            <a:ln w="952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5" name="Line 47"/>
            <p:cNvSpPr>
              <a:spLocks noChangeShapeType="1"/>
            </p:cNvSpPr>
            <p:nvPr/>
          </p:nvSpPr>
          <p:spPr bwMode="auto">
            <a:xfrm flipH="1">
              <a:off x="1104" y="3216"/>
              <a:ext cx="672" cy="0"/>
            </a:xfrm>
            <a:prstGeom prst="line">
              <a:avLst/>
            </a:prstGeom>
            <a:noFill/>
            <a:ln w="952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6" name="Text Box 49"/>
            <p:cNvSpPr txBox="1">
              <a:spLocks noChangeArrowheads="1"/>
            </p:cNvSpPr>
            <p:nvPr/>
          </p:nvSpPr>
          <p:spPr bwMode="auto">
            <a:xfrm>
              <a:off x="1776" y="2832"/>
              <a:ext cx="4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006600"/>
                  </a:solidFill>
                </a:rPr>
                <a:t>cos</a:t>
              </a:r>
              <a:r>
                <a:rPr lang="fr-FR" altLang="es-ES" sz="2000">
                  <a:solidFill>
                    <a:srgbClr val="006600"/>
                  </a:solidFill>
                  <a:sym typeface="Symbol" panose="05050102010706020507" pitchFamily="18" charset="2"/>
                </a:rPr>
                <a:t></a:t>
              </a:r>
              <a:endParaRPr lang="fr-FR" altLang="es-ES">
                <a:solidFill>
                  <a:srgbClr val="006600"/>
                </a:solidFill>
              </a:endParaRPr>
            </a:p>
          </p:txBody>
        </p:sp>
        <p:sp>
          <p:nvSpPr>
            <p:cNvPr id="39977" name="Rectangle 50"/>
            <p:cNvSpPr>
              <a:spLocks noChangeArrowheads="1"/>
            </p:cNvSpPr>
            <p:nvPr/>
          </p:nvSpPr>
          <p:spPr bwMode="auto">
            <a:xfrm>
              <a:off x="760" y="3096"/>
              <a:ext cx="3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006600"/>
                  </a:solidFill>
                </a:rPr>
                <a:t>sin</a:t>
              </a:r>
              <a:r>
                <a:rPr lang="fr-FR" altLang="es-ES" sz="2000">
                  <a:solidFill>
                    <a:srgbClr val="006600"/>
                  </a:solidFill>
                  <a:sym typeface="Symbol" panose="05050102010706020507" pitchFamily="18" charset="2"/>
                </a:rPr>
                <a:t></a:t>
              </a:r>
              <a:endParaRPr lang="fr-FR" altLang="es-ES">
                <a:solidFill>
                  <a:srgbClr val="006600"/>
                </a:solidFill>
                <a:sym typeface="Symbol" panose="05050102010706020507" pitchFamily="18" charset="2"/>
              </a:endParaRPr>
            </a:p>
          </p:txBody>
        </p:sp>
      </p:grpSp>
      <p:sp>
        <p:nvSpPr>
          <p:cNvPr id="39965" name="Rectangle 51"/>
          <p:cNvSpPr>
            <a:spLocks noChangeArrowheads="1"/>
          </p:cNvSpPr>
          <p:nvPr/>
        </p:nvSpPr>
        <p:spPr bwMode="auto">
          <a:xfrm>
            <a:off x="6629400" y="2057400"/>
            <a:ext cx="3810000" cy="21336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35892" name="Text Box 52"/>
          <p:cNvSpPr txBox="1">
            <a:spLocks noChangeArrowheads="1"/>
          </p:cNvSpPr>
          <p:nvPr/>
        </p:nvSpPr>
        <p:spPr bwMode="auto">
          <a:xfrm>
            <a:off x="1905000" y="5867401"/>
            <a:ext cx="3161571" cy="769441"/>
          </a:xfrm>
          <a:prstGeom prst="rect">
            <a:avLst/>
          </a:prstGeom>
          <a:noFill/>
          <a:ln w="2857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dirty="0"/>
              <a:t>x´ = </a:t>
            </a:r>
            <a:r>
              <a:rPr lang="fr-FR" altLang="es-ES" sz="2000" dirty="0" err="1"/>
              <a:t>Proj</a:t>
            </a:r>
            <a:r>
              <a:rPr lang="fr-FR" altLang="es-ES" sz="2000" dirty="0"/>
              <a:t>(A) </a:t>
            </a:r>
            <a:r>
              <a:rPr lang="fr-FR" altLang="es-ES" sz="2000" dirty="0" smtClean="0"/>
              <a:t>sobre el </a:t>
            </a:r>
            <a:r>
              <a:rPr lang="fr-FR" altLang="es-ES" sz="2000" dirty="0" err="1" smtClean="0"/>
              <a:t>eje</a:t>
            </a:r>
            <a:r>
              <a:rPr lang="fr-FR" altLang="es-ES" sz="2000" dirty="0" smtClean="0"/>
              <a:t> X</a:t>
            </a:r>
            <a:r>
              <a:rPr lang="fr-FR" altLang="es-ES" sz="2000" dirty="0"/>
              <a:t>´</a:t>
            </a:r>
          </a:p>
          <a:p>
            <a:r>
              <a:rPr lang="fr-FR" altLang="es-ES" sz="2000" dirty="0"/>
              <a:t>y´ = </a:t>
            </a:r>
            <a:r>
              <a:rPr lang="fr-FR" altLang="es-ES" sz="2000" dirty="0" err="1"/>
              <a:t>Proj</a:t>
            </a:r>
            <a:r>
              <a:rPr lang="fr-FR" altLang="es-ES" sz="2000" dirty="0"/>
              <a:t>(A) sobre el </a:t>
            </a:r>
            <a:r>
              <a:rPr lang="fr-FR" altLang="es-ES" sz="2000" dirty="0" err="1"/>
              <a:t>eje</a:t>
            </a:r>
            <a:r>
              <a:rPr lang="fr-FR" altLang="es-ES" sz="2000" dirty="0"/>
              <a:t> Y´</a:t>
            </a:r>
            <a:r>
              <a:rPr lang="fr-FR" altLang="es-ES" dirty="0"/>
              <a:t>  </a:t>
            </a:r>
          </a:p>
        </p:txBody>
      </p:sp>
      <p:grpSp>
        <p:nvGrpSpPr>
          <p:cNvPr id="35900" name="Group 60"/>
          <p:cNvGrpSpPr>
            <a:grpSpLocks/>
          </p:cNvGrpSpPr>
          <p:nvPr/>
        </p:nvGrpSpPr>
        <p:grpSpPr bwMode="auto">
          <a:xfrm>
            <a:off x="2641600" y="3048000"/>
            <a:ext cx="1938338" cy="1544638"/>
            <a:chOff x="704" y="1920"/>
            <a:chExt cx="1221" cy="973"/>
          </a:xfrm>
        </p:grpSpPr>
        <p:sp>
          <p:nvSpPr>
            <p:cNvPr id="39968" name="Rectangle 53"/>
            <p:cNvSpPr>
              <a:spLocks noChangeArrowheads="1"/>
            </p:cNvSpPr>
            <p:nvPr/>
          </p:nvSpPr>
          <p:spPr bwMode="auto">
            <a:xfrm>
              <a:off x="1400" y="199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solidFill>
                    <a:srgbClr val="FF9900"/>
                  </a:solidFill>
                </a:rPr>
                <a:t>*</a:t>
              </a:r>
              <a:endParaRPr lang="fr-FR" altLang="es-ES"/>
            </a:p>
          </p:txBody>
        </p:sp>
        <p:sp>
          <p:nvSpPr>
            <p:cNvPr id="39969" name="Rectangle 54"/>
            <p:cNvSpPr>
              <a:spLocks noChangeArrowheads="1"/>
            </p:cNvSpPr>
            <p:nvPr/>
          </p:nvSpPr>
          <p:spPr bwMode="auto">
            <a:xfrm>
              <a:off x="1487" y="2608"/>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FF9900"/>
                  </a:solidFill>
                </a:rPr>
                <a:t>-sin</a:t>
              </a:r>
              <a:r>
                <a:rPr lang="fr-FR" altLang="es-ES" sz="2000">
                  <a:solidFill>
                    <a:srgbClr val="FF9900"/>
                  </a:solidFill>
                  <a:sym typeface="Symbol" panose="05050102010706020507" pitchFamily="18" charset="2"/>
                </a:rPr>
                <a:t></a:t>
              </a:r>
              <a:endParaRPr lang="fr-FR" altLang="es-ES" sz="2000">
                <a:solidFill>
                  <a:srgbClr val="006600"/>
                </a:solidFill>
                <a:sym typeface="Symbol" panose="05050102010706020507" pitchFamily="18" charset="2"/>
              </a:endParaRPr>
            </a:p>
          </p:txBody>
        </p:sp>
        <p:sp>
          <p:nvSpPr>
            <p:cNvPr id="39970" name="Line 55"/>
            <p:cNvSpPr>
              <a:spLocks noChangeShapeType="1"/>
            </p:cNvSpPr>
            <p:nvPr/>
          </p:nvSpPr>
          <p:spPr bwMode="auto">
            <a:xfrm>
              <a:off x="1500" y="2101"/>
              <a:ext cx="9" cy="792"/>
            </a:xfrm>
            <a:prstGeom prst="line">
              <a:avLst/>
            </a:prstGeom>
            <a:noFill/>
            <a:ln w="9525" cap="rnd">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1" name="Line 56"/>
            <p:cNvSpPr>
              <a:spLocks noChangeShapeType="1"/>
            </p:cNvSpPr>
            <p:nvPr/>
          </p:nvSpPr>
          <p:spPr bwMode="auto">
            <a:xfrm flipH="1" flipV="1">
              <a:off x="1102" y="2085"/>
              <a:ext cx="417" cy="8"/>
            </a:xfrm>
            <a:prstGeom prst="line">
              <a:avLst/>
            </a:prstGeom>
            <a:noFill/>
            <a:ln w="9525">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2" name="Rectangle 57"/>
            <p:cNvSpPr>
              <a:spLocks noChangeArrowheads="1"/>
            </p:cNvSpPr>
            <p:nvPr/>
          </p:nvSpPr>
          <p:spPr bwMode="auto">
            <a:xfrm>
              <a:off x="704" y="1920"/>
              <a:ext cx="4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FF9900"/>
                  </a:solidFill>
                </a:rPr>
                <a:t>cos</a:t>
              </a:r>
              <a:r>
                <a:rPr lang="fr-FR" altLang="es-ES" sz="2000">
                  <a:solidFill>
                    <a:srgbClr val="FF9900"/>
                  </a:solidFill>
                  <a:sym typeface="Symbol" panose="05050102010706020507" pitchFamily="18" charset="2"/>
                </a:rPr>
                <a:t></a:t>
              </a:r>
              <a:endParaRPr lang="fr-FR" altLang="es-ES" sz="2000">
                <a:solidFill>
                  <a:srgbClr val="006600"/>
                </a:solidFill>
                <a:sym typeface="Symbol" panose="05050102010706020507" pitchFamily="18" charset="2"/>
              </a:endParaRPr>
            </a:p>
          </p:txBody>
        </p:sp>
      </p:grpSp>
    </p:spTree>
    <p:extLst>
      <p:ext uri="{BB962C8B-B14F-4D97-AF65-F5344CB8AC3E}">
        <p14:creationId xmlns:p14="http://schemas.microsoft.com/office/powerpoint/2010/main" val="2590074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92"/>
                                        </p:tgtEl>
                                        <p:attrNameLst>
                                          <p:attrName>style.visibility</p:attrName>
                                        </p:attrNameLst>
                                      </p:cBhvr>
                                      <p:to>
                                        <p:strVal val="visible"/>
                                      </p:to>
                                    </p:set>
                                    <p:anim calcmode="lin" valueType="num">
                                      <p:cBhvr additive="base">
                                        <p:cTn id="7" dur="500" fill="hold"/>
                                        <p:tgtEl>
                                          <p:spTgt spid="35892"/>
                                        </p:tgtEl>
                                        <p:attrNameLst>
                                          <p:attrName>ppt_x</p:attrName>
                                        </p:attrNameLst>
                                      </p:cBhvr>
                                      <p:tavLst>
                                        <p:tav tm="0">
                                          <p:val>
                                            <p:strVal val="0-#ppt_w/2"/>
                                          </p:val>
                                        </p:tav>
                                        <p:tav tm="100000">
                                          <p:val>
                                            <p:strVal val="#ppt_x"/>
                                          </p:val>
                                        </p:tav>
                                      </p:tavLst>
                                    </p:anim>
                                    <p:anim calcmode="lin" valueType="num">
                                      <p:cBhvr additive="base">
                                        <p:cTn id="8" dur="500" fill="hold"/>
                                        <p:tgtEl>
                                          <p:spTgt spid="358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5898"/>
                                        </p:tgtEl>
                                        <p:attrNameLst>
                                          <p:attrName>style.visibility</p:attrName>
                                        </p:attrNameLst>
                                      </p:cBhvr>
                                      <p:to>
                                        <p:strVal val="visible"/>
                                      </p:to>
                                    </p:set>
                                    <p:anim calcmode="lin" valueType="num">
                                      <p:cBhvr additive="base">
                                        <p:cTn id="13" dur="500" fill="hold"/>
                                        <p:tgtEl>
                                          <p:spTgt spid="35898"/>
                                        </p:tgtEl>
                                        <p:attrNameLst>
                                          <p:attrName>ppt_x</p:attrName>
                                        </p:attrNameLst>
                                      </p:cBhvr>
                                      <p:tavLst>
                                        <p:tav tm="0">
                                          <p:val>
                                            <p:strVal val="0-#ppt_w/2"/>
                                          </p:val>
                                        </p:tav>
                                        <p:tav tm="100000">
                                          <p:val>
                                            <p:strVal val="#ppt_x"/>
                                          </p:val>
                                        </p:tav>
                                      </p:tavLst>
                                    </p:anim>
                                    <p:anim calcmode="lin" valueType="num">
                                      <p:cBhvr additive="base">
                                        <p:cTn id="14" dur="500" fill="hold"/>
                                        <p:tgtEl>
                                          <p:spTgt spid="358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59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9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42405" y="234497"/>
            <a:ext cx="10515600" cy="1325563"/>
          </a:xfrm>
        </p:spPr>
        <p:txBody>
          <a:bodyPr/>
          <a:lstStyle/>
          <a:p>
            <a:pPr algn="ctr"/>
            <a:r>
              <a:rPr lang="es-CR" dirty="0" smtClean="0"/>
              <a:t>La rotación factorial</a:t>
            </a:r>
            <a:endParaRPr lang="es-ES" dirty="0"/>
          </a:p>
        </p:txBody>
      </p:sp>
      <p:sp>
        <p:nvSpPr>
          <p:cNvPr id="3" name="Marcador de contenido 2"/>
          <p:cNvSpPr>
            <a:spLocks noGrp="1"/>
          </p:cNvSpPr>
          <p:nvPr>
            <p:ph idx="1"/>
          </p:nvPr>
        </p:nvSpPr>
        <p:spPr>
          <a:xfrm>
            <a:off x="483358" y="1429839"/>
            <a:ext cx="10515600" cy="5216621"/>
          </a:xfrm>
        </p:spPr>
        <p:txBody>
          <a:bodyPr>
            <a:normAutofit/>
          </a:bodyPr>
          <a:lstStyle/>
          <a:p>
            <a:r>
              <a:rPr lang="es-CR" sz="2400" dirty="0" smtClean="0"/>
              <a:t>Hay diversos métodos de rotación, es decir, métodos para encontrar la matriz que rote la solución inicial y la transforme en una más fácil de </a:t>
            </a:r>
            <a:r>
              <a:rPr lang="es-CR" sz="2400" dirty="0" err="1" smtClean="0"/>
              <a:t>intrepretar</a:t>
            </a:r>
            <a:r>
              <a:rPr lang="es-CR" sz="2400" dirty="0" smtClean="0"/>
              <a:t>.</a:t>
            </a:r>
          </a:p>
          <a:p>
            <a:endParaRPr lang="es-CR" sz="2400" dirty="0"/>
          </a:p>
          <a:p>
            <a:r>
              <a:rPr lang="es-CR" sz="2400" dirty="0" smtClean="0"/>
              <a:t>El método más usado es el método VARIMAX. Intenta minimizar el número de variables que tienen cargas altas en un factor para así simplificar la interpretación de los factores.</a:t>
            </a:r>
          </a:p>
          <a:p>
            <a:endParaRPr lang="es-CR" sz="2400" dirty="0"/>
          </a:p>
          <a:p>
            <a:r>
              <a:rPr lang="es-CR" sz="2400" dirty="0" smtClean="0"/>
              <a:t>El Método QUARTIMAX busca minimizar el número de factores necesarios para explicar una variable, con la intención de simplificar la interpretación de las variables. </a:t>
            </a:r>
          </a:p>
          <a:p>
            <a:endParaRPr lang="es-CR" sz="2400" dirty="0"/>
          </a:p>
          <a:p>
            <a:r>
              <a:rPr lang="es-CR" sz="2400" dirty="0" smtClean="0"/>
              <a:t>El método EQUAMAX es una combinación del método VARIMAX y QUARTIMAX.</a:t>
            </a:r>
            <a:endParaRPr lang="es-ES" sz="2400" dirty="0"/>
          </a:p>
        </p:txBody>
      </p:sp>
    </p:spTree>
    <p:extLst>
      <p:ext uri="{BB962C8B-B14F-4D97-AF65-F5344CB8AC3E}">
        <p14:creationId xmlns:p14="http://schemas.microsoft.com/office/powerpoint/2010/main" val="33847704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38703"/>
            <a:ext cx="10515600" cy="888908"/>
          </a:xfrm>
        </p:spPr>
        <p:txBody>
          <a:bodyPr/>
          <a:lstStyle/>
          <a:p>
            <a:pPr algn="ctr"/>
            <a:r>
              <a:rPr lang="es-CR" dirty="0" smtClean="0"/>
              <a:t>Etapas de un AF</a:t>
            </a:r>
            <a:endParaRPr lang="es-ES" dirty="0"/>
          </a:p>
        </p:txBody>
      </p:sp>
      <p:sp>
        <p:nvSpPr>
          <p:cNvPr id="3" name="Marcador de contenido 2"/>
          <p:cNvSpPr>
            <a:spLocks noGrp="1"/>
          </p:cNvSpPr>
          <p:nvPr>
            <p:ph idx="1"/>
          </p:nvPr>
        </p:nvSpPr>
        <p:spPr>
          <a:xfrm>
            <a:off x="237308" y="1155064"/>
            <a:ext cx="10515600" cy="5088982"/>
          </a:xfrm>
        </p:spPr>
        <p:txBody>
          <a:bodyPr>
            <a:normAutofit/>
          </a:bodyPr>
          <a:lstStyle/>
          <a:p>
            <a:r>
              <a:rPr lang="es-CR" sz="2400" dirty="0" smtClean="0"/>
              <a:t>Al hacer un AF, se deberían llevar a cabo las siguientes etapas:</a:t>
            </a:r>
          </a:p>
          <a:p>
            <a:pPr marL="0" indent="0">
              <a:buNone/>
            </a:pPr>
            <a:endParaRPr lang="es-CR" sz="2400" dirty="0"/>
          </a:p>
          <a:p>
            <a:pPr marL="457200" indent="-457200">
              <a:buAutoNum type="arabicPeriod"/>
            </a:pPr>
            <a:r>
              <a:rPr lang="es-CR" sz="2400" dirty="0" smtClean="0"/>
              <a:t>Análisis descriptivos de las variables.</a:t>
            </a:r>
          </a:p>
          <a:p>
            <a:pPr marL="457200" indent="-457200">
              <a:buAutoNum type="arabicPeriod"/>
            </a:pPr>
            <a:r>
              <a:rPr lang="es-CR" sz="2400" dirty="0" smtClean="0"/>
              <a:t>Primera aproximación de la composición de los datos.</a:t>
            </a:r>
          </a:p>
          <a:p>
            <a:pPr marL="457200" indent="-457200">
              <a:buAutoNum type="arabicPeriod"/>
            </a:pPr>
            <a:r>
              <a:rPr lang="es-CR" sz="2400" dirty="0" smtClean="0"/>
              <a:t>Determinar el número de las factores.</a:t>
            </a:r>
          </a:p>
          <a:p>
            <a:pPr marL="457200" indent="-457200">
              <a:buAutoNum type="arabicPeriod"/>
            </a:pPr>
            <a:r>
              <a:rPr lang="es-CR" sz="2400" dirty="0" smtClean="0"/>
              <a:t>Segunda aproximación de la composición de los datos.</a:t>
            </a:r>
          </a:p>
          <a:p>
            <a:pPr marL="457200" indent="-457200">
              <a:buAutoNum type="arabicPeriod"/>
            </a:pPr>
            <a:r>
              <a:rPr lang="es-CR" sz="2400" dirty="0" smtClean="0"/>
              <a:t>Ajustar diversos tipos de rotación.</a:t>
            </a:r>
          </a:p>
          <a:p>
            <a:pPr marL="457200" indent="-457200">
              <a:buFont typeface="Arial" panose="020B0604020202020204" pitchFamily="34" charset="0"/>
              <a:buAutoNum type="arabicPeriod"/>
            </a:pPr>
            <a:r>
              <a:rPr lang="es-CR" sz="2400" dirty="0"/>
              <a:t>Determinada la mejor solución en el agrupamiento de variables. </a:t>
            </a:r>
            <a:endParaRPr lang="es-ES" sz="2400" dirty="0"/>
          </a:p>
          <a:p>
            <a:pPr marL="0" indent="0">
              <a:buNone/>
            </a:pPr>
            <a:r>
              <a:rPr lang="es-CR" sz="2400" dirty="0" smtClean="0"/>
              <a:t> </a:t>
            </a:r>
            <a:endParaRPr lang="es-ES" sz="2400" dirty="0"/>
          </a:p>
        </p:txBody>
      </p:sp>
    </p:spTree>
    <p:extLst>
      <p:ext uri="{BB962C8B-B14F-4D97-AF65-F5344CB8AC3E}">
        <p14:creationId xmlns:p14="http://schemas.microsoft.com/office/powerpoint/2010/main" val="13522694"/>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05818"/>
            <a:ext cx="10515600" cy="958707"/>
          </a:xfrm>
        </p:spPr>
        <p:txBody>
          <a:bodyPr/>
          <a:lstStyle/>
          <a:p>
            <a:pPr algn="ctr"/>
            <a:r>
              <a:rPr lang="es-CR" dirty="0" smtClean="0"/>
              <a:t>Análisis descriptivo de las variables</a:t>
            </a:r>
            <a:endParaRPr lang="es-ES" dirty="0"/>
          </a:p>
        </p:txBody>
      </p:sp>
      <p:sp>
        <p:nvSpPr>
          <p:cNvPr id="3" name="Marcador de contenido 2"/>
          <p:cNvSpPr>
            <a:spLocks noGrp="1"/>
          </p:cNvSpPr>
          <p:nvPr>
            <p:ph idx="1"/>
          </p:nvPr>
        </p:nvSpPr>
        <p:spPr>
          <a:xfrm>
            <a:off x="416289" y="1361601"/>
            <a:ext cx="5331368" cy="4351338"/>
          </a:xfrm>
        </p:spPr>
        <p:txBody>
          <a:bodyPr>
            <a:normAutofit/>
          </a:bodyPr>
          <a:lstStyle/>
          <a:p>
            <a:r>
              <a:rPr lang="es-CR" sz="2400" dirty="0" smtClean="0"/>
              <a:t>Análisis de posición y variabilidad de cada variable. </a:t>
            </a:r>
          </a:p>
          <a:p>
            <a:endParaRPr lang="es-CR" sz="2400" dirty="0"/>
          </a:p>
          <a:p>
            <a:r>
              <a:rPr lang="es-CR" sz="2400" dirty="0" smtClean="0"/>
              <a:t>Distribución de las variables.</a:t>
            </a:r>
          </a:p>
          <a:p>
            <a:endParaRPr lang="es-CR" sz="2400" dirty="0"/>
          </a:p>
          <a:p>
            <a:r>
              <a:rPr lang="es-CR" sz="2400" dirty="0" smtClean="0"/>
              <a:t>Correlaciones y </a:t>
            </a:r>
            <a:r>
              <a:rPr lang="es-CR" sz="2400" dirty="0" err="1" smtClean="0"/>
              <a:t>correlograma</a:t>
            </a:r>
            <a:r>
              <a:rPr lang="es-CR" sz="2400" dirty="0" smtClean="0"/>
              <a:t>.</a:t>
            </a:r>
            <a:endParaRPr lang="es-ES" sz="2400" dirty="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2418" y="1361601"/>
            <a:ext cx="5241902" cy="5256913"/>
          </a:xfrm>
          <a:prstGeom prst="rect">
            <a:avLst/>
          </a:prstGeom>
        </p:spPr>
      </p:pic>
    </p:spTree>
    <p:extLst>
      <p:ext uri="{BB962C8B-B14F-4D97-AF65-F5344CB8AC3E}">
        <p14:creationId xmlns:p14="http://schemas.microsoft.com/office/powerpoint/2010/main" val="1206446791"/>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36665" y="112577"/>
            <a:ext cx="11118669" cy="1106624"/>
          </a:xfrm>
        </p:spPr>
        <p:txBody>
          <a:bodyPr/>
          <a:lstStyle/>
          <a:p>
            <a:pPr algn="ctr"/>
            <a:r>
              <a:rPr lang="es-CR" dirty="0" smtClean="0"/>
              <a:t>Primera aproximación de la estructura</a:t>
            </a:r>
            <a:endParaRPr lang="es-ES" dirty="0"/>
          </a:p>
        </p:txBody>
      </p:sp>
      <p:sp>
        <p:nvSpPr>
          <p:cNvPr id="3" name="Marcador de contenido 2"/>
          <p:cNvSpPr>
            <a:spLocks noGrp="1"/>
          </p:cNvSpPr>
          <p:nvPr>
            <p:ph idx="1"/>
          </p:nvPr>
        </p:nvSpPr>
        <p:spPr>
          <a:xfrm>
            <a:off x="536665" y="1303110"/>
            <a:ext cx="9260478" cy="5245736"/>
          </a:xfrm>
        </p:spPr>
        <p:txBody>
          <a:bodyPr>
            <a:normAutofit/>
          </a:bodyPr>
          <a:lstStyle/>
          <a:p>
            <a:pPr algn="just"/>
            <a:r>
              <a:rPr lang="es-CR" sz="2400" dirty="0" smtClean="0"/>
              <a:t>Se obtiene el primer modelo del AF.</a:t>
            </a:r>
          </a:p>
          <a:p>
            <a:pPr algn="just"/>
            <a:endParaRPr lang="es-CR" sz="2400" dirty="0"/>
          </a:p>
          <a:p>
            <a:pPr algn="just"/>
            <a:r>
              <a:rPr lang="es-CR" sz="2400" dirty="0" smtClean="0"/>
              <a:t>Se aconseja al inicio adecuar el modelo con un número relativamente grande de factores.</a:t>
            </a:r>
          </a:p>
          <a:p>
            <a:pPr algn="just"/>
            <a:endParaRPr lang="es-CR" sz="2400" dirty="0"/>
          </a:p>
          <a:p>
            <a:pPr algn="just"/>
            <a:r>
              <a:rPr lang="es-CR" sz="2400" dirty="0" smtClean="0"/>
              <a:t>Al inicio no introducimos rotaciones ni nada. Es el modelo simple, el ortogonal.</a:t>
            </a:r>
          </a:p>
          <a:p>
            <a:pPr algn="just"/>
            <a:endParaRPr lang="es-CR" sz="2400" dirty="0"/>
          </a:p>
          <a:p>
            <a:pPr algn="just"/>
            <a:r>
              <a:rPr lang="es-CR" sz="2400" dirty="0" smtClean="0"/>
              <a:t>Valoramos un poco qué variables son pertenecientes a qué factores. </a:t>
            </a:r>
          </a:p>
          <a:p>
            <a:pPr algn="just"/>
            <a:endParaRPr lang="es-CR" sz="2400" dirty="0"/>
          </a:p>
          <a:p>
            <a:pPr algn="just"/>
            <a:r>
              <a:rPr lang="es-CR" sz="2400" dirty="0" smtClean="0"/>
              <a:t>Esto nos permite ver si hay factores sobrantes.</a:t>
            </a:r>
            <a:endParaRPr lang="es-ES" sz="2400" dirty="0"/>
          </a:p>
        </p:txBody>
      </p:sp>
    </p:spTree>
    <p:extLst>
      <p:ext uri="{BB962C8B-B14F-4D97-AF65-F5344CB8AC3E}">
        <p14:creationId xmlns:p14="http://schemas.microsoft.com/office/powerpoint/2010/main" val="985374571"/>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5097" y="138703"/>
            <a:ext cx="10868297" cy="993411"/>
          </a:xfrm>
        </p:spPr>
        <p:txBody>
          <a:bodyPr/>
          <a:lstStyle/>
          <a:p>
            <a:pPr algn="ctr"/>
            <a:r>
              <a:rPr lang="es-CR" dirty="0" smtClean="0"/>
              <a:t>Determinación del número de componentes</a:t>
            </a:r>
            <a:endParaRPr lang="es-ES" dirty="0"/>
          </a:p>
        </p:txBody>
      </p:sp>
      <p:sp>
        <p:nvSpPr>
          <p:cNvPr id="3" name="Marcador de contenido 2"/>
          <p:cNvSpPr>
            <a:spLocks noGrp="1"/>
          </p:cNvSpPr>
          <p:nvPr>
            <p:ph idx="1"/>
          </p:nvPr>
        </p:nvSpPr>
        <p:spPr>
          <a:xfrm>
            <a:off x="263434" y="1455557"/>
            <a:ext cx="5884817" cy="4750536"/>
          </a:xfrm>
        </p:spPr>
        <p:txBody>
          <a:bodyPr>
            <a:normAutofit/>
          </a:bodyPr>
          <a:lstStyle/>
          <a:p>
            <a:pPr algn="just"/>
            <a:r>
              <a:rPr lang="es-CR" sz="2400" dirty="0" smtClean="0"/>
              <a:t>Se debe determinar un número de factores.</a:t>
            </a:r>
          </a:p>
          <a:p>
            <a:pPr algn="just"/>
            <a:endParaRPr lang="es-CR" sz="2400" dirty="0"/>
          </a:p>
          <a:p>
            <a:pPr algn="just"/>
            <a:r>
              <a:rPr lang="es-CR" sz="2400" dirty="0" smtClean="0"/>
              <a:t>Hay diversos criterios, pero la mayoría de veces se prefiere utilizar el gráfico de sedimentación.</a:t>
            </a:r>
          </a:p>
          <a:p>
            <a:pPr algn="just"/>
            <a:endParaRPr lang="es-CR" sz="2400" dirty="0"/>
          </a:p>
          <a:p>
            <a:pPr algn="just"/>
            <a:r>
              <a:rPr lang="es-CR" sz="2400" dirty="0" smtClean="0"/>
              <a:t>El mismo gráfico de sedimentación posee otros criterios para saber cual podría ser la mejor estructura.</a:t>
            </a:r>
            <a:endParaRPr lang="es-ES" sz="2400" dirty="0"/>
          </a:p>
        </p:txBody>
      </p:sp>
      <p:pic>
        <p:nvPicPr>
          <p:cNvPr id="4" name="Marcador de contenido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3469" y="1293835"/>
            <a:ext cx="5368268" cy="5073979"/>
          </a:xfrm>
          <a:prstGeom prst="rect">
            <a:avLst/>
          </a:prstGeom>
        </p:spPr>
      </p:pic>
    </p:spTree>
    <p:extLst>
      <p:ext uri="{BB962C8B-B14F-4D97-AF65-F5344CB8AC3E}">
        <p14:creationId xmlns:p14="http://schemas.microsoft.com/office/powerpoint/2010/main" val="13984454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03867"/>
            <a:ext cx="10515600" cy="897618"/>
          </a:xfrm>
        </p:spPr>
        <p:txBody>
          <a:bodyPr/>
          <a:lstStyle/>
          <a:p>
            <a:pPr algn="ctr"/>
            <a:r>
              <a:rPr lang="es-CR" dirty="0" smtClean="0"/>
              <a:t>Agrupación de las variables</a:t>
            </a:r>
            <a:endParaRPr lang="es-ES" dirty="0"/>
          </a:p>
        </p:txBody>
      </p:sp>
      <p:sp>
        <p:nvSpPr>
          <p:cNvPr id="3" name="Marcador de contenido 2"/>
          <p:cNvSpPr>
            <a:spLocks noGrp="1"/>
          </p:cNvSpPr>
          <p:nvPr>
            <p:ph idx="1"/>
          </p:nvPr>
        </p:nvSpPr>
        <p:spPr>
          <a:xfrm>
            <a:off x="298269" y="1189899"/>
            <a:ext cx="6093823" cy="5332821"/>
          </a:xfrm>
        </p:spPr>
        <p:txBody>
          <a:bodyPr>
            <a:normAutofit/>
          </a:bodyPr>
          <a:lstStyle/>
          <a:p>
            <a:pPr algn="just"/>
            <a:r>
              <a:rPr lang="es-CR" sz="2400" dirty="0" smtClean="0"/>
              <a:t>Otra forma de ver la agrupación de las variables es mediante el gráfico de estas contra los factores.</a:t>
            </a:r>
          </a:p>
          <a:p>
            <a:pPr algn="just"/>
            <a:endParaRPr lang="es-CR" sz="2400" dirty="0"/>
          </a:p>
          <a:p>
            <a:pPr algn="just"/>
            <a:r>
              <a:rPr lang="es-CR" sz="2400" dirty="0" smtClean="0"/>
              <a:t>¿Alguna idea de cuáles y cuántos grupos? </a:t>
            </a:r>
            <a:endParaRPr lang="es-ES" sz="2400" dirty="0"/>
          </a:p>
        </p:txBody>
      </p:sp>
      <p:pic>
        <p:nvPicPr>
          <p:cNvPr id="5" name="Imagen 4"/>
          <p:cNvPicPr>
            <a:picLocks noChangeAspect="1"/>
          </p:cNvPicPr>
          <p:nvPr/>
        </p:nvPicPr>
        <p:blipFill rotWithShape="1">
          <a:blip r:embed="rId2">
            <a:extLst>
              <a:ext uri="{28A0092B-C50C-407E-A947-70E740481C1C}">
                <a14:useLocalDpi xmlns:a14="http://schemas.microsoft.com/office/drawing/2010/main" val="0"/>
              </a:ext>
            </a:extLst>
          </a:blip>
          <a:srcRect t="14145" r="6625" b="3215"/>
          <a:stretch/>
        </p:blipFill>
        <p:spPr>
          <a:xfrm>
            <a:off x="6885542" y="1602378"/>
            <a:ext cx="5049113" cy="4920342"/>
          </a:xfrm>
          <a:prstGeom prst="rect">
            <a:avLst/>
          </a:prstGeom>
        </p:spPr>
      </p:pic>
    </p:spTree>
    <p:extLst>
      <p:ext uri="{BB962C8B-B14F-4D97-AF65-F5344CB8AC3E}">
        <p14:creationId xmlns:p14="http://schemas.microsoft.com/office/powerpoint/2010/main" val="4083658096"/>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37308" y="1303111"/>
            <a:ext cx="6503126" cy="5271860"/>
          </a:xfrm>
        </p:spPr>
        <p:txBody>
          <a:bodyPr>
            <a:normAutofit/>
          </a:bodyPr>
          <a:lstStyle/>
          <a:p>
            <a:pPr algn="just"/>
            <a:r>
              <a:rPr lang="es-CR" sz="2400" dirty="0" smtClean="0"/>
              <a:t>Se vuelve a estimar el AF, pero esta vez ajustando  por el número de factores y agregando un tipo de rotación.</a:t>
            </a:r>
          </a:p>
          <a:p>
            <a:pPr algn="just"/>
            <a:endParaRPr lang="es-CR" sz="2400" dirty="0"/>
          </a:p>
          <a:p>
            <a:pPr algn="just"/>
            <a:r>
              <a:rPr lang="es-CR" sz="2400" dirty="0" smtClean="0"/>
              <a:t>Esta parte suele ser bastante iterativa, dado que para ver valorar correctamente el nombre de los factores, se deban correr varios tipos de rotación.</a:t>
            </a:r>
          </a:p>
          <a:p>
            <a:pPr algn="just"/>
            <a:endParaRPr lang="es-CR" sz="2400" dirty="0" smtClean="0"/>
          </a:p>
          <a:p>
            <a:pPr algn="just"/>
            <a:r>
              <a:rPr lang="es-CR" sz="2400" dirty="0" smtClean="0"/>
              <a:t>Una forma de ver el mejor ajuste, es corroborando de nuevo el gráfico de las variables contra los primeros factores.</a:t>
            </a:r>
          </a:p>
          <a:p>
            <a:endParaRPr lang="es-CR" sz="2400" dirty="0"/>
          </a:p>
        </p:txBody>
      </p:sp>
      <p:sp>
        <p:nvSpPr>
          <p:cNvPr id="6" name="Título 1"/>
          <p:cNvSpPr>
            <a:spLocks noGrp="1"/>
          </p:cNvSpPr>
          <p:nvPr>
            <p:ph type="title"/>
          </p:nvPr>
        </p:nvSpPr>
        <p:spPr>
          <a:xfrm>
            <a:off x="536665" y="112577"/>
            <a:ext cx="11118669" cy="1106624"/>
          </a:xfrm>
        </p:spPr>
        <p:txBody>
          <a:bodyPr/>
          <a:lstStyle/>
          <a:p>
            <a:pPr algn="ctr"/>
            <a:r>
              <a:rPr lang="es-CR" dirty="0" smtClean="0"/>
              <a:t>Fijación del n° de componentes + rotación</a:t>
            </a:r>
            <a:endParaRPr lang="es-ES" dirty="0"/>
          </a:p>
        </p:txBody>
      </p:sp>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t="15175" r="6970" b="3831"/>
          <a:stretch/>
        </p:blipFill>
        <p:spPr>
          <a:xfrm>
            <a:off x="7062652" y="1419496"/>
            <a:ext cx="4929051" cy="5155475"/>
          </a:xfrm>
          <a:prstGeom prst="rect">
            <a:avLst/>
          </a:prstGeom>
        </p:spPr>
      </p:pic>
    </p:spTree>
    <p:extLst>
      <p:ext uri="{BB962C8B-B14F-4D97-AF65-F5344CB8AC3E}">
        <p14:creationId xmlns:p14="http://schemas.microsoft.com/office/powerpoint/2010/main" val="26598670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5983" y="156120"/>
            <a:ext cx="10515600" cy="766990"/>
          </a:xfrm>
        </p:spPr>
        <p:txBody>
          <a:bodyPr/>
          <a:lstStyle/>
          <a:p>
            <a:pPr algn="ctr"/>
            <a:r>
              <a:rPr lang="es-CR" dirty="0" smtClean="0"/>
              <a:t>Agrupación final de las variables</a:t>
            </a:r>
            <a:endParaRPr lang="es-ES" dirty="0"/>
          </a:p>
        </p:txBody>
      </p:sp>
      <p:sp>
        <p:nvSpPr>
          <p:cNvPr id="3" name="Marcador de contenido 2"/>
          <p:cNvSpPr>
            <a:spLocks noGrp="1"/>
          </p:cNvSpPr>
          <p:nvPr>
            <p:ph idx="1"/>
          </p:nvPr>
        </p:nvSpPr>
        <p:spPr>
          <a:xfrm>
            <a:off x="272144" y="1207316"/>
            <a:ext cx="6172199" cy="5411198"/>
          </a:xfrm>
        </p:spPr>
        <p:txBody>
          <a:bodyPr>
            <a:normAutofit/>
          </a:bodyPr>
          <a:lstStyle/>
          <a:p>
            <a:pPr algn="just"/>
            <a:r>
              <a:rPr lang="es-CR" sz="2400" dirty="0" smtClean="0"/>
              <a:t>Agrupado el número de variables, conviene finalmente analizar si estas se juntaron correctamente.</a:t>
            </a:r>
          </a:p>
          <a:p>
            <a:pPr algn="just"/>
            <a:endParaRPr lang="es-CR" sz="2400" dirty="0"/>
          </a:p>
          <a:p>
            <a:pPr algn="just"/>
            <a:r>
              <a:rPr lang="es-CR" sz="2400" dirty="0" smtClean="0"/>
              <a:t>Es pertinente volver a correr el modelo del AF para el grupo de variables.</a:t>
            </a:r>
          </a:p>
          <a:p>
            <a:pPr algn="just"/>
            <a:endParaRPr lang="es-CR" sz="2400" dirty="0"/>
          </a:p>
          <a:p>
            <a:pPr algn="just"/>
            <a:r>
              <a:rPr lang="es-CR" sz="2400" dirty="0" smtClean="0"/>
              <a:t>Se busca que los grupos estén relativamente separados entre ellos.</a:t>
            </a:r>
          </a:p>
          <a:p>
            <a:pPr algn="just"/>
            <a:endParaRPr lang="es-CR" sz="2400" dirty="0"/>
          </a:p>
          <a:p>
            <a:pPr algn="just"/>
            <a:r>
              <a:rPr lang="es-CR" sz="2400" dirty="0" smtClean="0"/>
              <a:t>¿Qué se puede finalmente concluir?</a:t>
            </a:r>
            <a:endParaRPr lang="es-ES" sz="2400" dirty="0"/>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l="921" t="14262" r="6626" b="3464"/>
          <a:stretch/>
        </p:blipFill>
        <p:spPr>
          <a:xfrm>
            <a:off x="6862353" y="1628504"/>
            <a:ext cx="5094516" cy="4563290"/>
          </a:xfrm>
          <a:prstGeom prst="rect">
            <a:avLst/>
          </a:prstGeom>
        </p:spPr>
      </p:pic>
    </p:spTree>
    <p:extLst>
      <p:ext uri="{BB962C8B-B14F-4D97-AF65-F5344CB8AC3E}">
        <p14:creationId xmlns:p14="http://schemas.microsoft.com/office/powerpoint/2010/main" val="3239494350"/>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76645" y="1120229"/>
            <a:ext cx="10953206" cy="5585371"/>
          </a:xfrm>
        </p:spPr>
        <p:txBody>
          <a:bodyPr>
            <a:normAutofit lnSpcReduction="10000"/>
          </a:bodyPr>
          <a:lstStyle/>
          <a:p>
            <a:pPr algn="just"/>
            <a:r>
              <a:rPr lang="es-CR" sz="2400" dirty="0" smtClean="0"/>
              <a:t>Aunque el AF se fundamente en la estructura subyacente de las variables, se pueden caracterizar a los individuos.</a:t>
            </a:r>
          </a:p>
          <a:p>
            <a:pPr algn="just"/>
            <a:endParaRPr lang="es-CR" sz="2400" dirty="0"/>
          </a:p>
          <a:p>
            <a:pPr algn="just"/>
            <a:r>
              <a:rPr lang="es-CR" sz="2400" dirty="0" smtClean="0"/>
              <a:t>En efecto, se suele utilizar el puntaje del análisis factorial (factor score), para saber cómo estos resultaron según cada uno de los factores.</a:t>
            </a:r>
          </a:p>
          <a:p>
            <a:pPr algn="just"/>
            <a:endParaRPr lang="es-CR" sz="2400" dirty="0"/>
          </a:p>
          <a:p>
            <a:pPr algn="just"/>
            <a:r>
              <a:rPr lang="es-CR" sz="2400" dirty="0" smtClean="0"/>
              <a:t>Puntajes altos en cierto factor indican que estos se representan fuertemente en dichos factores, y puntajes bajos lo contrario.</a:t>
            </a:r>
          </a:p>
          <a:p>
            <a:endParaRPr lang="es-CR" sz="2400" dirty="0"/>
          </a:p>
          <a:p>
            <a:r>
              <a:rPr lang="es-CR" sz="2400" dirty="0" smtClean="0"/>
              <a:t> Esto no lo veremos por ahora, pero en todo análisis se pueden caracterizar a los sujetos. </a:t>
            </a:r>
          </a:p>
          <a:p>
            <a:endParaRPr lang="es-CR" sz="2400" dirty="0"/>
          </a:p>
          <a:p>
            <a:r>
              <a:rPr lang="es-CR" sz="2400" dirty="0" smtClean="0"/>
              <a:t>Normalmente, todo el análisis sobre variables e individuos, lo podríamos replicar en el AF.</a:t>
            </a:r>
            <a:endParaRPr lang="es-ES" sz="2400" dirty="0"/>
          </a:p>
        </p:txBody>
      </p:sp>
      <p:sp>
        <p:nvSpPr>
          <p:cNvPr id="4" name="Título 1"/>
          <p:cNvSpPr>
            <a:spLocks noGrp="1"/>
          </p:cNvSpPr>
          <p:nvPr>
            <p:ph type="title"/>
          </p:nvPr>
        </p:nvSpPr>
        <p:spPr>
          <a:xfrm>
            <a:off x="515983" y="156120"/>
            <a:ext cx="10515600" cy="766990"/>
          </a:xfrm>
        </p:spPr>
        <p:txBody>
          <a:bodyPr/>
          <a:lstStyle/>
          <a:p>
            <a:pPr algn="ctr"/>
            <a:r>
              <a:rPr lang="es-CR" dirty="0" smtClean="0"/>
              <a:t>Y….¿qué pasó con los individuos?</a:t>
            </a:r>
            <a:endParaRPr lang="es-ES" dirty="0"/>
          </a:p>
        </p:txBody>
      </p:sp>
    </p:spTree>
    <p:extLst>
      <p:ext uri="{BB962C8B-B14F-4D97-AF65-F5344CB8AC3E}">
        <p14:creationId xmlns:p14="http://schemas.microsoft.com/office/powerpoint/2010/main" val="30187149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098"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1739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530</TotalTime>
  <Words>2105</Words>
  <Application>Microsoft Office PowerPoint</Application>
  <PresentationFormat>Personalizado</PresentationFormat>
  <Paragraphs>225</Paragraphs>
  <Slides>26</Slides>
  <Notes>0</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26</vt:i4>
      </vt:variant>
    </vt:vector>
  </HeadingPairs>
  <TitlesOfParts>
    <vt:vector size="28" baseType="lpstr">
      <vt:lpstr>Tema de Office</vt:lpstr>
      <vt:lpstr>Equation</vt:lpstr>
      <vt:lpstr>Análisis de factores</vt:lpstr>
      <vt:lpstr>Introducción</vt:lpstr>
      <vt:lpstr>Introducción</vt:lpstr>
      <vt:lpstr>Diferencias entre el PCA y el AF</vt:lpstr>
      <vt:lpstr>Etapas de un AF</vt:lpstr>
      <vt:lpstr>Fundamentos del AF</vt:lpstr>
      <vt:lpstr>Modelo del AF</vt:lpstr>
      <vt:lpstr>Modelo del AF</vt:lpstr>
      <vt:lpstr>Modelo del AF</vt:lpstr>
      <vt:lpstr>Modelo del AF</vt:lpstr>
      <vt:lpstr>Gráfico de sedimentación</vt:lpstr>
      <vt:lpstr>Modelo del AF</vt:lpstr>
      <vt:lpstr>Modelo del AF</vt:lpstr>
      <vt:lpstr>La rotación factorial</vt:lpstr>
      <vt:lpstr>La rotación factorial</vt:lpstr>
      <vt:lpstr>La idea de la rotación</vt:lpstr>
      <vt:lpstr>La rotación factorial</vt:lpstr>
      <vt:lpstr>Etapas de un AF</vt:lpstr>
      <vt:lpstr>Análisis descriptivo de las variables</vt:lpstr>
      <vt:lpstr>Primera aproximación de la estructura</vt:lpstr>
      <vt:lpstr>Determinación del número de componentes</vt:lpstr>
      <vt:lpstr>Agrupación de las variables</vt:lpstr>
      <vt:lpstr>Fijación del n° de componentes + rotación</vt:lpstr>
      <vt:lpstr>Agrupación final de las variables</vt:lpstr>
      <vt:lpstr>Y….¿qué pasó con los individuos?</vt:lpstr>
      <vt:lpstr>Presentación de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Oscar</dc:creator>
  <cp:lastModifiedBy>Oscar Centeno Mora</cp:lastModifiedBy>
  <cp:revision>54</cp:revision>
  <dcterms:created xsi:type="dcterms:W3CDTF">2017-04-02T17:01:42Z</dcterms:created>
  <dcterms:modified xsi:type="dcterms:W3CDTF">2018-04-17T21:01:32Z</dcterms:modified>
</cp:coreProperties>
</file>