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4" r:id="rId3"/>
    <p:sldId id="275" r:id="rId4"/>
    <p:sldId id="258" r:id="rId5"/>
    <p:sldId id="259" r:id="rId6"/>
    <p:sldId id="276" r:id="rId7"/>
    <p:sldId id="260" r:id="rId8"/>
    <p:sldId id="261" r:id="rId9"/>
    <p:sldId id="277" r:id="rId10"/>
    <p:sldId id="262" r:id="rId11"/>
    <p:sldId id="283" r:id="rId12"/>
    <p:sldId id="285" r:id="rId13"/>
    <p:sldId id="284" r:id="rId14"/>
    <p:sldId id="286" r:id="rId15"/>
    <p:sldId id="287" r:id="rId16"/>
    <p:sldId id="278" r:id="rId17"/>
    <p:sldId id="263" r:id="rId18"/>
    <p:sldId id="288" r:id="rId19"/>
    <p:sldId id="289" r:id="rId20"/>
    <p:sldId id="290" r:id="rId21"/>
    <p:sldId id="279" r:id="rId22"/>
    <p:sldId id="264" r:id="rId23"/>
    <p:sldId id="269" r:id="rId24"/>
    <p:sldId id="270" r:id="rId25"/>
    <p:sldId id="281" r:id="rId26"/>
    <p:sldId id="282" r:id="rId27"/>
    <p:sldId id="273" r:id="rId28"/>
    <p:sldId id="280" r:id="rId29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5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08/05/2019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08/05/2019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08/05/2019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08/05/2019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08/05/2019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08/05/2019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08/05/2019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08/05/2019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08/05/2019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08/05/2019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08/05/2019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847CFC-816F-41D0-AAC0-9BF4FEBC753E}" type="datetimeFigureOut">
              <a:rPr lang="es-ES" smtClean="0"/>
              <a:t>08/05/2019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20zDV9MNE0s" TargetMode="External"/><Relationship Id="rId3" Type="http://schemas.openxmlformats.org/officeDocument/2006/relationships/hyperlink" Target="https://www.youtube.com/watch?v=rsx43g7TBBs" TargetMode="External"/><Relationship Id="rId7" Type="http://schemas.openxmlformats.org/officeDocument/2006/relationships/hyperlink" Target="https://www.youtube.com/watch?v=W9tWz1AX5Sk" TargetMode="External"/><Relationship Id="rId2" Type="http://schemas.openxmlformats.org/officeDocument/2006/relationships/hyperlink" Target="https://www.youtube.com/results?search_query=dashboard+in+exce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qeya4pRrSTE&amp;t=47s" TargetMode="External"/><Relationship Id="rId5" Type="http://schemas.openxmlformats.org/officeDocument/2006/relationships/hyperlink" Target="https://www.youtube.com/watch?v=RM8T1eYBjQY" TargetMode="External"/><Relationship Id="rId10" Type="http://schemas.openxmlformats.org/officeDocument/2006/relationships/hyperlink" Target="https://www.smartsheet.com/how-create-dashboard-excel" TargetMode="External"/><Relationship Id="rId4" Type="http://schemas.openxmlformats.org/officeDocument/2006/relationships/hyperlink" Target="https://www.youtube.com/watch?v=rBuiBNZWjE4" TargetMode="External"/><Relationship Id="rId9" Type="http://schemas.openxmlformats.org/officeDocument/2006/relationships/hyperlink" Target="https://www.youtube.com/watch?v=K74_FNnlIF8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7504" y="116632"/>
            <a:ext cx="8928992" cy="792088"/>
          </a:xfrm>
        </p:spPr>
        <p:txBody>
          <a:bodyPr/>
          <a:lstStyle/>
          <a:p>
            <a:r>
              <a:rPr lang="es-CR" dirty="0" err="1" smtClean="0"/>
              <a:t>Dashboard</a:t>
            </a:r>
            <a:r>
              <a:rPr lang="es-CR" dirty="0" smtClean="0"/>
              <a:t> en Excel</a:t>
            </a:r>
            <a:endParaRPr lang="es-C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627348" y="6165304"/>
            <a:ext cx="6400800" cy="553616"/>
          </a:xfrm>
        </p:spPr>
        <p:txBody>
          <a:bodyPr>
            <a:normAutofit lnSpcReduction="10000"/>
          </a:bodyPr>
          <a:lstStyle/>
          <a:p>
            <a:pPr algn="r"/>
            <a:r>
              <a:rPr lang="es-CR" dirty="0" smtClean="0"/>
              <a:t>Oscar Centeno Mora</a:t>
            </a:r>
            <a:endParaRPr lang="es-CR" dirty="0"/>
          </a:p>
        </p:txBody>
      </p:sp>
      <p:pic>
        <p:nvPicPr>
          <p:cNvPr id="1026" name="Picture 2" descr="Resultado de imagen para dashboard excel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823" y="1234042"/>
            <a:ext cx="3484156" cy="1648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esultado de imagen para dashboard excel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537" b="3064"/>
          <a:stretch/>
        </p:blipFill>
        <p:spPr bwMode="auto">
          <a:xfrm>
            <a:off x="4067944" y="1628800"/>
            <a:ext cx="4833337" cy="1941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Resultado de imagen para dashboard excel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95" y="3861048"/>
            <a:ext cx="4212700" cy="2453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Resultado de imagen para dashboard excel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5312" y="3984301"/>
            <a:ext cx="3635969" cy="1766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792197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41571" y="265756"/>
            <a:ext cx="7733685" cy="666365"/>
          </a:xfrm>
        </p:spPr>
        <p:txBody>
          <a:bodyPr>
            <a:normAutofit fontScale="90000"/>
          </a:bodyPr>
          <a:lstStyle/>
          <a:p>
            <a:pPr algn="ctr"/>
            <a:r>
              <a:rPr lang="es-CR" dirty="0"/>
              <a:t>Índice</a:t>
            </a:r>
          </a:p>
        </p:txBody>
      </p:sp>
      <p:sp>
        <p:nvSpPr>
          <p:cNvPr id="4" name="3 Elipse"/>
          <p:cNvSpPr/>
          <p:nvPr/>
        </p:nvSpPr>
        <p:spPr>
          <a:xfrm>
            <a:off x="210181" y="1745841"/>
            <a:ext cx="862781" cy="90702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1350" dirty="0"/>
              <a:t>1</a:t>
            </a:r>
          </a:p>
        </p:txBody>
      </p:sp>
      <p:sp>
        <p:nvSpPr>
          <p:cNvPr id="6" name="5 Elipse"/>
          <p:cNvSpPr/>
          <p:nvPr/>
        </p:nvSpPr>
        <p:spPr>
          <a:xfrm>
            <a:off x="210181" y="3342354"/>
            <a:ext cx="862781" cy="90702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1350" dirty="0"/>
              <a:t>2</a:t>
            </a:r>
          </a:p>
        </p:txBody>
      </p:sp>
      <p:sp>
        <p:nvSpPr>
          <p:cNvPr id="7" name="6 Elipse"/>
          <p:cNvSpPr/>
          <p:nvPr/>
        </p:nvSpPr>
        <p:spPr>
          <a:xfrm>
            <a:off x="210181" y="4905683"/>
            <a:ext cx="862781" cy="90702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1350" dirty="0"/>
              <a:t>3</a:t>
            </a:r>
          </a:p>
        </p:txBody>
      </p:sp>
      <p:sp>
        <p:nvSpPr>
          <p:cNvPr id="8" name="7 Rectángulo redondeado"/>
          <p:cNvSpPr/>
          <p:nvPr/>
        </p:nvSpPr>
        <p:spPr>
          <a:xfrm>
            <a:off x="1504348" y="1791928"/>
            <a:ext cx="2344994" cy="8148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1350" dirty="0"/>
              <a:t>Introducción</a:t>
            </a:r>
          </a:p>
        </p:txBody>
      </p:sp>
      <p:sp>
        <p:nvSpPr>
          <p:cNvPr id="9" name="8 Rectángulo redondeado"/>
          <p:cNvSpPr/>
          <p:nvPr/>
        </p:nvSpPr>
        <p:spPr>
          <a:xfrm>
            <a:off x="1504348" y="3388441"/>
            <a:ext cx="2344994" cy="8148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1350" dirty="0" smtClean="0"/>
              <a:t>Clásico vs Interactivo</a:t>
            </a:r>
            <a:endParaRPr lang="es-CR" sz="1350" dirty="0"/>
          </a:p>
        </p:txBody>
      </p:sp>
      <p:sp>
        <p:nvSpPr>
          <p:cNvPr id="10" name="9 Rectángulo redondeado"/>
          <p:cNvSpPr/>
          <p:nvPr/>
        </p:nvSpPr>
        <p:spPr>
          <a:xfrm>
            <a:off x="6153777" y="1791928"/>
            <a:ext cx="2344994" cy="8148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1350" dirty="0" smtClean="0"/>
              <a:t>Los 3 tipos de </a:t>
            </a:r>
            <a:r>
              <a:rPr lang="es-CR" sz="1350" dirty="0" err="1" smtClean="0"/>
              <a:t>dashboards</a:t>
            </a:r>
            <a:r>
              <a:rPr lang="es-CR" sz="1350" dirty="0"/>
              <a:t> </a:t>
            </a:r>
            <a:r>
              <a:rPr lang="es-CR" sz="1350" dirty="0" smtClean="0"/>
              <a:t>del curso</a:t>
            </a:r>
            <a:endParaRPr lang="es-CR" sz="1350" dirty="0"/>
          </a:p>
        </p:txBody>
      </p:sp>
      <p:sp>
        <p:nvSpPr>
          <p:cNvPr id="11" name="10 Elipse"/>
          <p:cNvSpPr/>
          <p:nvPr/>
        </p:nvSpPr>
        <p:spPr>
          <a:xfrm>
            <a:off x="5003414" y="1745841"/>
            <a:ext cx="862781" cy="90702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1350" dirty="0"/>
              <a:t>4</a:t>
            </a:r>
          </a:p>
        </p:txBody>
      </p:sp>
      <p:sp>
        <p:nvSpPr>
          <p:cNvPr id="12" name="11 Elipse"/>
          <p:cNvSpPr/>
          <p:nvPr/>
        </p:nvSpPr>
        <p:spPr>
          <a:xfrm>
            <a:off x="5003414" y="3342354"/>
            <a:ext cx="862781" cy="90702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1350" dirty="0"/>
              <a:t>5</a:t>
            </a:r>
          </a:p>
        </p:txBody>
      </p:sp>
      <p:sp>
        <p:nvSpPr>
          <p:cNvPr id="13" name="12 Rectángulo redondeado"/>
          <p:cNvSpPr/>
          <p:nvPr/>
        </p:nvSpPr>
        <p:spPr>
          <a:xfrm>
            <a:off x="1504348" y="4905682"/>
            <a:ext cx="2344994" cy="8148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1350" dirty="0" smtClean="0"/>
              <a:t>Nueva representación: los </a:t>
            </a:r>
            <a:r>
              <a:rPr lang="es-CR" sz="1350" dirty="0" err="1" smtClean="0"/>
              <a:t>dashboards</a:t>
            </a:r>
            <a:endParaRPr lang="es-CR" sz="1350" dirty="0"/>
          </a:p>
        </p:txBody>
      </p:sp>
      <p:sp>
        <p:nvSpPr>
          <p:cNvPr id="14" name="13 Rectángulo redondeado"/>
          <p:cNvSpPr/>
          <p:nvPr/>
        </p:nvSpPr>
        <p:spPr>
          <a:xfrm>
            <a:off x="6153777" y="3388441"/>
            <a:ext cx="2344994" cy="8148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1350" dirty="0" err="1" smtClean="0"/>
              <a:t>Dashboards</a:t>
            </a:r>
            <a:r>
              <a:rPr lang="es-CR" sz="1350" dirty="0" smtClean="0"/>
              <a:t> en Excel</a:t>
            </a:r>
            <a:endParaRPr lang="es-CR" sz="1350" dirty="0"/>
          </a:p>
        </p:txBody>
      </p:sp>
    </p:spTree>
    <p:extLst>
      <p:ext uri="{BB962C8B-B14F-4D97-AF65-F5344CB8AC3E}">
        <p14:creationId xmlns:p14="http://schemas.microsoft.com/office/powerpoint/2010/main" val="342820338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41571" y="343900"/>
            <a:ext cx="7733685" cy="666365"/>
          </a:xfrm>
        </p:spPr>
        <p:txBody>
          <a:bodyPr>
            <a:normAutofit fontScale="90000"/>
          </a:bodyPr>
          <a:lstStyle/>
          <a:p>
            <a:pPr algn="ctr"/>
            <a:r>
              <a:rPr lang="es-CR" dirty="0"/>
              <a:t>Índice</a:t>
            </a:r>
          </a:p>
        </p:txBody>
      </p:sp>
      <p:sp>
        <p:nvSpPr>
          <p:cNvPr id="4" name="3 Elipse"/>
          <p:cNvSpPr/>
          <p:nvPr/>
        </p:nvSpPr>
        <p:spPr>
          <a:xfrm>
            <a:off x="210181" y="1745841"/>
            <a:ext cx="862781" cy="90702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1350" dirty="0"/>
              <a:t>1</a:t>
            </a:r>
          </a:p>
        </p:txBody>
      </p:sp>
      <p:sp>
        <p:nvSpPr>
          <p:cNvPr id="8" name="7 Rectángulo redondeado"/>
          <p:cNvSpPr/>
          <p:nvPr/>
        </p:nvSpPr>
        <p:spPr>
          <a:xfrm>
            <a:off x="1504348" y="1791928"/>
            <a:ext cx="2344994" cy="8148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1350" dirty="0"/>
              <a:t>Introducción</a:t>
            </a:r>
          </a:p>
        </p:txBody>
      </p:sp>
    </p:spTree>
    <p:extLst>
      <p:ext uri="{BB962C8B-B14F-4D97-AF65-F5344CB8AC3E}">
        <p14:creationId xmlns:p14="http://schemas.microsoft.com/office/powerpoint/2010/main" val="113174492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712968" cy="864096"/>
          </a:xfrm>
        </p:spPr>
        <p:txBody>
          <a:bodyPr/>
          <a:lstStyle/>
          <a:p>
            <a:r>
              <a:rPr lang="es-CR" dirty="0" smtClean="0"/>
              <a:t>Introducción</a:t>
            </a:r>
            <a:endParaRPr lang="es-C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496" y="1052736"/>
            <a:ext cx="6840760" cy="5616624"/>
          </a:xfrm>
        </p:spPr>
        <p:txBody>
          <a:bodyPr>
            <a:normAutofit/>
          </a:bodyPr>
          <a:lstStyle/>
          <a:p>
            <a:pPr algn="just"/>
            <a:r>
              <a:rPr lang="es-CR" sz="2400" dirty="0" smtClean="0"/>
              <a:t>La visualización de la información es una etapa fundamental en el análisis de la data.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De nada sirve tener modelos muy complejos o técnicas de datos muy sofisticadas, si no se puede presentar y dar a entender por las demás personas.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Las estadísticas descriptivas, gráficas, cuadros y otros, deben ser utilizadas para resaltar los resultados más relevantes del procesos de análisis, ya sea de investigación o para la toma de decisiones.</a:t>
            </a:r>
          </a:p>
        </p:txBody>
      </p:sp>
      <p:pic>
        <p:nvPicPr>
          <p:cNvPr id="12290" name="Picture 2" descr="Related image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96"/>
          <a:stretch/>
        </p:blipFill>
        <p:spPr bwMode="auto">
          <a:xfrm>
            <a:off x="7234622" y="1628800"/>
            <a:ext cx="1642351" cy="1368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Image result for data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280" y="4077070"/>
            <a:ext cx="1908252" cy="1793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958934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7504" y="1196752"/>
            <a:ext cx="6840760" cy="5472608"/>
          </a:xfrm>
        </p:spPr>
        <p:txBody>
          <a:bodyPr>
            <a:normAutofit/>
          </a:bodyPr>
          <a:lstStyle/>
          <a:p>
            <a:pPr algn="just"/>
            <a:r>
              <a:rPr lang="es-CR" sz="2400" dirty="0" smtClean="0"/>
              <a:t>El presente tema muestra la utilización de los dashboard como otra forma alternativa para dar a conocer los diferentes resultados.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Las formas clásicas  (cuadros y gráficos),  toman una forma interactiva y agregada al presentar la información.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Se rompe un poco el paradigma de presentación de la información, pudiendo analizar diversa información a la vez, resaltando hechos que no se pudieran tal vez constatar de la forma clásica de observar la data. </a:t>
            </a:r>
            <a:endParaRPr lang="es-CR" sz="2400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79512" y="188640"/>
            <a:ext cx="8712968" cy="864096"/>
          </a:xfrm>
        </p:spPr>
        <p:txBody>
          <a:bodyPr/>
          <a:lstStyle/>
          <a:p>
            <a:r>
              <a:rPr lang="es-CR" dirty="0" smtClean="0"/>
              <a:t>Introducción</a:t>
            </a:r>
            <a:endParaRPr lang="es-CR" dirty="0"/>
          </a:p>
        </p:txBody>
      </p:sp>
      <p:pic>
        <p:nvPicPr>
          <p:cNvPr id="13314" name="Picture 2" descr="Image result for data icon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901"/>
          <a:stretch/>
        </p:blipFill>
        <p:spPr bwMode="auto">
          <a:xfrm>
            <a:off x="7452320" y="1484784"/>
            <a:ext cx="1512168" cy="1756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Image result for data icon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13" t="2063" r="21093" b="2712"/>
          <a:stretch/>
        </p:blipFill>
        <p:spPr bwMode="auto">
          <a:xfrm>
            <a:off x="7180840" y="3933056"/>
            <a:ext cx="1780240" cy="2207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900226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41571" y="343900"/>
            <a:ext cx="7733685" cy="666365"/>
          </a:xfrm>
        </p:spPr>
        <p:txBody>
          <a:bodyPr>
            <a:normAutofit fontScale="90000"/>
          </a:bodyPr>
          <a:lstStyle/>
          <a:p>
            <a:pPr algn="ctr"/>
            <a:r>
              <a:rPr lang="es-CR" dirty="0"/>
              <a:t>Índice</a:t>
            </a:r>
          </a:p>
        </p:txBody>
      </p:sp>
      <p:sp>
        <p:nvSpPr>
          <p:cNvPr id="4" name="3 Elipse"/>
          <p:cNvSpPr/>
          <p:nvPr/>
        </p:nvSpPr>
        <p:spPr>
          <a:xfrm>
            <a:off x="210181" y="1745841"/>
            <a:ext cx="862781" cy="90702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1350" dirty="0"/>
              <a:t>1</a:t>
            </a:r>
          </a:p>
        </p:txBody>
      </p:sp>
      <p:sp>
        <p:nvSpPr>
          <p:cNvPr id="6" name="5 Elipse"/>
          <p:cNvSpPr/>
          <p:nvPr/>
        </p:nvSpPr>
        <p:spPr>
          <a:xfrm>
            <a:off x="210181" y="3342354"/>
            <a:ext cx="862781" cy="90702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1350" dirty="0"/>
              <a:t>2</a:t>
            </a:r>
          </a:p>
        </p:txBody>
      </p:sp>
      <p:sp>
        <p:nvSpPr>
          <p:cNvPr id="8" name="7 Rectángulo redondeado"/>
          <p:cNvSpPr/>
          <p:nvPr/>
        </p:nvSpPr>
        <p:spPr>
          <a:xfrm>
            <a:off x="1504348" y="1791928"/>
            <a:ext cx="2344994" cy="8148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1350" dirty="0"/>
              <a:t>Introducción</a:t>
            </a:r>
          </a:p>
        </p:txBody>
      </p:sp>
      <p:sp>
        <p:nvSpPr>
          <p:cNvPr id="9" name="8 Rectángulo redondeado"/>
          <p:cNvSpPr/>
          <p:nvPr/>
        </p:nvSpPr>
        <p:spPr>
          <a:xfrm>
            <a:off x="1504348" y="3388441"/>
            <a:ext cx="2344994" cy="8148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1350" dirty="0" smtClean="0"/>
              <a:t>Clásico vs Interactivo</a:t>
            </a:r>
            <a:endParaRPr lang="es-CR" sz="1350" dirty="0"/>
          </a:p>
        </p:txBody>
      </p:sp>
    </p:spTree>
    <p:extLst>
      <p:ext uri="{BB962C8B-B14F-4D97-AF65-F5344CB8AC3E}">
        <p14:creationId xmlns:p14="http://schemas.microsoft.com/office/powerpoint/2010/main" val="86579895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512" y="58614"/>
            <a:ext cx="8784976" cy="850106"/>
          </a:xfrm>
        </p:spPr>
        <p:txBody>
          <a:bodyPr>
            <a:normAutofit/>
          </a:bodyPr>
          <a:lstStyle/>
          <a:p>
            <a:r>
              <a:rPr lang="es-CR" dirty="0" smtClean="0"/>
              <a:t>Clásico vs Interactivo y personalizado</a:t>
            </a:r>
            <a:endParaRPr lang="es-C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23528" y="1268761"/>
            <a:ext cx="8229600" cy="216024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CR" sz="2400" dirty="0" smtClean="0"/>
              <a:t>¿Qué entendemos por clásico vs interactivo y personalizado?</a:t>
            </a:r>
            <a:endParaRPr lang="es-CR" sz="2400" dirty="0"/>
          </a:p>
        </p:txBody>
      </p:sp>
      <p:pic>
        <p:nvPicPr>
          <p:cNvPr id="1026" name="Picture 2" descr="Image result for classic vs new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348880"/>
            <a:ext cx="6391275" cy="3914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594451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79512" y="1268760"/>
            <a:ext cx="8496944" cy="5400600"/>
          </a:xfrm>
        </p:spPr>
        <p:txBody>
          <a:bodyPr>
            <a:normAutofit/>
          </a:bodyPr>
          <a:lstStyle/>
          <a:p>
            <a:pPr algn="just"/>
            <a:r>
              <a:rPr lang="es-CR" sz="2400" dirty="0" smtClean="0"/>
              <a:t>La forma clásica de ver las representación de la Estadística descriptiva (cuadros y gráficos) es analizar un cuadro y un gráfico de forma aislada, respondiendo a una única especificación de análisis.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La forma evolutiva es, contrariamente, no sobre poner un único gráfico y cuadro, sino una conjunto de estos, respondiendo a diversos tipos de información, y viendo mediante diferentes criterios (</a:t>
            </a:r>
            <a:r>
              <a:rPr lang="es-CR" sz="2400" dirty="0" err="1" smtClean="0"/>
              <a:t>segmentadores</a:t>
            </a:r>
            <a:r>
              <a:rPr lang="es-CR" sz="2400" dirty="0" smtClean="0"/>
              <a:t>), como al variarlos, estos llegan a constatar variaciones, relaciones, </a:t>
            </a:r>
            <a:r>
              <a:rPr lang="es-CR" sz="2400" dirty="0" err="1" smtClean="0"/>
              <a:t>etc</a:t>
            </a:r>
            <a:r>
              <a:rPr lang="es-CR" sz="2400" dirty="0" smtClean="0"/>
              <a:t>, en los datos.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Esto es posible mediante la aplicación de </a:t>
            </a:r>
            <a:r>
              <a:rPr lang="es-CR" sz="2400" dirty="0" err="1" smtClean="0"/>
              <a:t>dashboards</a:t>
            </a:r>
            <a:r>
              <a:rPr lang="es-CR" sz="2400" dirty="0" smtClean="0"/>
              <a:t>.</a:t>
            </a:r>
            <a:endParaRPr lang="es-CR" sz="2400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79512" y="58614"/>
            <a:ext cx="8784976" cy="850106"/>
          </a:xfrm>
        </p:spPr>
        <p:txBody>
          <a:bodyPr>
            <a:normAutofit/>
          </a:bodyPr>
          <a:lstStyle/>
          <a:p>
            <a:r>
              <a:rPr lang="es-CR" dirty="0" smtClean="0"/>
              <a:t>Clásico vs Interactivo y personalizado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44992325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41571" y="343900"/>
            <a:ext cx="7733685" cy="666365"/>
          </a:xfrm>
        </p:spPr>
        <p:txBody>
          <a:bodyPr>
            <a:normAutofit fontScale="90000"/>
          </a:bodyPr>
          <a:lstStyle/>
          <a:p>
            <a:pPr algn="ctr"/>
            <a:r>
              <a:rPr lang="es-CR" dirty="0"/>
              <a:t>Índice</a:t>
            </a:r>
          </a:p>
        </p:txBody>
      </p:sp>
      <p:sp>
        <p:nvSpPr>
          <p:cNvPr id="4" name="3 Elipse"/>
          <p:cNvSpPr/>
          <p:nvPr/>
        </p:nvSpPr>
        <p:spPr>
          <a:xfrm>
            <a:off x="210181" y="1745841"/>
            <a:ext cx="862781" cy="90702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1350" dirty="0"/>
              <a:t>1</a:t>
            </a:r>
          </a:p>
        </p:txBody>
      </p:sp>
      <p:sp>
        <p:nvSpPr>
          <p:cNvPr id="6" name="5 Elipse"/>
          <p:cNvSpPr/>
          <p:nvPr/>
        </p:nvSpPr>
        <p:spPr>
          <a:xfrm>
            <a:off x="210181" y="3342354"/>
            <a:ext cx="862781" cy="90702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1350" dirty="0"/>
              <a:t>2</a:t>
            </a:r>
          </a:p>
        </p:txBody>
      </p:sp>
      <p:sp>
        <p:nvSpPr>
          <p:cNvPr id="7" name="6 Elipse"/>
          <p:cNvSpPr/>
          <p:nvPr/>
        </p:nvSpPr>
        <p:spPr>
          <a:xfrm>
            <a:off x="210181" y="4905683"/>
            <a:ext cx="862781" cy="90702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1350" dirty="0"/>
              <a:t>3</a:t>
            </a:r>
          </a:p>
        </p:txBody>
      </p:sp>
      <p:sp>
        <p:nvSpPr>
          <p:cNvPr id="8" name="7 Rectángulo redondeado"/>
          <p:cNvSpPr/>
          <p:nvPr/>
        </p:nvSpPr>
        <p:spPr>
          <a:xfrm>
            <a:off x="1504348" y="1791928"/>
            <a:ext cx="2344994" cy="8148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1350" dirty="0"/>
              <a:t>Introducción</a:t>
            </a:r>
          </a:p>
        </p:txBody>
      </p:sp>
      <p:sp>
        <p:nvSpPr>
          <p:cNvPr id="9" name="8 Rectángulo redondeado"/>
          <p:cNvSpPr/>
          <p:nvPr/>
        </p:nvSpPr>
        <p:spPr>
          <a:xfrm>
            <a:off x="1504348" y="3388441"/>
            <a:ext cx="2344994" cy="8148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1350" dirty="0" smtClean="0"/>
              <a:t>Clásico vs Interactivo</a:t>
            </a:r>
            <a:endParaRPr lang="es-CR" sz="1350" dirty="0"/>
          </a:p>
        </p:txBody>
      </p:sp>
      <p:sp>
        <p:nvSpPr>
          <p:cNvPr id="13" name="12 Rectángulo redondeado"/>
          <p:cNvSpPr/>
          <p:nvPr/>
        </p:nvSpPr>
        <p:spPr>
          <a:xfrm>
            <a:off x="1504348" y="4905682"/>
            <a:ext cx="2344994" cy="8148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1350" dirty="0" smtClean="0"/>
              <a:t>Nueva representación: los </a:t>
            </a:r>
            <a:r>
              <a:rPr lang="es-CR" sz="1350" dirty="0" err="1" smtClean="0"/>
              <a:t>dashboards</a:t>
            </a:r>
            <a:endParaRPr lang="es-CR" sz="1350" dirty="0"/>
          </a:p>
        </p:txBody>
      </p:sp>
    </p:spTree>
    <p:extLst>
      <p:ext uri="{BB962C8B-B14F-4D97-AF65-F5344CB8AC3E}">
        <p14:creationId xmlns:p14="http://schemas.microsoft.com/office/powerpoint/2010/main" val="143853285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512" y="44624"/>
            <a:ext cx="8856984" cy="850106"/>
          </a:xfrm>
        </p:spPr>
        <p:txBody>
          <a:bodyPr/>
          <a:lstStyle/>
          <a:p>
            <a:r>
              <a:rPr lang="es-CR" dirty="0" smtClean="0"/>
              <a:t>Los </a:t>
            </a:r>
            <a:r>
              <a:rPr lang="es-CR" dirty="0" err="1" smtClean="0"/>
              <a:t>dashboards</a:t>
            </a:r>
            <a:r>
              <a:rPr lang="es-CR" dirty="0" smtClean="0"/>
              <a:t> </a:t>
            </a:r>
            <a:endParaRPr lang="es-C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79512" y="1124744"/>
            <a:ext cx="8856984" cy="4349079"/>
          </a:xfrm>
        </p:spPr>
        <p:txBody>
          <a:bodyPr/>
          <a:lstStyle/>
          <a:p>
            <a:pPr marL="0" indent="0" algn="ctr">
              <a:buNone/>
            </a:pPr>
            <a:r>
              <a:rPr lang="es-CR" dirty="0" smtClean="0"/>
              <a:t>¿Qué es un Dashboard? </a:t>
            </a:r>
            <a:endParaRPr lang="es-CR" dirty="0"/>
          </a:p>
        </p:txBody>
      </p:sp>
      <p:pic>
        <p:nvPicPr>
          <p:cNvPr id="2050" name="Picture 2" descr="Image result for ques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1" y="1861813"/>
            <a:ext cx="8756145" cy="4807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515677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23528" y="1196752"/>
            <a:ext cx="8229600" cy="5256584"/>
          </a:xfrm>
        </p:spPr>
        <p:txBody>
          <a:bodyPr>
            <a:normAutofit/>
          </a:bodyPr>
          <a:lstStyle/>
          <a:p>
            <a:r>
              <a:rPr lang="es-CR" dirty="0" smtClean="0"/>
              <a:t>Una definición posible sería</a:t>
            </a:r>
          </a:p>
          <a:p>
            <a:endParaRPr lang="es-CR" dirty="0"/>
          </a:p>
          <a:p>
            <a:pPr marL="0" indent="0" algn="ctr">
              <a:buNone/>
            </a:pPr>
            <a:r>
              <a:rPr lang="es-CR" dirty="0" smtClean="0"/>
              <a:t>“</a:t>
            </a:r>
            <a:r>
              <a:rPr lang="es-CR" dirty="0"/>
              <a:t>Es una representación gráfica de los principales indicadores (KPI) que intervienen en la consecución de los objetivos de negocio, y que está orientada a la toma de decisiones para optimizar la estrategia de la empresa.</a:t>
            </a:r>
            <a:r>
              <a:rPr lang="es-CR" i="1" dirty="0"/>
              <a:t> </a:t>
            </a:r>
            <a:r>
              <a:rPr lang="es-CR" dirty="0"/>
              <a:t/>
            </a:r>
            <a:br>
              <a:rPr lang="es-CR" dirty="0"/>
            </a:br>
            <a:r>
              <a:rPr lang="es-CR" b="1" dirty="0"/>
              <a:t>Un dashboard debe transformar los datos en información y esta en conocimiento para el negocio</a:t>
            </a:r>
            <a:r>
              <a:rPr lang="es-CR" dirty="0"/>
              <a:t>.</a:t>
            </a:r>
            <a:r>
              <a:rPr lang="es-CR" dirty="0" smtClean="0"/>
              <a:t>”</a:t>
            </a:r>
            <a:endParaRPr lang="es-CR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856984" cy="864096"/>
          </a:xfrm>
        </p:spPr>
        <p:txBody>
          <a:bodyPr/>
          <a:lstStyle/>
          <a:p>
            <a:r>
              <a:rPr lang="es-CR" dirty="0" smtClean="0"/>
              <a:t>Los </a:t>
            </a:r>
            <a:r>
              <a:rPr lang="es-CR" dirty="0" err="1" smtClean="0"/>
              <a:t>dashboards</a:t>
            </a:r>
            <a:r>
              <a:rPr lang="es-CR" dirty="0" smtClean="0"/>
              <a:t> 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234663857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07504" y="1124744"/>
            <a:ext cx="8856984" cy="5616624"/>
          </a:xfrm>
        </p:spPr>
        <p:txBody>
          <a:bodyPr>
            <a:normAutofit fontScale="92500"/>
          </a:bodyPr>
          <a:lstStyle/>
          <a:p>
            <a:r>
              <a:rPr lang="es-CR" sz="2400" dirty="0" smtClean="0"/>
              <a:t>Las características relevantes del </a:t>
            </a:r>
            <a:r>
              <a:rPr lang="es-CR" sz="2400" dirty="0" err="1" smtClean="0"/>
              <a:t>dashboar</a:t>
            </a:r>
            <a:r>
              <a:rPr lang="es-CR" sz="2400" dirty="0" smtClean="0"/>
              <a:t>: </a:t>
            </a:r>
          </a:p>
          <a:p>
            <a:endParaRPr lang="es-CR" sz="2400" dirty="0" smtClean="0"/>
          </a:p>
          <a:p>
            <a:pPr marL="514350" indent="-514350" algn="just">
              <a:buFont typeface="+mj-lt"/>
              <a:buAutoNum type="arabicPeriod"/>
            </a:pPr>
            <a:r>
              <a:rPr lang="es-CR" sz="2400" b="1" dirty="0"/>
              <a:t>Número de </a:t>
            </a:r>
            <a:r>
              <a:rPr lang="es-CR" sz="2400" b="1" dirty="0" err="1"/>
              <a:t>KPIs</a:t>
            </a:r>
            <a:r>
              <a:rPr lang="es-CR" sz="2400" dirty="0"/>
              <a:t>: sólo aquellas </a:t>
            </a:r>
            <a:r>
              <a:rPr lang="es-CR" sz="2400" dirty="0" err="1"/>
              <a:t>KPIs</a:t>
            </a:r>
            <a:r>
              <a:rPr lang="es-CR" sz="2400" dirty="0"/>
              <a:t> (ni más, ni menos), necesarias (se suele hablar de entre 7 y 10 </a:t>
            </a:r>
            <a:r>
              <a:rPr lang="es-CR" sz="2400" dirty="0" err="1"/>
              <a:t>KPIs</a:t>
            </a:r>
            <a:r>
              <a:rPr lang="es-CR" sz="2400" dirty="0" smtClean="0"/>
              <a:t>)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s-CR" sz="2400" b="1" dirty="0"/>
              <a:t>Segmentación y contexto</a:t>
            </a:r>
            <a:r>
              <a:rPr lang="es-CR" sz="2400" dirty="0"/>
              <a:t>: debe presentar estas </a:t>
            </a:r>
            <a:r>
              <a:rPr lang="es-CR" sz="2400" dirty="0" err="1"/>
              <a:t>KPIs</a:t>
            </a:r>
            <a:r>
              <a:rPr lang="es-CR" sz="2400" dirty="0"/>
              <a:t> de forma que estas sean relevantes (accionables) para el negocio.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s-CR" sz="2400" b="1" dirty="0"/>
              <a:t>Visualización</a:t>
            </a:r>
            <a:r>
              <a:rPr lang="es-CR" sz="2400" dirty="0"/>
              <a:t>: la persona que toma las decisiones debe ser capaz de interpretar fácilmente la información que está viendo. Por lo que el dashboard debe ser </a:t>
            </a:r>
            <a:r>
              <a:rPr lang="es-CR" sz="2400" b="1" dirty="0"/>
              <a:t>breve</a:t>
            </a:r>
            <a:r>
              <a:rPr lang="es-CR" sz="2400" dirty="0"/>
              <a:t>, hablar el </a:t>
            </a:r>
            <a:r>
              <a:rPr lang="es-CR" sz="2400" b="1" dirty="0"/>
              <a:t>mismo lenguaje</a:t>
            </a:r>
            <a:r>
              <a:rPr lang="es-CR" sz="2400" dirty="0"/>
              <a:t> del decisor y su </a:t>
            </a:r>
            <a:r>
              <a:rPr lang="es-CR" sz="2400" b="1" dirty="0"/>
              <a:t>representación gráfica</a:t>
            </a:r>
            <a:r>
              <a:rPr lang="es-CR" sz="2400" dirty="0"/>
              <a:t> la </a:t>
            </a:r>
            <a:r>
              <a:rPr lang="es-CR" sz="2400" b="1" dirty="0"/>
              <a:t>adecuada</a:t>
            </a:r>
            <a:r>
              <a:rPr lang="es-CR" sz="2400" dirty="0"/>
              <a:t> para los datos que representa y lo suficientemente </a:t>
            </a:r>
            <a:r>
              <a:rPr lang="es-CR" sz="2400" b="1" dirty="0"/>
              <a:t>visual</a:t>
            </a:r>
            <a:r>
              <a:rPr lang="es-CR" sz="2400" dirty="0"/>
              <a:t>, para que resulte atractivo su estudio</a:t>
            </a:r>
            <a:r>
              <a:rPr lang="es-CR" sz="2400" dirty="0" smtClean="0"/>
              <a:t>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s-CR" sz="2400" b="1" dirty="0"/>
              <a:t>Análisis</a:t>
            </a:r>
            <a:r>
              <a:rPr lang="es-CR" sz="2400" dirty="0"/>
              <a:t>: además de las </a:t>
            </a:r>
            <a:r>
              <a:rPr lang="es-CR" sz="2400" dirty="0" err="1"/>
              <a:t>KPIs</a:t>
            </a:r>
            <a:r>
              <a:rPr lang="es-CR" sz="2400" dirty="0"/>
              <a:t> el dashboard debe acompañarse de un análisis sobre: </a:t>
            </a:r>
            <a:r>
              <a:rPr lang="es-CR" sz="2400" b="1" dirty="0"/>
              <a:t>lo ocurrido, las recomendaciones dadas  y su potencial impacto sobre el negocio</a:t>
            </a:r>
            <a:r>
              <a:rPr lang="es-CR" sz="2400" dirty="0" smtClean="0"/>
              <a:t>. </a:t>
            </a:r>
            <a:r>
              <a:rPr lang="es-CR" sz="2400" b="1" dirty="0" smtClean="0"/>
              <a:t>El </a:t>
            </a:r>
            <a:r>
              <a:rPr lang="es-CR" sz="2400" b="1" dirty="0"/>
              <a:t>análisis debe recomendar acciones, no describirlas</a:t>
            </a:r>
            <a:r>
              <a:rPr lang="es-CR" sz="2400" dirty="0"/>
              <a:t>. </a:t>
            </a:r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856984" cy="864096"/>
          </a:xfrm>
        </p:spPr>
        <p:txBody>
          <a:bodyPr/>
          <a:lstStyle/>
          <a:p>
            <a:r>
              <a:rPr lang="es-CR" dirty="0" smtClean="0"/>
              <a:t>Los </a:t>
            </a:r>
            <a:r>
              <a:rPr lang="es-CR" dirty="0" err="1" smtClean="0"/>
              <a:t>dashboards</a:t>
            </a:r>
            <a:r>
              <a:rPr lang="es-CR" dirty="0" smtClean="0"/>
              <a:t> 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3340535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856984" cy="864096"/>
          </a:xfrm>
        </p:spPr>
        <p:txBody>
          <a:bodyPr/>
          <a:lstStyle/>
          <a:p>
            <a:r>
              <a:rPr lang="es-CR" dirty="0" smtClean="0"/>
              <a:t>Los </a:t>
            </a:r>
            <a:r>
              <a:rPr lang="es-CR" dirty="0" err="1" smtClean="0"/>
              <a:t>dashboards</a:t>
            </a:r>
            <a:r>
              <a:rPr lang="es-CR" dirty="0" smtClean="0"/>
              <a:t> </a:t>
            </a:r>
            <a:endParaRPr lang="es-CR" dirty="0"/>
          </a:p>
        </p:txBody>
      </p:sp>
      <p:sp>
        <p:nvSpPr>
          <p:cNvPr id="5" name="2 Marcador de contenido"/>
          <p:cNvSpPr>
            <a:spLocks noGrp="1"/>
          </p:cNvSpPr>
          <p:nvPr>
            <p:ph idx="1"/>
          </p:nvPr>
        </p:nvSpPr>
        <p:spPr>
          <a:xfrm>
            <a:off x="107504" y="1124744"/>
            <a:ext cx="8856984" cy="5616624"/>
          </a:xfrm>
        </p:spPr>
        <p:txBody>
          <a:bodyPr>
            <a:normAutofit fontScale="92500"/>
          </a:bodyPr>
          <a:lstStyle/>
          <a:p>
            <a:r>
              <a:rPr lang="es-CR" sz="2400" dirty="0" smtClean="0"/>
              <a:t>Las características relevantes del </a:t>
            </a:r>
            <a:r>
              <a:rPr lang="es-CR" sz="2400" dirty="0" err="1" smtClean="0"/>
              <a:t>dashboar</a:t>
            </a:r>
            <a:r>
              <a:rPr lang="es-CR" sz="2400" dirty="0" smtClean="0"/>
              <a:t>: </a:t>
            </a:r>
          </a:p>
          <a:p>
            <a:endParaRPr lang="es-CR" sz="2400" dirty="0" smtClean="0"/>
          </a:p>
          <a:p>
            <a:pPr marL="514350" indent="-514350" algn="just">
              <a:buFont typeface="+mj-lt"/>
              <a:buAutoNum type="arabicPeriod"/>
            </a:pPr>
            <a:r>
              <a:rPr lang="es-CR" sz="2400" b="1" dirty="0"/>
              <a:t>Número de </a:t>
            </a:r>
            <a:r>
              <a:rPr lang="es-CR" sz="2400" b="1" dirty="0" err="1"/>
              <a:t>KPIs</a:t>
            </a:r>
            <a:r>
              <a:rPr lang="es-CR" sz="2400" dirty="0"/>
              <a:t>: sólo aquellas </a:t>
            </a:r>
            <a:r>
              <a:rPr lang="es-CR" sz="2400" dirty="0" err="1"/>
              <a:t>KPIs</a:t>
            </a:r>
            <a:r>
              <a:rPr lang="es-CR" sz="2400" dirty="0"/>
              <a:t> (ni más, ni menos), necesarias (se suele hablar de entre 7 y 10 </a:t>
            </a:r>
            <a:r>
              <a:rPr lang="es-CR" sz="2400" dirty="0" err="1"/>
              <a:t>KPIs</a:t>
            </a:r>
            <a:r>
              <a:rPr lang="es-CR" sz="2400" dirty="0" smtClean="0"/>
              <a:t>)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s-CR" sz="2400" b="1" dirty="0"/>
              <a:t>Segmentación y contexto</a:t>
            </a:r>
            <a:r>
              <a:rPr lang="es-CR" sz="2400" dirty="0"/>
              <a:t>: debe presentar estas </a:t>
            </a:r>
            <a:r>
              <a:rPr lang="es-CR" sz="2400" dirty="0" err="1"/>
              <a:t>KPIs</a:t>
            </a:r>
            <a:r>
              <a:rPr lang="es-CR" sz="2400" dirty="0"/>
              <a:t> de forma que estas sean relevantes (accionables) para el negocio.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s-CR" sz="2400" b="1" dirty="0"/>
              <a:t>Visualización</a:t>
            </a:r>
            <a:r>
              <a:rPr lang="es-CR" sz="2400" dirty="0"/>
              <a:t>: la persona que toma las decisiones debe ser capaz de interpretar fácilmente la información que está viendo. Por lo que el dashboard debe ser </a:t>
            </a:r>
            <a:r>
              <a:rPr lang="es-CR" sz="2400" b="1" dirty="0"/>
              <a:t>breve</a:t>
            </a:r>
            <a:r>
              <a:rPr lang="es-CR" sz="2400" dirty="0"/>
              <a:t>, hablar el </a:t>
            </a:r>
            <a:r>
              <a:rPr lang="es-CR" sz="2400" b="1" dirty="0"/>
              <a:t>mismo lenguaje</a:t>
            </a:r>
            <a:r>
              <a:rPr lang="es-CR" sz="2400" dirty="0"/>
              <a:t> del decisor y su </a:t>
            </a:r>
            <a:r>
              <a:rPr lang="es-CR" sz="2400" b="1" dirty="0"/>
              <a:t>representación gráfica</a:t>
            </a:r>
            <a:r>
              <a:rPr lang="es-CR" sz="2400" dirty="0"/>
              <a:t> la </a:t>
            </a:r>
            <a:r>
              <a:rPr lang="es-CR" sz="2400" b="1" dirty="0"/>
              <a:t>adecuada</a:t>
            </a:r>
            <a:r>
              <a:rPr lang="es-CR" sz="2400" dirty="0"/>
              <a:t> para los datos que representa y lo suficientemente </a:t>
            </a:r>
            <a:r>
              <a:rPr lang="es-CR" sz="2400" b="1" dirty="0"/>
              <a:t>visual</a:t>
            </a:r>
            <a:r>
              <a:rPr lang="es-CR" sz="2400" dirty="0"/>
              <a:t>, para que resulte atractivo su estudio</a:t>
            </a:r>
            <a:r>
              <a:rPr lang="es-CR" sz="2400" dirty="0" smtClean="0"/>
              <a:t>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s-CR" sz="2400" b="1" dirty="0"/>
              <a:t>Análisis</a:t>
            </a:r>
            <a:r>
              <a:rPr lang="es-CR" sz="2400" dirty="0"/>
              <a:t>: además de las </a:t>
            </a:r>
            <a:r>
              <a:rPr lang="es-CR" sz="2400" dirty="0" err="1"/>
              <a:t>KPIs</a:t>
            </a:r>
            <a:r>
              <a:rPr lang="es-CR" sz="2400" dirty="0"/>
              <a:t> el dashboard debe acompañarse de un análisis sobre: </a:t>
            </a:r>
            <a:r>
              <a:rPr lang="es-CR" sz="2400" b="1" dirty="0"/>
              <a:t>lo ocurrido, las recomendaciones dadas  y su potencial impacto sobre el negocio</a:t>
            </a:r>
            <a:r>
              <a:rPr lang="es-CR" sz="2400" dirty="0" smtClean="0"/>
              <a:t>. </a:t>
            </a:r>
            <a:r>
              <a:rPr lang="es-CR" sz="2400" b="1" dirty="0" smtClean="0"/>
              <a:t>El </a:t>
            </a:r>
            <a:r>
              <a:rPr lang="es-CR" sz="2400" b="1" dirty="0"/>
              <a:t>análisis debe recomendar acciones, no describirlas</a:t>
            </a:r>
            <a:r>
              <a:rPr lang="es-CR" sz="2400" dirty="0"/>
              <a:t>. </a:t>
            </a:r>
          </a:p>
        </p:txBody>
      </p:sp>
    </p:spTree>
    <p:extLst>
      <p:ext uri="{BB962C8B-B14F-4D97-AF65-F5344CB8AC3E}">
        <p14:creationId xmlns:p14="http://schemas.microsoft.com/office/powerpoint/2010/main" val="352153083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0" y="1052736"/>
            <a:ext cx="9144000" cy="5733256"/>
          </a:xfrm>
        </p:spPr>
        <p:txBody>
          <a:bodyPr>
            <a:normAutofit/>
          </a:bodyPr>
          <a:lstStyle/>
          <a:p>
            <a:r>
              <a:rPr lang="es-CR" sz="2400" dirty="0" smtClean="0"/>
              <a:t>Los </a:t>
            </a:r>
            <a:r>
              <a:rPr lang="es-CR" sz="2400" dirty="0" err="1" smtClean="0"/>
              <a:t>dasboards</a:t>
            </a:r>
            <a:r>
              <a:rPr lang="es-CR" sz="2400" dirty="0" smtClean="0"/>
              <a:t> sirven para:</a:t>
            </a:r>
          </a:p>
          <a:p>
            <a:endParaRPr lang="es-CR" sz="2400" dirty="0"/>
          </a:p>
          <a:p>
            <a:pPr marL="457200" indent="-457200">
              <a:buFont typeface="+mj-lt"/>
              <a:buAutoNum type="arabicPeriod"/>
            </a:pPr>
            <a:r>
              <a:rPr lang="es-CR" sz="2400" dirty="0" smtClean="0"/>
              <a:t>Permite </a:t>
            </a:r>
            <a:r>
              <a:rPr lang="es-CR" sz="2400" dirty="0"/>
              <a:t>hacer un seguimiento del grado de cumplimiento de </a:t>
            </a:r>
            <a:r>
              <a:rPr lang="es-CR" sz="2400" dirty="0" smtClean="0"/>
              <a:t>los objetivos de negocio. </a:t>
            </a:r>
          </a:p>
          <a:p>
            <a:pPr marL="457200" indent="-457200">
              <a:buFont typeface="+mj-lt"/>
              <a:buAutoNum type="arabicPeriod"/>
            </a:pPr>
            <a:r>
              <a:rPr lang="es-CR" sz="2400" dirty="0"/>
              <a:t>E</a:t>
            </a:r>
            <a:r>
              <a:rPr lang="es-CR" sz="2400" dirty="0" smtClean="0"/>
              <a:t>s </a:t>
            </a:r>
            <a:r>
              <a:rPr lang="es-CR" sz="2400" dirty="0"/>
              <a:t>una foto ‘fija’ de los principales indicadores de nuestro negocio, no un lugar donde estudiar un determinado tema, cruzar variables, etc. etc</a:t>
            </a:r>
            <a:r>
              <a:rPr lang="es-CR" sz="2400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s-CR" sz="2400" dirty="0" smtClean="0"/>
              <a:t>Debe </a:t>
            </a:r>
            <a:r>
              <a:rPr lang="es-CR" sz="2400" dirty="0"/>
              <a:t>ayudarnos (guiarnos) a </a:t>
            </a:r>
            <a:r>
              <a:rPr lang="es-CR" sz="2400" b="1" dirty="0"/>
              <a:t>identificar el origen de ese dato positivo o negativo que hemos detectado, que nos permita tomar una decisión al respecto</a:t>
            </a:r>
            <a:r>
              <a:rPr lang="es-CR" sz="2400" dirty="0"/>
              <a:t>, el análisis en detalle de los ‘porqués’ se debe hacer en un informe en concreto o en otra herramienta diseñada para </a:t>
            </a:r>
            <a:r>
              <a:rPr lang="es-CR" sz="2400" dirty="0" smtClean="0"/>
              <a:t>ello.</a:t>
            </a:r>
          </a:p>
          <a:p>
            <a:pPr marL="457200" indent="-457200">
              <a:buFont typeface="+mj-lt"/>
              <a:buAutoNum type="arabicPeriod"/>
            </a:pPr>
            <a:r>
              <a:rPr lang="es-CR" sz="2400" dirty="0" smtClean="0"/>
              <a:t>Para la toma de decisiones, y presentar los resultados más relevantes de un estudio.</a:t>
            </a:r>
            <a:endParaRPr lang="es-CR" sz="2400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79512" y="44624"/>
            <a:ext cx="8856984" cy="864096"/>
          </a:xfrm>
        </p:spPr>
        <p:txBody>
          <a:bodyPr/>
          <a:lstStyle/>
          <a:p>
            <a:r>
              <a:rPr lang="es-CR" dirty="0" smtClean="0"/>
              <a:t>Los </a:t>
            </a:r>
            <a:r>
              <a:rPr lang="es-CR" dirty="0" err="1" smtClean="0"/>
              <a:t>dashboards</a:t>
            </a:r>
            <a:r>
              <a:rPr lang="es-CR" dirty="0" smtClean="0"/>
              <a:t> 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88673325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79512" y="44624"/>
            <a:ext cx="8856984" cy="864096"/>
          </a:xfrm>
        </p:spPr>
        <p:txBody>
          <a:bodyPr/>
          <a:lstStyle/>
          <a:p>
            <a:r>
              <a:rPr lang="es-CR" dirty="0" smtClean="0"/>
              <a:t>Los </a:t>
            </a:r>
            <a:r>
              <a:rPr lang="es-CR" dirty="0" err="1" smtClean="0"/>
              <a:t>dashboards</a:t>
            </a:r>
            <a:r>
              <a:rPr lang="es-CR" dirty="0" smtClean="0"/>
              <a:t> </a:t>
            </a:r>
            <a:endParaRPr lang="es-CR" dirty="0"/>
          </a:p>
        </p:txBody>
      </p:sp>
      <p:pic>
        <p:nvPicPr>
          <p:cNvPr id="3074" name="Picture 2" descr="Image result for dashboar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908720"/>
            <a:ext cx="8064896" cy="5715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001307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41571" y="343900"/>
            <a:ext cx="7733685" cy="666365"/>
          </a:xfrm>
        </p:spPr>
        <p:txBody>
          <a:bodyPr>
            <a:normAutofit fontScale="90000"/>
          </a:bodyPr>
          <a:lstStyle/>
          <a:p>
            <a:pPr algn="ctr"/>
            <a:r>
              <a:rPr lang="es-CR" dirty="0"/>
              <a:t>Índice</a:t>
            </a:r>
          </a:p>
        </p:txBody>
      </p:sp>
      <p:sp>
        <p:nvSpPr>
          <p:cNvPr id="4" name="3 Elipse"/>
          <p:cNvSpPr/>
          <p:nvPr/>
        </p:nvSpPr>
        <p:spPr>
          <a:xfrm>
            <a:off x="210181" y="1745841"/>
            <a:ext cx="862781" cy="90702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1350" dirty="0"/>
              <a:t>1</a:t>
            </a:r>
          </a:p>
        </p:txBody>
      </p:sp>
      <p:sp>
        <p:nvSpPr>
          <p:cNvPr id="6" name="5 Elipse"/>
          <p:cNvSpPr/>
          <p:nvPr/>
        </p:nvSpPr>
        <p:spPr>
          <a:xfrm>
            <a:off x="210181" y="3342354"/>
            <a:ext cx="862781" cy="90702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1350" dirty="0"/>
              <a:t>2</a:t>
            </a:r>
          </a:p>
        </p:txBody>
      </p:sp>
      <p:sp>
        <p:nvSpPr>
          <p:cNvPr id="7" name="6 Elipse"/>
          <p:cNvSpPr/>
          <p:nvPr/>
        </p:nvSpPr>
        <p:spPr>
          <a:xfrm>
            <a:off x="210181" y="4905683"/>
            <a:ext cx="862781" cy="90702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1350" dirty="0"/>
              <a:t>3</a:t>
            </a:r>
          </a:p>
        </p:txBody>
      </p:sp>
      <p:sp>
        <p:nvSpPr>
          <p:cNvPr id="8" name="7 Rectángulo redondeado"/>
          <p:cNvSpPr/>
          <p:nvPr/>
        </p:nvSpPr>
        <p:spPr>
          <a:xfrm>
            <a:off x="1504348" y="1791928"/>
            <a:ext cx="2344994" cy="8148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1350" dirty="0"/>
              <a:t>Introducción</a:t>
            </a:r>
          </a:p>
        </p:txBody>
      </p:sp>
      <p:sp>
        <p:nvSpPr>
          <p:cNvPr id="9" name="8 Rectángulo redondeado"/>
          <p:cNvSpPr/>
          <p:nvPr/>
        </p:nvSpPr>
        <p:spPr>
          <a:xfrm>
            <a:off x="1504348" y="3388441"/>
            <a:ext cx="2344994" cy="8148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1350" dirty="0" smtClean="0"/>
              <a:t>Clásico vs Interactivo</a:t>
            </a:r>
            <a:endParaRPr lang="es-CR" sz="1350" dirty="0"/>
          </a:p>
        </p:txBody>
      </p:sp>
      <p:sp>
        <p:nvSpPr>
          <p:cNvPr id="10" name="9 Rectángulo redondeado"/>
          <p:cNvSpPr/>
          <p:nvPr/>
        </p:nvSpPr>
        <p:spPr>
          <a:xfrm>
            <a:off x="6153777" y="1791928"/>
            <a:ext cx="2344994" cy="8148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1350" dirty="0" smtClean="0"/>
              <a:t>Los 3 tipos de </a:t>
            </a:r>
            <a:r>
              <a:rPr lang="es-CR" sz="1350" dirty="0" err="1" smtClean="0"/>
              <a:t>dashboards</a:t>
            </a:r>
            <a:r>
              <a:rPr lang="es-CR" sz="1350" dirty="0"/>
              <a:t> </a:t>
            </a:r>
            <a:r>
              <a:rPr lang="es-CR" sz="1350" dirty="0" smtClean="0"/>
              <a:t>del curso</a:t>
            </a:r>
            <a:endParaRPr lang="es-CR" sz="1350" dirty="0"/>
          </a:p>
        </p:txBody>
      </p:sp>
      <p:sp>
        <p:nvSpPr>
          <p:cNvPr id="11" name="10 Elipse"/>
          <p:cNvSpPr/>
          <p:nvPr/>
        </p:nvSpPr>
        <p:spPr>
          <a:xfrm>
            <a:off x="5003414" y="1745841"/>
            <a:ext cx="862781" cy="90702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1350" dirty="0"/>
              <a:t>4</a:t>
            </a:r>
          </a:p>
        </p:txBody>
      </p:sp>
      <p:sp>
        <p:nvSpPr>
          <p:cNvPr id="13" name="12 Rectángulo redondeado"/>
          <p:cNvSpPr/>
          <p:nvPr/>
        </p:nvSpPr>
        <p:spPr>
          <a:xfrm>
            <a:off x="1504348" y="4905682"/>
            <a:ext cx="2344994" cy="8148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1350" dirty="0" smtClean="0"/>
              <a:t>Nueva representación: los </a:t>
            </a:r>
            <a:r>
              <a:rPr lang="es-CR" sz="1350" dirty="0" err="1" smtClean="0"/>
              <a:t>dashboards</a:t>
            </a:r>
            <a:endParaRPr lang="es-CR" sz="1350" dirty="0"/>
          </a:p>
        </p:txBody>
      </p:sp>
    </p:spTree>
    <p:extLst>
      <p:ext uri="{BB962C8B-B14F-4D97-AF65-F5344CB8AC3E}">
        <p14:creationId xmlns:p14="http://schemas.microsoft.com/office/powerpoint/2010/main" val="342229866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7504" y="116632"/>
            <a:ext cx="8928992" cy="850106"/>
          </a:xfrm>
        </p:spPr>
        <p:txBody>
          <a:bodyPr/>
          <a:lstStyle/>
          <a:p>
            <a:r>
              <a:rPr lang="es-CR" dirty="0" smtClean="0"/>
              <a:t>Los </a:t>
            </a:r>
            <a:r>
              <a:rPr lang="es-CR" dirty="0" err="1" smtClean="0"/>
              <a:t>dashboards</a:t>
            </a:r>
            <a:r>
              <a:rPr lang="es-CR" dirty="0" smtClean="0"/>
              <a:t> del curso IAM</a:t>
            </a:r>
            <a:endParaRPr lang="es-C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7504" y="1484784"/>
            <a:ext cx="8856984" cy="4525963"/>
          </a:xfrm>
        </p:spPr>
        <p:txBody>
          <a:bodyPr>
            <a:normAutofit/>
          </a:bodyPr>
          <a:lstStyle/>
          <a:p>
            <a:pPr algn="just"/>
            <a:r>
              <a:rPr lang="es-CR" sz="2400" dirty="0" smtClean="0"/>
              <a:t>Para el presente curso, se expondrán y explicarán los </a:t>
            </a:r>
            <a:r>
              <a:rPr lang="es-CR" sz="2400" dirty="0" err="1" smtClean="0"/>
              <a:t>dashboards</a:t>
            </a:r>
            <a:r>
              <a:rPr lang="es-CR" sz="2400" dirty="0" smtClean="0"/>
              <a:t> bajo las herramientas de Excel, </a:t>
            </a:r>
            <a:r>
              <a:rPr lang="es-CR" sz="2400" dirty="0" err="1" smtClean="0"/>
              <a:t>Tableau</a:t>
            </a:r>
            <a:r>
              <a:rPr lang="es-CR" sz="2400" dirty="0" smtClean="0"/>
              <a:t> y el Data Studio.</a:t>
            </a:r>
            <a:endParaRPr lang="es-CR" sz="2400" dirty="0"/>
          </a:p>
        </p:txBody>
      </p:sp>
      <p:pic>
        <p:nvPicPr>
          <p:cNvPr id="4098" name="Picture 2" descr="Image result for excel ic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216902"/>
            <a:ext cx="2424894" cy="2424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Image result for Tableau ic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3000599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Image result for data studio ic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3076799"/>
            <a:ext cx="2705100" cy="270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814691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Image result for dashboard excel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06" b="2680"/>
          <a:stretch/>
        </p:blipFill>
        <p:spPr bwMode="auto">
          <a:xfrm>
            <a:off x="100246" y="1196752"/>
            <a:ext cx="8936250" cy="540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ítulo 1"/>
          <p:cNvSpPr>
            <a:spLocks noGrp="1"/>
          </p:cNvSpPr>
          <p:nvPr>
            <p:ph type="title"/>
          </p:nvPr>
        </p:nvSpPr>
        <p:spPr>
          <a:xfrm>
            <a:off x="107504" y="44624"/>
            <a:ext cx="8928992" cy="850106"/>
          </a:xfrm>
        </p:spPr>
        <p:txBody>
          <a:bodyPr/>
          <a:lstStyle/>
          <a:p>
            <a:r>
              <a:rPr lang="es-CR" dirty="0" smtClean="0"/>
              <a:t>Los </a:t>
            </a:r>
            <a:r>
              <a:rPr lang="es-CR" dirty="0" err="1" smtClean="0"/>
              <a:t>dashboards</a:t>
            </a:r>
            <a:r>
              <a:rPr lang="es-CR" dirty="0" smtClean="0"/>
              <a:t> del curso IAM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208826487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07504" y="44624"/>
            <a:ext cx="8928992" cy="850106"/>
          </a:xfrm>
        </p:spPr>
        <p:txBody>
          <a:bodyPr/>
          <a:lstStyle/>
          <a:p>
            <a:r>
              <a:rPr lang="es-CR" dirty="0" smtClean="0"/>
              <a:t>Los </a:t>
            </a:r>
            <a:r>
              <a:rPr lang="es-CR" dirty="0" err="1" smtClean="0"/>
              <a:t>dashboards</a:t>
            </a:r>
            <a:r>
              <a:rPr lang="es-CR" dirty="0" smtClean="0"/>
              <a:t> del curso IAM</a:t>
            </a:r>
            <a:endParaRPr lang="es-CR" dirty="0"/>
          </a:p>
        </p:txBody>
      </p:sp>
      <p:pic>
        <p:nvPicPr>
          <p:cNvPr id="7170" name="Picture 2" descr="Image result for dashboard tableau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144168"/>
            <a:ext cx="8466071" cy="5453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667413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07504" y="44624"/>
            <a:ext cx="8928992" cy="850106"/>
          </a:xfrm>
        </p:spPr>
        <p:txBody>
          <a:bodyPr/>
          <a:lstStyle/>
          <a:p>
            <a:r>
              <a:rPr lang="es-CR" dirty="0" smtClean="0"/>
              <a:t>Los </a:t>
            </a:r>
            <a:r>
              <a:rPr lang="es-CR" dirty="0" err="1" smtClean="0"/>
              <a:t>dashboards</a:t>
            </a:r>
            <a:r>
              <a:rPr lang="es-CR" dirty="0" smtClean="0"/>
              <a:t> del curso IAM</a:t>
            </a:r>
            <a:endParaRPr lang="es-CR" dirty="0"/>
          </a:p>
        </p:txBody>
      </p:sp>
      <p:pic>
        <p:nvPicPr>
          <p:cNvPr id="6146" name="Picture 2" descr="Image result for dashboard data studi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052736"/>
            <a:ext cx="7346550" cy="5630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841504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41571" y="343900"/>
            <a:ext cx="7733685" cy="666365"/>
          </a:xfrm>
        </p:spPr>
        <p:txBody>
          <a:bodyPr>
            <a:normAutofit fontScale="90000"/>
          </a:bodyPr>
          <a:lstStyle/>
          <a:p>
            <a:pPr algn="ctr"/>
            <a:r>
              <a:rPr lang="es-CR" dirty="0"/>
              <a:t>Índice</a:t>
            </a:r>
          </a:p>
        </p:txBody>
      </p:sp>
      <p:sp>
        <p:nvSpPr>
          <p:cNvPr id="4" name="3 Elipse"/>
          <p:cNvSpPr/>
          <p:nvPr/>
        </p:nvSpPr>
        <p:spPr>
          <a:xfrm>
            <a:off x="210181" y="1745841"/>
            <a:ext cx="862781" cy="90702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1350" dirty="0"/>
              <a:t>1</a:t>
            </a:r>
          </a:p>
        </p:txBody>
      </p:sp>
      <p:sp>
        <p:nvSpPr>
          <p:cNvPr id="6" name="5 Elipse"/>
          <p:cNvSpPr/>
          <p:nvPr/>
        </p:nvSpPr>
        <p:spPr>
          <a:xfrm>
            <a:off x="210181" y="3342354"/>
            <a:ext cx="862781" cy="90702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1350" dirty="0"/>
              <a:t>2</a:t>
            </a:r>
          </a:p>
        </p:txBody>
      </p:sp>
      <p:sp>
        <p:nvSpPr>
          <p:cNvPr id="7" name="6 Elipse"/>
          <p:cNvSpPr/>
          <p:nvPr/>
        </p:nvSpPr>
        <p:spPr>
          <a:xfrm>
            <a:off x="210181" y="4905683"/>
            <a:ext cx="862781" cy="90702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1350" dirty="0"/>
              <a:t>3</a:t>
            </a:r>
          </a:p>
        </p:txBody>
      </p:sp>
      <p:sp>
        <p:nvSpPr>
          <p:cNvPr id="8" name="7 Rectángulo redondeado"/>
          <p:cNvSpPr/>
          <p:nvPr/>
        </p:nvSpPr>
        <p:spPr>
          <a:xfrm>
            <a:off x="1504348" y="1791928"/>
            <a:ext cx="2344994" cy="8148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1350" dirty="0"/>
              <a:t>Introducción</a:t>
            </a:r>
          </a:p>
        </p:txBody>
      </p:sp>
      <p:sp>
        <p:nvSpPr>
          <p:cNvPr id="9" name="8 Rectángulo redondeado"/>
          <p:cNvSpPr/>
          <p:nvPr/>
        </p:nvSpPr>
        <p:spPr>
          <a:xfrm>
            <a:off x="1504348" y="3388441"/>
            <a:ext cx="2344994" cy="8148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1350" dirty="0" smtClean="0"/>
              <a:t>Clásico vs Interactivo</a:t>
            </a:r>
            <a:endParaRPr lang="es-CR" sz="1350" dirty="0"/>
          </a:p>
        </p:txBody>
      </p:sp>
      <p:sp>
        <p:nvSpPr>
          <p:cNvPr id="10" name="9 Rectángulo redondeado"/>
          <p:cNvSpPr/>
          <p:nvPr/>
        </p:nvSpPr>
        <p:spPr>
          <a:xfrm>
            <a:off x="6153777" y="1791928"/>
            <a:ext cx="2344994" cy="8148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1350" dirty="0" smtClean="0"/>
              <a:t>Los 3 tipos de </a:t>
            </a:r>
            <a:r>
              <a:rPr lang="es-CR" sz="1350" dirty="0" err="1" smtClean="0"/>
              <a:t>dashboards</a:t>
            </a:r>
            <a:r>
              <a:rPr lang="es-CR" sz="1350" dirty="0"/>
              <a:t> </a:t>
            </a:r>
            <a:r>
              <a:rPr lang="es-CR" sz="1350" dirty="0" smtClean="0"/>
              <a:t>del curso</a:t>
            </a:r>
            <a:endParaRPr lang="es-CR" sz="1350" dirty="0"/>
          </a:p>
        </p:txBody>
      </p:sp>
      <p:sp>
        <p:nvSpPr>
          <p:cNvPr id="11" name="10 Elipse"/>
          <p:cNvSpPr/>
          <p:nvPr/>
        </p:nvSpPr>
        <p:spPr>
          <a:xfrm>
            <a:off x="5003414" y="1745841"/>
            <a:ext cx="862781" cy="90702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1350" dirty="0"/>
              <a:t>4</a:t>
            </a:r>
          </a:p>
        </p:txBody>
      </p:sp>
      <p:sp>
        <p:nvSpPr>
          <p:cNvPr id="12" name="11 Elipse"/>
          <p:cNvSpPr/>
          <p:nvPr/>
        </p:nvSpPr>
        <p:spPr>
          <a:xfrm>
            <a:off x="5003414" y="3342354"/>
            <a:ext cx="862781" cy="90702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1350" dirty="0"/>
              <a:t>5</a:t>
            </a:r>
          </a:p>
        </p:txBody>
      </p:sp>
      <p:sp>
        <p:nvSpPr>
          <p:cNvPr id="13" name="12 Rectángulo redondeado"/>
          <p:cNvSpPr/>
          <p:nvPr/>
        </p:nvSpPr>
        <p:spPr>
          <a:xfrm>
            <a:off x="1504348" y="4905682"/>
            <a:ext cx="2344994" cy="8148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1350" dirty="0" smtClean="0"/>
              <a:t>Nueva representación: los </a:t>
            </a:r>
            <a:r>
              <a:rPr lang="es-CR" sz="1350" dirty="0" err="1" smtClean="0"/>
              <a:t>dashboards</a:t>
            </a:r>
            <a:endParaRPr lang="es-CR" sz="1350" dirty="0"/>
          </a:p>
        </p:txBody>
      </p:sp>
      <p:sp>
        <p:nvSpPr>
          <p:cNvPr id="14" name="13 Rectángulo redondeado"/>
          <p:cNvSpPr/>
          <p:nvPr/>
        </p:nvSpPr>
        <p:spPr>
          <a:xfrm>
            <a:off x="6153777" y="3388441"/>
            <a:ext cx="2344994" cy="8148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R" sz="1350" dirty="0" err="1" smtClean="0"/>
              <a:t>Dashboards</a:t>
            </a:r>
            <a:r>
              <a:rPr lang="es-CR" sz="1350" dirty="0" smtClean="0"/>
              <a:t> en Excel</a:t>
            </a:r>
            <a:endParaRPr lang="es-CR" sz="1350" dirty="0"/>
          </a:p>
        </p:txBody>
      </p:sp>
    </p:spTree>
    <p:extLst>
      <p:ext uri="{BB962C8B-B14F-4D97-AF65-F5344CB8AC3E}">
        <p14:creationId xmlns:p14="http://schemas.microsoft.com/office/powerpoint/2010/main" val="202997875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5496" y="53752"/>
            <a:ext cx="9036496" cy="782960"/>
          </a:xfrm>
        </p:spPr>
        <p:txBody>
          <a:bodyPr>
            <a:normAutofit/>
          </a:bodyPr>
          <a:lstStyle/>
          <a:p>
            <a:r>
              <a:rPr lang="es-CR" dirty="0" smtClean="0"/>
              <a:t>Dashboard en Excel</a:t>
            </a:r>
            <a:endParaRPr lang="es-C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-36512" y="836712"/>
            <a:ext cx="7344816" cy="5877272"/>
          </a:xfrm>
        </p:spPr>
        <p:txBody>
          <a:bodyPr>
            <a:normAutofit/>
          </a:bodyPr>
          <a:lstStyle/>
          <a:p>
            <a:pPr algn="just"/>
            <a:r>
              <a:rPr lang="es-CR" sz="2400" dirty="0" smtClean="0"/>
              <a:t>Sin entrar en mucho detalle, para poder aplicar </a:t>
            </a:r>
            <a:r>
              <a:rPr lang="es-CR" sz="2400" dirty="0" err="1" smtClean="0"/>
              <a:t>dashboards</a:t>
            </a:r>
            <a:r>
              <a:rPr lang="es-CR" sz="2400" dirty="0" smtClean="0"/>
              <a:t> en Excel, es necesario poseer la versión de 2010 o superior.  Versiones anteriores no lo permiten.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En la aplicación de un dashboard en </a:t>
            </a:r>
            <a:r>
              <a:rPr lang="es-CR" sz="2400" dirty="0" err="1" smtClean="0"/>
              <a:t>excel</a:t>
            </a:r>
            <a:r>
              <a:rPr lang="es-CR" sz="2400" dirty="0" smtClean="0"/>
              <a:t>, se debe de poseer ante todo: diseño, tabla normalizada, pasar datos a una tabla de </a:t>
            </a:r>
            <a:r>
              <a:rPr lang="es-CR" sz="2400" dirty="0" err="1" smtClean="0"/>
              <a:t>excel</a:t>
            </a:r>
            <a:r>
              <a:rPr lang="es-CR" sz="2400" dirty="0" smtClean="0"/>
              <a:t>, obtener las estadísticas descriptivas (estadísticos, gráficos y tablas dinámicas),  realizar el esquema del dashboard, agregar las estadísticas descriptivas, y agregar los </a:t>
            </a:r>
            <a:r>
              <a:rPr lang="es-CR" sz="2400" dirty="0" err="1" smtClean="0"/>
              <a:t>segmentadores</a:t>
            </a:r>
            <a:r>
              <a:rPr lang="es-CR" sz="2400" dirty="0" smtClean="0"/>
              <a:t>. 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Se debe planear: construcción de variables, gráficos y tablas, los </a:t>
            </a:r>
            <a:r>
              <a:rPr lang="es-CR" sz="2400" dirty="0" err="1" smtClean="0"/>
              <a:t>segmentadores</a:t>
            </a:r>
            <a:r>
              <a:rPr lang="es-CR" sz="2400" dirty="0" smtClean="0"/>
              <a:t>, y el diseño (colores, espacios, etc…).</a:t>
            </a:r>
          </a:p>
        </p:txBody>
      </p:sp>
      <p:pic>
        <p:nvPicPr>
          <p:cNvPr id="14338" name="Picture 2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2320" y="836712"/>
            <a:ext cx="1584176" cy="1584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0" name="Picture 4" descr="Image result for dashboard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7777" y="2708919"/>
            <a:ext cx="1588719" cy="3816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095829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35496" y="53752"/>
            <a:ext cx="9036496" cy="782960"/>
          </a:xfrm>
        </p:spPr>
        <p:txBody>
          <a:bodyPr>
            <a:normAutofit/>
          </a:bodyPr>
          <a:lstStyle/>
          <a:p>
            <a:r>
              <a:rPr lang="es-CR" dirty="0" smtClean="0"/>
              <a:t>Dashboard en Excel</a:t>
            </a:r>
            <a:endParaRPr lang="es-CR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547" y="1124744"/>
            <a:ext cx="4053627" cy="51845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1138216"/>
            <a:ext cx="3900792" cy="5171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205556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R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556791"/>
            <a:ext cx="9036496" cy="5103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ítulo 1"/>
          <p:cNvSpPr>
            <a:spLocks noGrp="1"/>
          </p:cNvSpPr>
          <p:nvPr>
            <p:ph type="title"/>
          </p:nvPr>
        </p:nvSpPr>
        <p:spPr>
          <a:xfrm>
            <a:off x="35496" y="53752"/>
            <a:ext cx="9036496" cy="782960"/>
          </a:xfrm>
        </p:spPr>
        <p:txBody>
          <a:bodyPr>
            <a:normAutofit/>
          </a:bodyPr>
          <a:lstStyle/>
          <a:p>
            <a:r>
              <a:rPr lang="es-CR" dirty="0" smtClean="0"/>
              <a:t>Dashboard en Excel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340997940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07504" y="1124744"/>
            <a:ext cx="8784976" cy="5544616"/>
          </a:xfrm>
        </p:spPr>
        <p:txBody>
          <a:bodyPr>
            <a:noAutofit/>
          </a:bodyPr>
          <a:lstStyle/>
          <a:p>
            <a:pPr algn="just"/>
            <a:r>
              <a:rPr lang="es-CR" sz="2400" dirty="0" smtClean="0"/>
              <a:t>Se pueden consultar los siguientes enlaces:</a:t>
            </a:r>
          </a:p>
          <a:p>
            <a:pPr marL="0" indent="0" algn="just">
              <a:buNone/>
            </a:pPr>
            <a:endParaRPr lang="es-CR" sz="2400" dirty="0" smtClean="0"/>
          </a:p>
          <a:p>
            <a:pPr marL="0" indent="0">
              <a:buNone/>
            </a:pPr>
            <a:r>
              <a:rPr lang="es-CR" sz="2400" dirty="0">
                <a:hlinkClick r:id="rId2"/>
              </a:rPr>
              <a:t>https://www.youtube.com/results?search_query=dashboard+in+excel</a:t>
            </a:r>
            <a:r>
              <a:rPr lang="es-CR" sz="2400" dirty="0"/>
              <a:t> </a:t>
            </a:r>
          </a:p>
          <a:p>
            <a:pPr marL="0" indent="0">
              <a:buNone/>
            </a:pPr>
            <a:r>
              <a:rPr lang="es-CR" sz="2400" dirty="0">
                <a:hlinkClick r:id="rId3"/>
              </a:rPr>
              <a:t>https://www.youtube.com/watch?v=rsx43g7TBBs</a:t>
            </a:r>
            <a:r>
              <a:rPr lang="es-CR" sz="2400" dirty="0"/>
              <a:t>  </a:t>
            </a:r>
            <a:br>
              <a:rPr lang="es-CR" sz="2400" dirty="0"/>
            </a:br>
            <a:r>
              <a:rPr lang="es-CR" sz="2400" dirty="0" smtClean="0">
                <a:hlinkClick r:id="rId4"/>
              </a:rPr>
              <a:t>https</a:t>
            </a:r>
            <a:r>
              <a:rPr lang="es-CR" sz="2400" dirty="0">
                <a:hlinkClick r:id="rId4"/>
              </a:rPr>
              <a:t>://www.youtube.com/watch?v=rBuiBNZWjE4</a:t>
            </a:r>
            <a:r>
              <a:rPr lang="es-CR" sz="2400" dirty="0"/>
              <a:t> </a:t>
            </a:r>
          </a:p>
          <a:p>
            <a:pPr marL="0" indent="0">
              <a:buNone/>
            </a:pPr>
            <a:r>
              <a:rPr lang="es-CR" sz="2400" dirty="0" smtClean="0">
                <a:hlinkClick r:id="rId5"/>
              </a:rPr>
              <a:t>https</a:t>
            </a:r>
            <a:r>
              <a:rPr lang="es-CR" sz="2400" dirty="0">
                <a:hlinkClick r:id="rId5"/>
              </a:rPr>
              <a:t>://www.youtube.com/watch?v=RM8T1eYBjQY</a:t>
            </a:r>
            <a:r>
              <a:rPr lang="es-CR" sz="2400" dirty="0"/>
              <a:t/>
            </a:r>
            <a:br>
              <a:rPr lang="es-CR" sz="2400" dirty="0"/>
            </a:br>
            <a:r>
              <a:rPr lang="es-CR" sz="2400" dirty="0" smtClean="0">
                <a:hlinkClick r:id="rId6"/>
              </a:rPr>
              <a:t>https</a:t>
            </a:r>
            <a:r>
              <a:rPr lang="es-CR" sz="2400" dirty="0">
                <a:hlinkClick r:id="rId6"/>
              </a:rPr>
              <a:t>://www.youtube.com/watch?v=qeya4pRrSTE&amp;t=47s</a:t>
            </a:r>
            <a:r>
              <a:rPr lang="es-CR" sz="2400" dirty="0"/>
              <a:t> </a:t>
            </a:r>
            <a:endParaRPr lang="es-CR" sz="2400" dirty="0" smtClean="0"/>
          </a:p>
          <a:p>
            <a:pPr marL="0" indent="0">
              <a:buNone/>
            </a:pPr>
            <a:r>
              <a:rPr lang="es-CR" sz="2400" dirty="0" smtClean="0">
                <a:hlinkClick r:id="rId7"/>
              </a:rPr>
              <a:t>https</a:t>
            </a:r>
            <a:r>
              <a:rPr lang="es-CR" sz="2400" dirty="0">
                <a:hlinkClick r:id="rId7"/>
              </a:rPr>
              <a:t>://www.youtube.com/watch?v=W9tWz1AX5Sk</a:t>
            </a:r>
            <a:r>
              <a:rPr lang="es-CR" sz="2400" dirty="0"/>
              <a:t/>
            </a:r>
            <a:br>
              <a:rPr lang="es-CR" sz="2400" dirty="0"/>
            </a:br>
            <a:r>
              <a:rPr lang="es-CR" sz="2400" dirty="0" smtClean="0">
                <a:hlinkClick r:id="rId8"/>
              </a:rPr>
              <a:t>https</a:t>
            </a:r>
            <a:r>
              <a:rPr lang="es-CR" sz="2400" dirty="0">
                <a:hlinkClick r:id="rId8"/>
              </a:rPr>
              <a:t>://www.youtube.com/watch?v=20zDV9MNE0s</a:t>
            </a:r>
            <a:r>
              <a:rPr lang="es-CR" sz="2400" dirty="0"/>
              <a:t> </a:t>
            </a:r>
          </a:p>
          <a:p>
            <a:pPr marL="0" indent="0">
              <a:buNone/>
            </a:pPr>
            <a:r>
              <a:rPr lang="es-CR" sz="2400" dirty="0" smtClean="0">
                <a:hlinkClick r:id="rId9"/>
              </a:rPr>
              <a:t>https</a:t>
            </a:r>
            <a:r>
              <a:rPr lang="es-CR" sz="2400" dirty="0">
                <a:hlinkClick r:id="rId9"/>
              </a:rPr>
              <a:t>://www.youtube.com/watch?v=K74_FNnlIF8</a:t>
            </a:r>
            <a:r>
              <a:rPr lang="es-CR" sz="2400" dirty="0"/>
              <a:t/>
            </a:r>
            <a:br>
              <a:rPr lang="es-CR" sz="2400" dirty="0"/>
            </a:br>
            <a:r>
              <a:rPr lang="es-CR" sz="2400" dirty="0" smtClean="0">
                <a:hlinkClick r:id="rId3"/>
              </a:rPr>
              <a:t>https</a:t>
            </a:r>
            <a:r>
              <a:rPr lang="es-CR" sz="2400" dirty="0">
                <a:hlinkClick r:id="rId3"/>
              </a:rPr>
              <a:t>://www.youtube.com/watch?v=rsx43g7TBBs</a:t>
            </a:r>
            <a:r>
              <a:rPr lang="es-CR" sz="2400" dirty="0"/>
              <a:t> </a:t>
            </a:r>
            <a:endParaRPr lang="es-CR" sz="2400" dirty="0" smtClean="0"/>
          </a:p>
          <a:p>
            <a:pPr marL="0" indent="0">
              <a:buNone/>
            </a:pPr>
            <a:r>
              <a:rPr lang="es-CR" sz="2400" dirty="0">
                <a:hlinkClick r:id="rId10"/>
              </a:rPr>
              <a:t>https://www.smartsheet.com/how-create-dashboard-excel</a:t>
            </a:r>
            <a:endParaRPr lang="es-CR" sz="2400" dirty="0"/>
          </a:p>
          <a:p>
            <a:pPr marL="0" indent="0" algn="just">
              <a:buNone/>
            </a:pPr>
            <a:endParaRPr lang="es-CR" sz="2400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323528" y="116632"/>
            <a:ext cx="8568951" cy="864096"/>
          </a:xfrm>
        </p:spPr>
        <p:txBody>
          <a:bodyPr/>
          <a:lstStyle/>
          <a:p>
            <a:r>
              <a:rPr lang="es-CR" dirty="0" smtClean="0"/>
              <a:t>Conclusión: enlaces de consulta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3276955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07504" y="1209067"/>
            <a:ext cx="8755982" cy="3263504"/>
          </a:xfrm>
        </p:spPr>
        <p:txBody>
          <a:bodyPr/>
          <a:lstStyle/>
          <a:p>
            <a:pPr marL="0" indent="0">
              <a:buNone/>
            </a:pPr>
            <a:r>
              <a:rPr lang="es-CR" sz="2400" dirty="0"/>
              <a:t>Si desean abordar aún más </a:t>
            </a:r>
            <a:r>
              <a:rPr lang="es-CR" sz="2400" dirty="0" smtClean="0"/>
              <a:t>sobre los dashboard en Excel, </a:t>
            </a:r>
            <a:r>
              <a:rPr lang="es-CR" sz="2400" dirty="0"/>
              <a:t>se recomiendan los siguientes libros:</a:t>
            </a:r>
          </a:p>
          <a:p>
            <a:pPr marL="0" indent="0">
              <a:buNone/>
            </a:pPr>
            <a:endParaRPr lang="es-CR" dirty="0"/>
          </a:p>
        </p:txBody>
      </p:sp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386775" y="116632"/>
            <a:ext cx="8229600" cy="864096"/>
          </a:xfrm>
        </p:spPr>
        <p:txBody>
          <a:bodyPr/>
          <a:lstStyle/>
          <a:p>
            <a:r>
              <a:rPr lang="es-CR" dirty="0" smtClean="0"/>
              <a:t>Conclusión: material de consulta</a:t>
            </a:r>
            <a:endParaRPr lang="es-CR" dirty="0"/>
          </a:p>
        </p:txBody>
      </p:sp>
      <p:pic>
        <p:nvPicPr>
          <p:cNvPr id="10242" name="Picture 2" descr="Image result for dashboard excel boo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418902"/>
            <a:ext cx="3168352" cy="396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Image result for dashboard excel boo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2418902"/>
            <a:ext cx="2780969" cy="396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 descr="Image result for dashboard excel book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8" y="2418902"/>
            <a:ext cx="2232248" cy="396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913577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544" y="88431"/>
            <a:ext cx="8229600" cy="820289"/>
          </a:xfrm>
        </p:spPr>
        <p:txBody>
          <a:bodyPr/>
          <a:lstStyle/>
          <a:p>
            <a:r>
              <a:rPr lang="es-CR" dirty="0" smtClean="0"/>
              <a:t>Conclusión</a:t>
            </a:r>
            <a:endParaRPr lang="es-C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496" y="980728"/>
            <a:ext cx="6768752" cy="5688632"/>
          </a:xfrm>
        </p:spPr>
        <p:txBody>
          <a:bodyPr>
            <a:normAutofit/>
          </a:bodyPr>
          <a:lstStyle/>
          <a:p>
            <a:pPr algn="just"/>
            <a:r>
              <a:rPr lang="es-CR" sz="2400" dirty="0" smtClean="0"/>
              <a:t>El presente capítulo estudio los dashboard: principios, características, justificaciones,  y otros temas.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El presente curso muestra la aplicación de los dashboard a las herramientas de Excel, </a:t>
            </a:r>
            <a:r>
              <a:rPr lang="es-CR" sz="2400" dirty="0" err="1" smtClean="0"/>
              <a:t>Tableau</a:t>
            </a:r>
            <a:r>
              <a:rPr lang="es-CR" sz="2400" dirty="0" smtClean="0"/>
              <a:t> y Data Studio (Google).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La aplicación de un Dashboard en Excel pasa por el diseño, y la conformación de la data para su estructura.</a:t>
            </a:r>
          </a:p>
          <a:p>
            <a:pPr algn="just"/>
            <a:endParaRPr lang="es-CR" sz="2400" dirty="0"/>
          </a:p>
          <a:p>
            <a:pPr algn="just"/>
            <a:r>
              <a:rPr lang="es-CR" sz="2400" dirty="0" smtClean="0"/>
              <a:t>Más adelante se presentará el Dashboard para la modalidad de </a:t>
            </a:r>
            <a:r>
              <a:rPr lang="es-CR" sz="2400" dirty="0" err="1" smtClean="0"/>
              <a:t>Tableau</a:t>
            </a:r>
            <a:r>
              <a:rPr lang="es-CR" sz="2400" dirty="0" smtClean="0"/>
              <a:t> y Data Studio. </a:t>
            </a:r>
            <a:endParaRPr lang="es-CR" sz="2400" dirty="0"/>
          </a:p>
        </p:txBody>
      </p:sp>
      <p:pic>
        <p:nvPicPr>
          <p:cNvPr id="11266" name="Picture 2" descr="Image result for conclusion ic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4221088"/>
            <a:ext cx="1728192" cy="1728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Image result for conclusion ico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05" t="12553" r="3964" b="11886"/>
          <a:stretch/>
        </p:blipFill>
        <p:spPr bwMode="auto">
          <a:xfrm>
            <a:off x="7207964" y="1196752"/>
            <a:ext cx="1756524" cy="1728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681087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R"/>
          </a:p>
        </p:txBody>
      </p:sp>
      <p:pic>
        <p:nvPicPr>
          <p:cNvPr id="2050" name="Picture 2" descr="Image result for the e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8587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icin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cin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cin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811</TotalTime>
  <Words>918</Words>
  <Application>Microsoft Office PowerPoint</Application>
  <PresentationFormat>Presentación en pantalla (4:3)</PresentationFormat>
  <Paragraphs>128</Paragraphs>
  <Slides>28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29" baseType="lpstr">
      <vt:lpstr>Tema de Office</vt:lpstr>
      <vt:lpstr>Dashboard en Excel</vt:lpstr>
      <vt:lpstr>Índice</vt:lpstr>
      <vt:lpstr>Índice</vt:lpstr>
      <vt:lpstr>Introducción</vt:lpstr>
      <vt:lpstr>Introducción</vt:lpstr>
      <vt:lpstr>Índice</vt:lpstr>
      <vt:lpstr>Clásico vs Interactivo y personalizado</vt:lpstr>
      <vt:lpstr>Clásico vs Interactivo y personalizado</vt:lpstr>
      <vt:lpstr>Índice</vt:lpstr>
      <vt:lpstr>Los dashboards </vt:lpstr>
      <vt:lpstr>Los dashboards </vt:lpstr>
      <vt:lpstr>Los dashboards </vt:lpstr>
      <vt:lpstr>Los dashboards </vt:lpstr>
      <vt:lpstr>Los dashboards </vt:lpstr>
      <vt:lpstr>Los dashboards </vt:lpstr>
      <vt:lpstr>Índice</vt:lpstr>
      <vt:lpstr>Los dashboards del curso IAM</vt:lpstr>
      <vt:lpstr>Los dashboards del curso IAM</vt:lpstr>
      <vt:lpstr>Los dashboards del curso IAM</vt:lpstr>
      <vt:lpstr>Los dashboards del curso IAM</vt:lpstr>
      <vt:lpstr>Índice</vt:lpstr>
      <vt:lpstr>Dashboard en Excel</vt:lpstr>
      <vt:lpstr>Dashboard en Excel</vt:lpstr>
      <vt:lpstr>Dashboard en Excel</vt:lpstr>
      <vt:lpstr>Conclusión: enlaces de consulta</vt:lpstr>
      <vt:lpstr>Conclusión: material de consulta</vt:lpstr>
      <vt:lpstr>Conclusión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Dashboard en Excel</dc:title>
  <dc:creator>Oscar Centeno Mora</dc:creator>
  <cp:lastModifiedBy>Oscar Centeno Mora</cp:lastModifiedBy>
  <cp:revision>19</cp:revision>
  <dcterms:created xsi:type="dcterms:W3CDTF">2019-02-18T17:38:35Z</dcterms:created>
  <dcterms:modified xsi:type="dcterms:W3CDTF">2019-05-08T19:30:33Z</dcterms:modified>
</cp:coreProperties>
</file>