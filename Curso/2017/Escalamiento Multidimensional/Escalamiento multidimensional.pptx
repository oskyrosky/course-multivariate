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0" r:id="rId5"/>
    <p:sldId id="293" r:id="rId6"/>
    <p:sldId id="259" r:id="rId7"/>
    <p:sldId id="260" r:id="rId8"/>
    <p:sldId id="261" r:id="rId9"/>
    <p:sldId id="262" r:id="rId10"/>
    <p:sldId id="263" r:id="rId11"/>
    <p:sldId id="294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95" r:id="rId22"/>
    <p:sldId id="274" r:id="rId23"/>
    <p:sldId id="275" r:id="rId24"/>
    <p:sldId id="296" r:id="rId25"/>
    <p:sldId id="276" r:id="rId26"/>
    <p:sldId id="266" r:id="rId27"/>
    <p:sldId id="282" r:id="rId28"/>
    <p:sldId id="283" r:id="rId29"/>
    <p:sldId id="284" r:id="rId30"/>
    <p:sldId id="297" r:id="rId31"/>
    <p:sldId id="286" r:id="rId32"/>
    <p:sldId id="298" r:id="rId33"/>
    <p:sldId id="288" r:id="rId34"/>
    <p:sldId id="299" r:id="rId35"/>
    <p:sldId id="292" r:id="rId36"/>
    <p:sldId id="287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225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6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27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063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753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6072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79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4004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6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088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7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B8155-9509-4AE7-A561-66D7BE77B407}" type="datetimeFigureOut">
              <a:rPr lang="es-ES" smtClean="0"/>
              <a:t>06/06/2017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E5947-D24C-4B84-B828-E27465F129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307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97809" y="127487"/>
            <a:ext cx="10990996" cy="1074296"/>
          </a:xfrm>
        </p:spPr>
        <p:txBody>
          <a:bodyPr/>
          <a:lstStyle/>
          <a:p>
            <a:r>
              <a:rPr lang="es-CR" dirty="0" smtClean="0"/>
              <a:t>Escalamiento multidimensional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817307" y="6150071"/>
            <a:ext cx="3971498" cy="562970"/>
          </a:xfrm>
        </p:spPr>
        <p:txBody>
          <a:bodyPr/>
          <a:lstStyle/>
          <a:p>
            <a:pPr algn="r"/>
            <a:r>
              <a:rPr lang="es-CR" dirty="0" smtClean="0"/>
              <a:t>Oscar Centeno Mora</a:t>
            </a:r>
            <a:endParaRPr lang="es-ES" dirty="0"/>
          </a:p>
        </p:txBody>
      </p:sp>
      <p:pic>
        <p:nvPicPr>
          <p:cNvPr id="1026" name="Picture 2" descr="Resultado de imagen para multi dimensional sca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605" y="1750417"/>
            <a:ext cx="4518722" cy="33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ulti dimensional scal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998" y="1676650"/>
            <a:ext cx="3536575" cy="353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56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74056"/>
            <a:ext cx="10515600" cy="890469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78642" y="1375248"/>
            <a:ext cx="10515600" cy="4930017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¿Qué es el análisis de escalamiento multidimensional?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El análisis de escalas multidimensionales es una técnica de representación </a:t>
            </a:r>
            <a:r>
              <a:rPr lang="es-CR" sz="2400" dirty="0" smtClean="0"/>
              <a:t>espacial que </a:t>
            </a:r>
            <a:r>
              <a:rPr lang="es-CR" sz="2400" dirty="0"/>
              <a:t>permite visualizar sobre un mapa un conjunto de estímulos </a:t>
            </a:r>
            <a:r>
              <a:rPr lang="es-CR" sz="2400" dirty="0" smtClean="0"/>
              <a:t>cuyo posicionamiento </a:t>
            </a:r>
            <a:r>
              <a:rPr lang="es-CR" sz="2400" dirty="0"/>
              <a:t>relativo se desea </a:t>
            </a:r>
            <a:r>
              <a:rPr lang="es-CR" sz="2400" dirty="0" smtClean="0"/>
              <a:t>analizar. </a:t>
            </a:r>
            <a:endParaRPr lang="es-ES" sz="2400" dirty="0" smtClean="0"/>
          </a:p>
          <a:p>
            <a:pPr algn="just"/>
            <a:endParaRPr lang="es-CR" sz="2400" dirty="0" smtClean="0"/>
          </a:p>
          <a:p>
            <a:pPr algn="just"/>
            <a:r>
              <a:rPr lang="es-ES" sz="2400" dirty="0" smtClean="0"/>
              <a:t>Se </a:t>
            </a:r>
            <a:r>
              <a:rPr lang="es-ES" sz="2400" dirty="0"/>
              <a:t>trata de </a:t>
            </a:r>
            <a:r>
              <a:rPr lang="es-ES" sz="2400" dirty="0" smtClean="0"/>
              <a:t>un </a:t>
            </a:r>
            <a:r>
              <a:rPr lang="es-CR" sz="2400" dirty="0" smtClean="0"/>
              <a:t>procedimiento </a:t>
            </a:r>
            <a:r>
              <a:rPr lang="es-CR" sz="2400" dirty="0"/>
              <a:t>rápido y sencillo para dibujar mapas sobre los que </a:t>
            </a:r>
            <a:r>
              <a:rPr lang="es-CR" sz="2400" dirty="0" smtClean="0"/>
              <a:t>representan </a:t>
            </a:r>
            <a:r>
              <a:rPr lang="es-ES" sz="2400" dirty="0" smtClean="0"/>
              <a:t>geométricamente</a:t>
            </a:r>
            <a:r>
              <a:rPr lang="es-ES" sz="2400" dirty="0"/>
              <a:t>, en forma de puntos, un conjunto de objetos (marcas, </a:t>
            </a:r>
            <a:r>
              <a:rPr lang="es-ES" sz="2400" dirty="0" smtClean="0"/>
              <a:t>empresas, destinos </a:t>
            </a:r>
            <a:r>
              <a:rPr lang="es-ES" sz="2400" dirty="0"/>
              <a:t>turísticos, candidatos políticos, establecimientos comerciales …), </a:t>
            </a:r>
            <a:r>
              <a:rPr lang="es-ES" sz="2400" dirty="0" smtClean="0"/>
              <a:t>de </a:t>
            </a:r>
            <a:r>
              <a:rPr lang="es-CR" sz="2400" dirty="0" smtClean="0"/>
              <a:t>forma </a:t>
            </a:r>
            <a:r>
              <a:rPr lang="es-CR" sz="2400" dirty="0"/>
              <a:t>que la mayor proximidad entre dos objetos en el mapa significa que </a:t>
            </a:r>
            <a:r>
              <a:rPr lang="es-CR" sz="2400" dirty="0" smtClean="0"/>
              <a:t>ambos son </a:t>
            </a:r>
            <a:r>
              <a:rPr lang="es-CR" sz="2400" dirty="0"/>
              <a:t>percibidos de forma bastante semejante, al tiempo que su alejamiento </a:t>
            </a:r>
            <a:r>
              <a:rPr lang="es-CR" sz="2400" dirty="0" smtClean="0"/>
              <a:t>indica que </a:t>
            </a:r>
            <a:r>
              <a:rPr lang="es-CR" sz="2400" dirty="0"/>
              <a:t>uno y otro tienen poco que ver entre sí.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811921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232" y="1225124"/>
            <a:ext cx="11390195" cy="5298505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Por este motivo, el análisis de </a:t>
            </a:r>
            <a:r>
              <a:rPr lang="es-CR" sz="2400" dirty="0" smtClean="0"/>
              <a:t>escalas multidimensionales </a:t>
            </a:r>
            <a:r>
              <a:rPr lang="es-CR" sz="2400" dirty="0"/>
              <a:t>se conoce también como "</a:t>
            </a:r>
            <a:r>
              <a:rPr lang="es-CR" sz="2400" b="1" dirty="0"/>
              <a:t>mapa perceptual</a:t>
            </a:r>
            <a:r>
              <a:rPr lang="es-CR" sz="2400" dirty="0"/>
              <a:t>", aunque </a:t>
            </a:r>
            <a:r>
              <a:rPr lang="es-CR" sz="2400" dirty="0" smtClean="0"/>
              <a:t>no debemos </a:t>
            </a:r>
            <a:r>
              <a:rPr lang="es-CR" sz="2400" dirty="0"/>
              <a:t>de olvidar que existen también otras técnicas de representación </a:t>
            </a:r>
            <a:r>
              <a:rPr lang="es-CR" sz="2400" dirty="0" smtClean="0"/>
              <a:t>espacial que </a:t>
            </a:r>
            <a:r>
              <a:rPr lang="es-CR" sz="2400" dirty="0"/>
              <a:t>permiten la obtención de mapas perceptuales, como por ejemplo el </a:t>
            </a:r>
            <a:r>
              <a:rPr lang="es-CR" sz="2400" dirty="0" smtClean="0"/>
              <a:t>análisis factorial </a:t>
            </a:r>
            <a:r>
              <a:rPr lang="es-CR" sz="2400" dirty="0"/>
              <a:t>de correspondencias, abordado en otro </a:t>
            </a:r>
            <a:r>
              <a:rPr lang="es-CR" sz="2400" dirty="0" smtClean="0"/>
              <a:t>tema.</a:t>
            </a:r>
          </a:p>
          <a:p>
            <a:pPr algn="just"/>
            <a:endParaRPr lang="es-CR" sz="2400" dirty="0"/>
          </a:p>
          <a:p>
            <a:r>
              <a:rPr lang="es-CR" sz="2400" dirty="0"/>
              <a:t>En líneas generales, el objetivo del análisis de escalas multidimensionales es </a:t>
            </a:r>
            <a:r>
              <a:rPr lang="es-CR" sz="2400" dirty="0" smtClean="0"/>
              <a:t>transformar </a:t>
            </a:r>
            <a:r>
              <a:rPr lang="es-ES" sz="2400" dirty="0" smtClean="0"/>
              <a:t>juicios </a:t>
            </a:r>
            <a:r>
              <a:rPr lang="es-ES" sz="2400" dirty="0"/>
              <a:t>de </a:t>
            </a:r>
            <a:r>
              <a:rPr lang="es-ES" sz="2400" b="1" dirty="0"/>
              <a:t>similitudes </a:t>
            </a:r>
            <a:r>
              <a:rPr lang="es-ES" sz="2400" dirty="0"/>
              <a:t>(o de preferencias) entre objetos, en distancias </a:t>
            </a:r>
            <a:r>
              <a:rPr lang="es-ES" sz="2400" dirty="0" smtClean="0"/>
              <a:t>entre puntos </a:t>
            </a:r>
            <a:r>
              <a:rPr lang="es-ES" sz="2400" dirty="0"/>
              <a:t>en un mapa</a:t>
            </a:r>
            <a:r>
              <a:rPr lang="es-ES" sz="2400" dirty="0" smtClean="0"/>
              <a:t>.</a:t>
            </a:r>
          </a:p>
          <a:p>
            <a:endParaRPr lang="es-CR" sz="2400" dirty="0"/>
          </a:p>
          <a:p>
            <a:pPr algn="just"/>
            <a:r>
              <a:rPr lang="es-CR" sz="2400" dirty="0"/>
              <a:t>De tal forma, si A y B son percibidos (o preferidos) de </a:t>
            </a:r>
            <a:r>
              <a:rPr lang="es-CR" sz="2400" dirty="0" smtClean="0"/>
              <a:t>forma equivalente</a:t>
            </a:r>
            <a:r>
              <a:rPr lang="es-CR" sz="2400" dirty="0"/>
              <a:t>, los puntos a los que representan se aproximarán en el mapa </a:t>
            </a:r>
            <a:r>
              <a:rPr lang="es-CR" sz="2400" dirty="0" smtClean="0"/>
              <a:t>perceptual, mientras </a:t>
            </a:r>
            <a:r>
              <a:rPr lang="es-CR" sz="2400" dirty="0"/>
              <a:t>que en el supuesto contrario su </a:t>
            </a:r>
            <a:r>
              <a:rPr lang="es-CR" sz="2400" b="1" dirty="0"/>
              <a:t>distancia </a:t>
            </a:r>
            <a:r>
              <a:rPr lang="es-CR" sz="2400" dirty="0"/>
              <a:t>en el espacio </a:t>
            </a:r>
            <a:r>
              <a:rPr lang="es-CR" sz="2400" dirty="0" smtClean="0"/>
              <a:t>perceptual </a:t>
            </a:r>
            <a:r>
              <a:rPr lang="es-ES" sz="2400" dirty="0" smtClean="0"/>
              <a:t>aumentará</a:t>
            </a:r>
            <a:r>
              <a:rPr lang="es-ES" sz="2400" dirty="0"/>
              <a:t>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4056"/>
            <a:ext cx="10515600" cy="890469"/>
          </a:xfrm>
        </p:spPr>
        <p:txBody>
          <a:bodyPr/>
          <a:lstStyle/>
          <a:p>
            <a:pPr algn="ctr"/>
            <a:r>
              <a:rPr lang="es-CR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21038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232" y="1225125"/>
            <a:ext cx="11390195" cy="4449166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En general, el escalamiento multidimensional posee las siguientes etapas:</a:t>
            </a:r>
          </a:p>
          <a:p>
            <a:pPr algn="just"/>
            <a:endParaRPr lang="es-C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s-CR" sz="2400" dirty="0" smtClean="0"/>
              <a:t>Establecimiento de objetivos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CR" sz="2400" dirty="0" smtClean="0"/>
              <a:t>Diseño del plan de análisis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CR" sz="2400" dirty="0" smtClean="0"/>
              <a:t>Condiciones de aplicabilidad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CR" sz="2400" dirty="0" smtClean="0"/>
              <a:t>Estimación del modelo y medida de ajuste global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CR" sz="2400" dirty="0" smtClean="0"/>
              <a:t>Interpretación de los resultados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CR" sz="2400" dirty="0" smtClean="0"/>
              <a:t>Validación de los resultados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174056"/>
            <a:ext cx="10515600" cy="890469"/>
          </a:xfrm>
        </p:spPr>
        <p:txBody>
          <a:bodyPr/>
          <a:lstStyle/>
          <a:p>
            <a:pPr algn="ctr"/>
            <a:r>
              <a:rPr lang="es-CR" dirty="0" smtClean="0"/>
              <a:t>Etapas del EM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49939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239" y="221134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Establecimiento de los objetivos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718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5120" y="1539022"/>
            <a:ext cx="11444784" cy="497096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Lo primero es el establecimiento de los objetivos.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La finalidad de la técnica estriba en su aptitud para medir la ubicación en </a:t>
            </a:r>
            <a:r>
              <a:rPr lang="es-CR" sz="2400" dirty="0" smtClean="0"/>
              <a:t>el espacio </a:t>
            </a:r>
            <a:r>
              <a:rPr lang="es-CR" sz="2400" dirty="0"/>
              <a:t>de un conjunto de objetos cuya posición relativa se analiza. Para tal </a:t>
            </a:r>
            <a:r>
              <a:rPr lang="es-CR" sz="2400" dirty="0" smtClean="0"/>
              <a:t>fin, el </a:t>
            </a:r>
            <a:r>
              <a:rPr lang="es-CR" sz="2400" dirty="0"/>
              <a:t>punto de partida son las comparaciones que han efectuado los individuos </a:t>
            </a:r>
            <a:r>
              <a:rPr lang="es-CR" sz="2400" dirty="0" smtClean="0"/>
              <a:t>entre </a:t>
            </a:r>
            <a:r>
              <a:rPr lang="es-ES" sz="2400" dirty="0" smtClean="0"/>
              <a:t>tales </a:t>
            </a:r>
            <a:r>
              <a:rPr lang="es-ES" sz="2400" dirty="0"/>
              <a:t>objetos.</a:t>
            </a:r>
            <a:r>
              <a:rPr lang="es-CR" sz="2400" dirty="0" smtClean="0"/>
              <a:t> </a:t>
            </a:r>
          </a:p>
          <a:p>
            <a:pPr algn="just"/>
            <a:endParaRPr lang="es-CR" sz="2400" dirty="0"/>
          </a:p>
          <a:p>
            <a:r>
              <a:rPr lang="es-CR" sz="2400" dirty="0"/>
              <a:t>Ahora bien, estas comparaciones se pueden realizar atendiendo a </a:t>
            </a:r>
            <a:r>
              <a:rPr lang="es-CR" sz="2400" dirty="0" smtClean="0"/>
              <a:t>los criterios particulares </a:t>
            </a:r>
            <a:r>
              <a:rPr lang="es-CR" sz="2400" dirty="0"/>
              <a:t>que cada individuo encuestado tenga en mente, o bien, </a:t>
            </a:r>
            <a:r>
              <a:rPr lang="es-CR" sz="2400" dirty="0" smtClean="0"/>
              <a:t>sobre la </a:t>
            </a:r>
            <a:r>
              <a:rPr lang="es-CR" sz="2400" dirty="0"/>
              <a:t>base de un conjunto de variables sugeridas por el investigador. En el </a:t>
            </a:r>
            <a:r>
              <a:rPr lang="es-CR" sz="2400" dirty="0" smtClean="0"/>
              <a:t>primer caso</a:t>
            </a:r>
            <a:r>
              <a:rPr lang="es-CR" sz="2400" dirty="0"/>
              <a:t>, el sujeto es totalmente libre, puesto que sus similitudes (o preferencias) </a:t>
            </a:r>
            <a:r>
              <a:rPr lang="es-CR" sz="2400" dirty="0" smtClean="0"/>
              <a:t>se definen </a:t>
            </a:r>
            <a:r>
              <a:rPr lang="es-CR" sz="2400" dirty="0"/>
              <a:t>atendiendo a sus propios criterios, es decir, de forma idiosincrásica</a:t>
            </a:r>
            <a:r>
              <a:rPr lang="es-CR" sz="2400" dirty="0" smtClean="0"/>
              <a:t>. </a:t>
            </a:r>
            <a:r>
              <a:rPr lang="es-ES" sz="2400" dirty="0"/>
              <a:t>Es </a:t>
            </a:r>
            <a:r>
              <a:rPr lang="es-ES" sz="2400" dirty="0" smtClean="0"/>
              <a:t>lo que </a:t>
            </a:r>
            <a:r>
              <a:rPr lang="es-ES" sz="2400" dirty="0"/>
              <a:t>se conoce como análisis de escalas multidimensionales </a:t>
            </a:r>
            <a:r>
              <a:rPr lang="es-ES" sz="2400" dirty="0" smtClean="0"/>
              <a:t>directo.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27326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5937" y="1388896"/>
            <a:ext cx="11321956" cy="5230267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En el segundo caso, el análisis dependerá, </a:t>
            </a:r>
            <a:r>
              <a:rPr lang="es-CR" sz="2400" dirty="0" smtClean="0"/>
              <a:t>en buena </a:t>
            </a:r>
            <a:r>
              <a:rPr lang="es-CR" sz="2400" dirty="0"/>
              <a:t>medida, de las variables seleccionadas para comparar a los objetos. </a:t>
            </a:r>
            <a:r>
              <a:rPr lang="es-CR" sz="2400" dirty="0" smtClean="0"/>
              <a:t>Se habla </a:t>
            </a:r>
            <a:r>
              <a:rPr lang="es-CR" sz="2400" dirty="0"/>
              <a:t>entonces de análisis de escalas multidimensionales </a:t>
            </a:r>
            <a:r>
              <a:rPr lang="es-CR" sz="2400" dirty="0" smtClean="0"/>
              <a:t>derivado.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Se diferencia del anterior en que la </a:t>
            </a:r>
            <a:r>
              <a:rPr lang="es-CR" sz="2400" dirty="0" smtClean="0"/>
              <a:t>percepción global </a:t>
            </a:r>
            <a:r>
              <a:rPr lang="es-CR" sz="2400" dirty="0"/>
              <a:t>hacia un objeto se compone a partir de las percepciones individuales </a:t>
            </a:r>
            <a:r>
              <a:rPr lang="es-CR" sz="2400" dirty="0" smtClean="0"/>
              <a:t>hacia cada </a:t>
            </a:r>
            <a:r>
              <a:rPr lang="es-CR" sz="2400" dirty="0"/>
              <a:t>uno de los atributos que lo define, que han sido explicitados por el </a:t>
            </a:r>
            <a:r>
              <a:rPr lang="es-CR" sz="2400" dirty="0" smtClean="0"/>
              <a:t>investigador. Su </a:t>
            </a:r>
            <a:r>
              <a:rPr lang="es-CR" sz="2400" dirty="0"/>
              <a:t>ventaja radica en poder representar sobre un mismo mapa </a:t>
            </a:r>
            <a:r>
              <a:rPr lang="es-CR" sz="2400" dirty="0" smtClean="0"/>
              <a:t>perceptual tanto </a:t>
            </a:r>
            <a:r>
              <a:rPr lang="es-CR" sz="2400" dirty="0"/>
              <a:t>los objetos cuya posición en el espacio se analiza, como las variables </a:t>
            </a:r>
            <a:r>
              <a:rPr lang="es-CR" sz="2400" dirty="0" smtClean="0"/>
              <a:t>utilizadas </a:t>
            </a:r>
            <a:r>
              <a:rPr lang="es-ES" sz="2400" dirty="0" smtClean="0"/>
              <a:t>para </a:t>
            </a:r>
            <a:r>
              <a:rPr lang="es-ES" sz="2400" dirty="0"/>
              <a:t>determinarla</a:t>
            </a:r>
            <a:r>
              <a:rPr lang="es-ES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Por último añadir que, con frecuencia, se trata a toda la muestra de </a:t>
            </a:r>
            <a:r>
              <a:rPr lang="es-CR" sz="2400" dirty="0" smtClean="0"/>
              <a:t>forma </a:t>
            </a:r>
            <a:r>
              <a:rPr lang="es-ES" sz="2400" dirty="0" smtClean="0"/>
              <a:t>homogénea</a:t>
            </a:r>
            <a:r>
              <a:rPr lang="es-ES" sz="2400" dirty="0"/>
              <a:t>, sin distinguir segmentos de individuos con características afines. </a:t>
            </a:r>
            <a:r>
              <a:rPr lang="es-ES" sz="2400" dirty="0" smtClean="0"/>
              <a:t>En </a:t>
            </a:r>
            <a:r>
              <a:rPr lang="es-CR" sz="2400" dirty="0" smtClean="0"/>
              <a:t>este </a:t>
            </a:r>
            <a:r>
              <a:rPr lang="es-CR" sz="2400" dirty="0"/>
              <a:t>se caso se habla de análisis de escalas multidimensionales clásicos, basados </a:t>
            </a:r>
            <a:r>
              <a:rPr lang="es-CR" sz="2400" dirty="0" smtClean="0"/>
              <a:t>en la </a:t>
            </a:r>
            <a:r>
              <a:rPr lang="es-CR" sz="2400" dirty="0"/>
              <a:t>obtención de un sólo mapa perceptual para toda la muestra.</a:t>
            </a:r>
            <a:endParaRPr lang="es-ES" sz="2400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35558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4049" y="1211475"/>
            <a:ext cx="11608559" cy="5380393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Por el </a:t>
            </a:r>
            <a:r>
              <a:rPr lang="es-ES" sz="2400" dirty="0" smtClean="0"/>
              <a:t>contrario, </a:t>
            </a:r>
            <a:r>
              <a:rPr lang="es-CR" sz="2400" dirty="0" smtClean="0"/>
              <a:t>resulta </a:t>
            </a:r>
            <a:r>
              <a:rPr lang="es-CR" sz="2400" dirty="0"/>
              <a:t>posible realizar análisis segmentados de forma que, además del </a:t>
            </a:r>
            <a:r>
              <a:rPr lang="es-CR" sz="2400" dirty="0" smtClean="0"/>
              <a:t>mapa </a:t>
            </a:r>
            <a:r>
              <a:rPr lang="es-ES" sz="2400" dirty="0" smtClean="0"/>
              <a:t>general</a:t>
            </a:r>
            <a:r>
              <a:rPr lang="es-ES" sz="2400" dirty="0"/>
              <a:t>, se obtengan mapas particulares para cada individuo (o segmento </a:t>
            </a:r>
            <a:r>
              <a:rPr lang="es-ES" sz="2400" dirty="0" smtClean="0"/>
              <a:t>de </a:t>
            </a:r>
            <a:r>
              <a:rPr lang="es-CR" sz="2400" dirty="0" smtClean="0"/>
              <a:t>individuos</a:t>
            </a:r>
            <a:r>
              <a:rPr lang="es-CR" sz="2400" dirty="0"/>
              <a:t>) identificados en la muestra. En este segundo caso se habla de </a:t>
            </a:r>
            <a:r>
              <a:rPr lang="es-CR" sz="2400" dirty="0" smtClean="0"/>
              <a:t>análisis de </a:t>
            </a:r>
            <a:r>
              <a:rPr lang="es-CR" sz="2400" dirty="0"/>
              <a:t>escalas multidimensionales replicados. Su gran ventaja radica en </a:t>
            </a:r>
            <a:r>
              <a:rPr lang="es-CR" sz="2400" dirty="0" smtClean="0"/>
              <a:t>generar distintos </a:t>
            </a:r>
            <a:r>
              <a:rPr lang="es-CR" sz="2400" dirty="0"/>
              <a:t>mapas perceptuales en función de los individuos (o segmentos) considerados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Los distintos tipos de análisis de escalas </a:t>
            </a:r>
            <a:r>
              <a:rPr lang="es-CR" sz="2400" dirty="0" smtClean="0"/>
              <a:t>multidimensionales son: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56027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32" y="409435"/>
            <a:ext cx="10978800" cy="599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577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9918" y="1211475"/>
            <a:ext cx="11526672" cy="5230267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Una </a:t>
            </a:r>
            <a:r>
              <a:rPr lang="es-CR" sz="2400" dirty="0"/>
              <a:t>de las decisiones más importantes </a:t>
            </a:r>
            <a:r>
              <a:rPr lang="es-CR" sz="2400" dirty="0" smtClean="0"/>
              <a:t>en relación </a:t>
            </a:r>
            <a:r>
              <a:rPr lang="es-CR" sz="2400" dirty="0"/>
              <a:t>con la aplicación de esta técnica es la selección de los objetos que se </a:t>
            </a:r>
            <a:r>
              <a:rPr lang="es-CR" sz="2400" dirty="0" smtClean="0"/>
              <a:t>van </a:t>
            </a:r>
            <a:r>
              <a:rPr lang="es-CR" sz="2400" dirty="0"/>
              <a:t>a comparar. No en vano, la adición de nuevos objetos, o eliminación de </a:t>
            </a:r>
            <a:r>
              <a:rPr lang="es-CR" sz="2400" dirty="0" smtClean="0"/>
              <a:t>algunos de </a:t>
            </a:r>
            <a:r>
              <a:rPr lang="es-CR" sz="2400" dirty="0"/>
              <a:t>los ya considerados, supone la reubicación en el mapa de los objetos </a:t>
            </a:r>
            <a:r>
              <a:rPr lang="es-CR" sz="2400" dirty="0" smtClean="0"/>
              <a:t>restantes. Dicha </a:t>
            </a:r>
            <a:r>
              <a:rPr lang="es-CR" sz="2400" dirty="0"/>
              <a:t>elección debe basarse en los objetivos de la investigación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ES" sz="2400" dirty="0"/>
              <a:t>Así, si el </a:t>
            </a:r>
            <a:r>
              <a:rPr lang="es-ES" sz="2400" dirty="0" smtClean="0"/>
              <a:t>objetivo </a:t>
            </a:r>
            <a:r>
              <a:rPr lang="es-CR" sz="2400" dirty="0" smtClean="0"/>
              <a:t>fuera </a:t>
            </a:r>
            <a:r>
              <a:rPr lang="es-CR" sz="2400" dirty="0"/>
              <a:t>el análisis del conjunto de productos para el cuidado de la piel, la </a:t>
            </a:r>
            <a:r>
              <a:rPr lang="es-CR" sz="2400" dirty="0" smtClean="0"/>
              <a:t>cantidad y </a:t>
            </a:r>
            <a:r>
              <a:rPr lang="es-CR" sz="2400" dirty="0"/>
              <a:t>variedad de marcas o productos será bien diferente en comparación con </a:t>
            </a:r>
            <a:r>
              <a:rPr lang="es-CR" sz="2400" dirty="0" smtClean="0"/>
              <a:t>otro </a:t>
            </a:r>
            <a:r>
              <a:rPr lang="es-ES" sz="2400" dirty="0" smtClean="0"/>
              <a:t>hipotético </a:t>
            </a:r>
            <a:r>
              <a:rPr lang="es-ES" sz="2400" dirty="0"/>
              <a:t>estudio centrado únicamente en los productos ecológicos o no </a:t>
            </a:r>
            <a:r>
              <a:rPr lang="es-ES" sz="2400" dirty="0" smtClean="0"/>
              <a:t>testados </a:t>
            </a:r>
            <a:r>
              <a:rPr lang="es-CR" sz="2400" dirty="0" smtClean="0"/>
              <a:t>en </a:t>
            </a:r>
            <a:r>
              <a:rPr lang="es-CR" sz="2400" dirty="0"/>
              <a:t>animales. En cualquier caso el criterio aconsejable es incluir aquellos </a:t>
            </a:r>
            <a:r>
              <a:rPr lang="es-CR" sz="2400" dirty="0" smtClean="0"/>
              <a:t>objetos que </a:t>
            </a:r>
            <a:r>
              <a:rPr lang="es-CR" sz="2400" dirty="0"/>
              <a:t>realmente compiten desde la perspectiva del consumidor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Una precisión adicional hace referencia a la necesidad de que los </a:t>
            </a:r>
            <a:r>
              <a:rPr lang="es-CR" sz="2400" dirty="0" smtClean="0"/>
              <a:t>encuestados conozcan </a:t>
            </a:r>
            <a:r>
              <a:rPr lang="es-CR" sz="2400" dirty="0"/>
              <a:t>lo suficiente a los distintos objetos seleccionados, para asegurar que </a:t>
            </a:r>
            <a:r>
              <a:rPr lang="es-CR" sz="2400" dirty="0" smtClean="0"/>
              <a:t>las comparaciones </a:t>
            </a:r>
            <a:r>
              <a:rPr lang="es-CR" sz="2400" dirty="0"/>
              <a:t>que se efectúan responden a una base sólida de conocimientos.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37323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239" y="221134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Diseño del plan de análisis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57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60528" y="1337482"/>
                <a:ext cx="10939818" cy="529533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R" sz="2400" dirty="0" smtClean="0"/>
                  <a:t>Acto seguido, corresponde ver el diseño del plan de análisis.</a:t>
                </a:r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/>
                  <a:t>En relación con el planteamiento de la investigación se debe señalar que el </a:t>
                </a:r>
                <a:r>
                  <a:rPr lang="es-CR" sz="2400" dirty="0" smtClean="0"/>
                  <a:t>análisis </a:t>
                </a:r>
                <a:r>
                  <a:rPr lang="es-ES" sz="2400" dirty="0" smtClean="0"/>
                  <a:t>de </a:t>
                </a:r>
                <a:r>
                  <a:rPr lang="es-ES" sz="2400" dirty="0"/>
                  <a:t>escalas multidimensionales trata de representar un conjunto de objetos </a:t>
                </a:r>
                <a:r>
                  <a:rPr lang="es-ES" sz="2400" dirty="0" smtClean="0"/>
                  <a:t>en </a:t>
                </a:r>
                <a:r>
                  <a:rPr lang="es-CR" sz="2400" dirty="0" smtClean="0"/>
                  <a:t>forma </a:t>
                </a:r>
                <a:r>
                  <a:rPr lang="es-CR" sz="2400" dirty="0"/>
                  <a:t>de puntos sobre un mapa. Para lo cual, una vez se han comparado </a:t>
                </a:r>
                <a:r>
                  <a:rPr lang="es-CR" sz="2400" dirty="0" smtClean="0"/>
                  <a:t>los distintos </a:t>
                </a:r>
                <a:r>
                  <a:rPr lang="es-CR" sz="2400" dirty="0"/>
                  <a:t>objetos se construye una matriz cuyas celdas miden el grado </a:t>
                </a:r>
                <a:r>
                  <a:rPr lang="es-CR" sz="2400" dirty="0" smtClean="0"/>
                  <a:t>de similitud/disimilitud </a:t>
                </a:r>
                <a:r>
                  <a:rPr lang="es-CR" sz="2400" dirty="0"/>
                  <a:t>entre cada par de </a:t>
                </a:r>
                <a:r>
                  <a:rPr lang="es-CR" sz="2400" dirty="0" smtClean="0"/>
                  <a:t>objetos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sz="2400" dirty="0" smtClean="0"/>
                  <a:t>).</a:t>
                </a:r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/>
                  <a:t>Es lo que se conoce </a:t>
                </a:r>
                <a:r>
                  <a:rPr lang="es-CR" sz="2400" dirty="0" smtClean="0"/>
                  <a:t>como </a:t>
                </a:r>
                <a:r>
                  <a:rPr lang="es-ES" sz="2400" dirty="0" smtClean="0"/>
                  <a:t>matriz </a:t>
                </a:r>
                <a:r>
                  <a:rPr lang="es-ES" sz="2400" dirty="0"/>
                  <a:t>de proximidades, o similitudes/disimilitudes. Los coeficientes </a:t>
                </a:r>
                <a:r>
                  <a:rPr lang="es-ES" sz="2400" dirty="0" smtClean="0"/>
                  <a:t>de </a:t>
                </a:r>
                <a:r>
                  <a:rPr lang="es-CR" sz="2400" dirty="0" smtClean="0"/>
                  <a:t>similitud/disimilitud </a:t>
                </a:r>
                <a:r>
                  <a:rPr lang="es-CR" sz="2400" dirty="0"/>
                  <a:t>de la matriz entre cada objeto "i" y cada objeto "j" se </a:t>
                </a:r>
                <a:r>
                  <a:rPr lang="es-CR" sz="2400" dirty="0" smtClean="0"/>
                  <a:t>transforman en </a:t>
                </a:r>
                <a:r>
                  <a:rPr lang="es-CR" sz="2400" dirty="0"/>
                  <a:t>distancias en el mapa, de forma que dos objetos cuyo coeficiente </a:t>
                </a:r>
                <a:r>
                  <a:rPr lang="es-CR" sz="2400" dirty="0" smtClean="0"/>
                  <a:t>de </a:t>
                </a:r>
                <a:r>
                  <a:rPr lang="es-ES" sz="2400" dirty="0" smtClean="0"/>
                  <a:t>similitud </a:t>
                </a:r>
                <a:r>
                  <a:rPr lang="es-CR" sz="24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sz="2400" dirty="0" smtClean="0"/>
                  <a:t>) sea elevado, estarán poco distante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sz="2400" dirty="0" smtClean="0"/>
                  <a:t>) </a:t>
                </a:r>
                <a:r>
                  <a:rPr lang="es-CR" sz="2400" dirty="0"/>
                  <a:t>en el mapa que los representa.</a:t>
                </a:r>
                <a:endParaRPr lang="es-ES" sz="2400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528" y="1337482"/>
                <a:ext cx="10939818" cy="5295330"/>
              </a:xfrm>
              <a:blipFill rotWithShape="0">
                <a:blip r:embed="rId2"/>
                <a:stretch>
                  <a:fillRect l="-724" t="-1611" r="-89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26459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7697" y="1375249"/>
            <a:ext cx="11663151" cy="5312154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/>
              <a:t>Al plantear la investigación se deben contemplar dos puntos esenciales. </a:t>
            </a:r>
            <a:r>
              <a:rPr lang="es-CR" sz="2400" dirty="0" smtClean="0"/>
              <a:t>Primero, la </a:t>
            </a:r>
            <a:r>
              <a:rPr lang="es-CR" sz="2400" dirty="0"/>
              <a:t>selección del método de recogida de información (basado en los objetos </a:t>
            </a:r>
            <a:r>
              <a:rPr lang="es-CR" sz="2400" dirty="0" smtClean="0"/>
              <a:t>o basado </a:t>
            </a:r>
            <a:r>
              <a:rPr lang="es-CR" sz="2400" dirty="0"/>
              <a:t>tanto en los objetos como en los atributos), así como del nivel de </a:t>
            </a:r>
            <a:r>
              <a:rPr lang="es-CR" sz="2400" dirty="0" smtClean="0"/>
              <a:t>agregación de </a:t>
            </a:r>
            <a:r>
              <a:rPr lang="es-CR" sz="2400" dirty="0"/>
              <a:t>la muestra (análisis agregados </a:t>
            </a:r>
            <a:r>
              <a:rPr lang="es-CR" sz="2400" dirty="0" err="1"/>
              <a:t>ó</a:t>
            </a:r>
            <a:r>
              <a:rPr lang="es-CR" sz="2400" dirty="0"/>
              <a:t> desagregados). Segundo, la </a:t>
            </a:r>
            <a:r>
              <a:rPr lang="es-CR" sz="2400" dirty="0" smtClean="0"/>
              <a:t>especificación del </a:t>
            </a:r>
            <a:r>
              <a:rPr lang="es-CR" sz="2400" dirty="0"/>
              <a:t>tipo de métrica a aplicar (análisis métricos </a:t>
            </a:r>
            <a:r>
              <a:rPr lang="es-CR" sz="2400" dirty="0" err="1"/>
              <a:t>ó</a:t>
            </a:r>
            <a:r>
              <a:rPr lang="es-CR" sz="2400" dirty="0"/>
              <a:t> no métricos) y de los objetos </a:t>
            </a:r>
            <a:r>
              <a:rPr lang="es-CR" sz="2400" dirty="0" smtClean="0"/>
              <a:t>a </a:t>
            </a:r>
            <a:r>
              <a:rPr lang="es-ES" sz="2400" dirty="0" smtClean="0"/>
              <a:t>estudiar.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En relación con la selección del </a:t>
            </a:r>
            <a:r>
              <a:rPr lang="es-CR" sz="2400" b="1" i="1" dirty="0"/>
              <a:t>método de recogida de información </a:t>
            </a:r>
            <a:r>
              <a:rPr lang="es-CR" sz="2400" dirty="0"/>
              <a:t>se </a:t>
            </a:r>
            <a:r>
              <a:rPr lang="es-CR" sz="2400" dirty="0" smtClean="0"/>
              <a:t>debe atender </a:t>
            </a:r>
            <a:r>
              <a:rPr lang="es-CR" sz="2400" dirty="0"/>
              <a:t>a los objetivos de la investigación. Si se desea conocer sólo la ubicación </a:t>
            </a:r>
            <a:r>
              <a:rPr lang="es-CR" sz="2400" dirty="0" smtClean="0"/>
              <a:t>en el </a:t>
            </a:r>
            <a:r>
              <a:rPr lang="es-CR" sz="2400" dirty="0"/>
              <a:t>mapa de los distintos objetos analizados, se debe aplicar el análisis de </a:t>
            </a:r>
            <a:r>
              <a:rPr lang="es-CR" sz="2400" dirty="0" smtClean="0"/>
              <a:t>escalas multidimensionales </a:t>
            </a:r>
            <a:r>
              <a:rPr lang="es-CR" sz="2400" dirty="0"/>
              <a:t>directo. Si se desea conocer también "cómo" se </a:t>
            </a:r>
            <a:r>
              <a:rPr lang="es-CR" sz="2400" dirty="0" smtClean="0"/>
              <a:t>relacionan estos </a:t>
            </a:r>
            <a:r>
              <a:rPr lang="es-CR" sz="2400" dirty="0"/>
              <a:t>entre sí, se debe optar por el análisis de escalas derivado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ES" sz="2400" dirty="0"/>
              <a:t>Es decir, en </a:t>
            </a:r>
            <a:r>
              <a:rPr lang="es-ES" sz="2400" dirty="0" smtClean="0"/>
              <a:t>el </a:t>
            </a:r>
            <a:r>
              <a:rPr lang="es-CR" sz="2400" dirty="0" smtClean="0"/>
              <a:t>primer </a:t>
            </a:r>
            <a:r>
              <a:rPr lang="es-CR" sz="2400" dirty="0"/>
              <a:t>caso, la matriz de partida será una matriz cuadrada (objetos x objetos</a:t>
            </a:r>
            <a:r>
              <a:rPr lang="es-CR" sz="2400" dirty="0" smtClean="0"/>
              <a:t>), mientras </a:t>
            </a:r>
            <a:r>
              <a:rPr lang="es-CR" sz="2400" dirty="0"/>
              <a:t>que en el segundo caso será rectangular (objetos x atributos). </a:t>
            </a:r>
            <a:r>
              <a:rPr lang="es-CR" sz="2400" dirty="0" smtClean="0"/>
              <a:t>En general</a:t>
            </a:r>
            <a:r>
              <a:rPr lang="es-CR" sz="2400" dirty="0"/>
              <a:t>, los métodos que no consideran atributos son conocidos como métodos </a:t>
            </a:r>
            <a:r>
              <a:rPr lang="es-CR" sz="2400" dirty="0" smtClean="0"/>
              <a:t>de </a:t>
            </a:r>
            <a:r>
              <a:rPr lang="es-CR" sz="2400" dirty="0"/>
              <a:t>categorización/clasificación y los que si los consideran como métodos de evaluación.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23367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7699" y="1064525"/>
            <a:ext cx="11704092" cy="5793475"/>
          </a:xfrm>
        </p:spPr>
        <p:txBody>
          <a:bodyPr>
            <a:normAutofit fontScale="92500"/>
          </a:bodyPr>
          <a:lstStyle/>
          <a:p>
            <a:r>
              <a:rPr lang="es-CR" sz="2400" dirty="0" smtClean="0"/>
              <a:t>Existen varios métodos de categorización:</a:t>
            </a:r>
          </a:p>
          <a:p>
            <a:endParaRPr lang="es-CR" sz="2400" dirty="0"/>
          </a:p>
          <a:p>
            <a:pPr marL="457200" indent="-457200">
              <a:buAutoNum type="alphaUcParenR"/>
            </a:pPr>
            <a:r>
              <a:rPr lang="es-CR" sz="2400" dirty="0" smtClean="0"/>
              <a:t>Categorización o clasificación</a:t>
            </a:r>
          </a:p>
          <a:p>
            <a:pPr marL="457200" indent="-457200">
              <a:buAutoNum type="alphaUcParenR"/>
            </a:pPr>
            <a:endParaRPr lang="es-CR" sz="2400" dirty="0"/>
          </a:p>
          <a:p>
            <a:pPr algn="just"/>
            <a:r>
              <a:rPr lang="es-CR" sz="2400" dirty="0"/>
              <a:t>Los distintos objetos son repartidos en conjuntos atendiendo a los </a:t>
            </a:r>
            <a:r>
              <a:rPr lang="es-CR" sz="2400" dirty="0" smtClean="0"/>
              <a:t>similares que </a:t>
            </a:r>
            <a:r>
              <a:rPr lang="es-CR" sz="2400" dirty="0"/>
              <a:t>se perciben. Es decir, con este método, los objetos se clasifican </a:t>
            </a:r>
            <a:r>
              <a:rPr lang="es-CR" sz="2400" dirty="0" smtClean="0"/>
              <a:t>utilizando grupos </a:t>
            </a:r>
            <a:r>
              <a:rPr lang="es-CR" sz="2400" dirty="0"/>
              <a:t>alternativos, de forma que si los objetos son incluidos </a:t>
            </a:r>
            <a:r>
              <a:rPr lang="es-CR" sz="2400" dirty="0" smtClean="0"/>
              <a:t>dentro de </a:t>
            </a:r>
            <a:r>
              <a:rPr lang="es-CR" sz="2400" dirty="0"/>
              <a:t>un mismo grupo son percibidos de forma equivalente y si son </a:t>
            </a:r>
            <a:r>
              <a:rPr lang="es-CR" sz="2400" dirty="0" smtClean="0"/>
              <a:t>incluidos en </a:t>
            </a:r>
            <a:r>
              <a:rPr lang="es-CR" sz="2400" dirty="0"/>
              <a:t>distintos grupos son percibidos de forma diferente. Dos objetos que </a:t>
            </a:r>
            <a:r>
              <a:rPr lang="es-CR" sz="2400" dirty="0" smtClean="0"/>
              <a:t>han sido </a:t>
            </a:r>
            <a:r>
              <a:rPr lang="es-CR" sz="2400" dirty="0"/>
              <a:t>frecuentemente incluidos en el mismo grupo se situarán próximos en </a:t>
            </a:r>
            <a:r>
              <a:rPr lang="es-CR" sz="2400" dirty="0" smtClean="0"/>
              <a:t>el mapa </a:t>
            </a:r>
            <a:r>
              <a:rPr lang="es-CR" sz="2400" dirty="0"/>
              <a:t>puesto que su coeficiente de similitud es elevado</a:t>
            </a:r>
            <a:r>
              <a:rPr lang="es-CR" sz="2400" dirty="0" smtClean="0"/>
              <a:t>.</a:t>
            </a:r>
          </a:p>
          <a:p>
            <a:endParaRPr lang="es-CR" sz="2400" dirty="0"/>
          </a:p>
          <a:p>
            <a:pPr algn="just"/>
            <a:r>
              <a:rPr lang="es-CR" sz="2400" dirty="0"/>
              <a:t>En los casos en que la clasificación de objetos se haga por parejas, </a:t>
            </a:r>
            <a:r>
              <a:rPr lang="es-CR" sz="2400" dirty="0" smtClean="0"/>
              <a:t>todos los </a:t>
            </a:r>
            <a:r>
              <a:rPr lang="es-CR" sz="2400" dirty="0"/>
              <a:t>pares deben ser repartidos en grupos o especies excluyentes. Una </a:t>
            </a:r>
            <a:r>
              <a:rPr lang="es-CR" sz="2400" dirty="0" smtClean="0"/>
              <a:t>pareja de </a:t>
            </a:r>
            <a:r>
              <a:rPr lang="es-CR" sz="2400" dirty="0"/>
              <a:t>objetos similar a otra debe ser incluida dentro del mismo montón </a:t>
            </a:r>
            <a:r>
              <a:rPr lang="es-CR" sz="2400" dirty="0" smtClean="0"/>
              <a:t>que aquella</a:t>
            </a:r>
            <a:r>
              <a:rPr lang="es-CR" sz="2400" dirty="0"/>
              <a:t>. La utilización de dos objetos en lugar de uno como base </a:t>
            </a:r>
            <a:r>
              <a:rPr lang="es-CR" sz="2400" dirty="0" smtClean="0"/>
              <a:t>de comparación </a:t>
            </a:r>
            <a:r>
              <a:rPr lang="es-CR" sz="2400" dirty="0"/>
              <a:t>se recomienda para situaciones en que intervienen </a:t>
            </a:r>
            <a:r>
              <a:rPr lang="es-CR" sz="2400" dirty="0" smtClean="0"/>
              <a:t>pocos objetos</a:t>
            </a:r>
            <a:r>
              <a:rPr lang="es-CR" sz="2400" dirty="0"/>
              <a:t>. Ello obedece a que el número de parejas posibles es bastante </a:t>
            </a:r>
            <a:r>
              <a:rPr lang="es-CR" sz="2400" dirty="0" smtClean="0"/>
              <a:t>más elevado </a:t>
            </a:r>
            <a:r>
              <a:rPr lang="es-CR" sz="2400" dirty="0"/>
              <a:t>que el de objetos.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47704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4049" y="1184179"/>
            <a:ext cx="11813275" cy="5530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B) La citación directa</a:t>
            </a:r>
          </a:p>
          <a:p>
            <a:pPr marL="0" indent="0">
              <a:buNone/>
            </a:pPr>
            <a:endParaRPr lang="es-CR" sz="2400" dirty="0"/>
          </a:p>
          <a:p>
            <a:pPr algn="just"/>
            <a:r>
              <a:rPr lang="es-CR" sz="2400" dirty="0"/>
              <a:t>Los individuos citan aquellos objetos que le vienen a la mente. Dos </a:t>
            </a:r>
            <a:r>
              <a:rPr lang="es-CR" sz="2400" dirty="0" smtClean="0"/>
              <a:t>objetos que </a:t>
            </a:r>
            <a:r>
              <a:rPr lang="es-CR" sz="2400" dirty="0"/>
              <a:t>han sido frecuentemente citados juntos tienen un coeficiente de </a:t>
            </a:r>
            <a:r>
              <a:rPr lang="es-CR" sz="2400" dirty="0" smtClean="0"/>
              <a:t>similitud (porcentaje </a:t>
            </a:r>
            <a:r>
              <a:rPr lang="es-CR" sz="2400" dirty="0"/>
              <a:t>relativo de asociación) elevado, por lo que se </a:t>
            </a:r>
            <a:r>
              <a:rPr lang="es-CR" sz="2400" dirty="0" smtClean="0"/>
              <a:t>situarán próximos </a:t>
            </a:r>
            <a:r>
              <a:rPr lang="es-CR" sz="2400" dirty="0"/>
              <a:t>en el mapa que los represente.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17607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0403" y="1225124"/>
            <a:ext cx="11826922" cy="5394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C) Comparación pareadas</a:t>
            </a:r>
          </a:p>
          <a:p>
            <a:pPr marL="0" indent="0">
              <a:buNone/>
            </a:pPr>
            <a:endParaRPr lang="es-CR" sz="2400" dirty="0"/>
          </a:p>
          <a:p>
            <a:pPr algn="just"/>
            <a:r>
              <a:rPr lang="es-CR" sz="2400" dirty="0"/>
              <a:t>Los distintos objetos se comparan dos a dos, indicando </a:t>
            </a:r>
            <a:r>
              <a:rPr lang="es-CR" sz="2400" dirty="0" smtClean="0"/>
              <a:t>al </a:t>
            </a:r>
            <a:r>
              <a:rPr lang="es-CR" sz="2400" dirty="0"/>
              <a:t>encuestado </a:t>
            </a:r>
            <a:r>
              <a:rPr lang="es-CR" sz="2400" dirty="0" smtClean="0"/>
              <a:t>sobre una </a:t>
            </a:r>
            <a:r>
              <a:rPr lang="es-CR" sz="2400" dirty="0"/>
              <a:t>escala el grado en que los percibe similares. Dos objetos que, </a:t>
            </a:r>
            <a:r>
              <a:rPr lang="es-CR" sz="2400" dirty="0" smtClean="0"/>
              <a:t>en promedio</a:t>
            </a:r>
            <a:r>
              <a:rPr lang="es-CR" sz="2400" dirty="0"/>
              <a:t>, tienen un coeficiente de similitud elevado, se situarán </a:t>
            </a:r>
            <a:r>
              <a:rPr lang="es-CR" sz="2400" dirty="0" smtClean="0"/>
              <a:t>próximos en </a:t>
            </a:r>
            <a:r>
              <a:rPr lang="es-CR" sz="2400" dirty="0"/>
              <a:t>el mapa. </a:t>
            </a:r>
            <a:r>
              <a:rPr lang="es-CR" sz="2400" dirty="0" err="1"/>
              <a:t>Schiffman</a:t>
            </a:r>
            <a:r>
              <a:rPr lang="es-CR" sz="2400" dirty="0"/>
              <a:t>, Reynolds y Young (1981) utilizan tres tipos </a:t>
            </a:r>
            <a:r>
              <a:rPr lang="es-CR" sz="2400" dirty="0" smtClean="0"/>
              <a:t>de escalas </a:t>
            </a:r>
            <a:r>
              <a:rPr lang="es-CR" sz="2400" dirty="0"/>
              <a:t>bipolares dependiendo de los estímulos a comparar</a:t>
            </a:r>
            <a:r>
              <a:rPr lang="es-CR" sz="2400" dirty="0" smtClean="0"/>
              <a:t>. Un ejemplo podría ser: </a:t>
            </a:r>
          </a:p>
          <a:p>
            <a:pPr algn="just"/>
            <a:endParaRPr lang="es-CR" sz="2400" dirty="0"/>
          </a:p>
          <a:p>
            <a:pPr algn="just"/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659" y="4155616"/>
            <a:ext cx="8990409" cy="246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056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9183" y="1388896"/>
                <a:ext cx="11772331" cy="5469104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s-CR" sz="2400" dirty="0"/>
                  <a:t>A veces la medición de distancias no es tan directa. Tal es el caso </a:t>
                </a:r>
                <a:r>
                  <a:rPr lang="es-CR" sz="2400" dirty="0" smtClean="0"/>
                  <a:t>de comparaciones </a:t>
                </a:r>
                <a:r>
                  <a:rPr lang="es-CR" sz="2400" dirty="0"/>
                  <a:t>pareadas en las que no se juzga la similitud percibida </a:t>
                </a:r>
                <a:r>
                  <a:rPr lang="es-CR" sz="2400" dirty="0" smtClean="0"/>
                  <a:t>entre dos </a:t>
                </a:r>
                <a:r>
                  <a:rPr lang="es-CR" sz="2400" dirty="0"/>
                  <a:t>objetos, si no la preferencia de un objeto sobre </a:t>
                </a:r>
                <a:r>
                  <a:rPr lang="es-CR" sz="2400" dirty="0" smtClean="0"/>
                  <a:t>otro. </a:t>
                </a:r>
                <a:r>
                  <a:rPr lang="es-ES" sz="2400" dirty="0" smtClean="0"/>
                  <a:t>Así </a:t>
                </a:r>
                <a:r>
                  <a:rPr lang="es-ES" sz="2400" dirty="0"/>
                  <a:t>pues, </a:t>
                </a:r>
                <a:r>
                  <a:rPr lang="es-ES" sz="2400" dirty="0" smtClean="0"/>
                  <a:t>para </a:t>
                </a:r>
                <a:r>
                  <a:rPr lang="es-CR" sz="2400" dirty="0" smtClean="0"/>
                  <a:t>cada </a:t>
                </a:r>
                <a:r>
                  <a:rPr lang="es-CR" sz="2400" dirty="0"/>
                  <a:t>sujeto se obtiene una matriz cuadrada cuyas </a:t>
                </a:r>
                <a:r>
                  <a:rPr lang="es-CR" sz="2400" dirty="0" smtClean="0"/>
                  <a:t>celdas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sz="2400" dirty="0" smtClean="0"/>
                  <a:t> </a:t>
                </a:r>
                <a:r>
                  <a:rPr lang="es-ES" sz="2400" dirty="0"/>
                  <a:t>indican </a:t>
                </a:r>
                <a:r>
                  <a:rPr lang="es-ES" sz="2400" dirty="0" smtClean="0"/>
                  <a:t>la preferencia </a:t>
                </a:r>
                <a:r>
                  <a:rPr lang="es-ES" sz="2400" dirty="0"/>
                  <a:t>de i sobre j, o a la inversa</a:t>
                </a:r>
                <a:r>
                  <a:rPr lang="es-ES" sz="2400" dirty="0" smtClean="0"/>
                  <a:t>.</a:t>
                </a:r>
              </a:p>
              <a:p>
                <a:endParaRPr lang="es-CR" sz="2400" dirty="0"/>
              </a:p>
              <a:p>
                <a:pPr algn="just"/>
                <a:r>
                  <a:rPr lang="es-CR" sz="2400" dirty="0"/>
                  <a:t>Aunque existe una extendida </a:t>
                </a:r>
                <a:r>
                  <a:rPr lang="es-CR" sz="2400" dirty="0" smtClean="0"/>
                  <a:t>creencia de </a:t>
                </a:r>
                <a:r>
                  <a:rPr lang="es-CR" sz="2400" dirty="0"/>
                  <a:t>marketing que asume que productos similarmente percibidos </a:t>
                </a:r>
                <a:r>
                  <a:rPr lang="es-CR" sz="2400" dirty="0" smtClean="0"/>
                  <a:t>serán similarmente </a:t>
                </a:r>
                <a:r>
                  <a:rPr lang="es-CR" sz="2400" dirty="0"/>
                  <a:t>preferidos por el consumidor, tendencias más </a:t>
                </a:r>
                <a:r>
                  <a:rPr lang="es-CR" sz="2400" dirty="0" smtClean="0"/>
                  <a:t>recientes constatan </a:t>
                </a:r>
                <a:r>
                  <a:rPr lang="es-CR" sz="2400" dirty="0"/>
                  <a:t>lo contrario. Es decir, lo que es importante cuando los </a:t>
                </a:r>
                <a:r>
                  <a:rPr lang="es-CR" sz="2400" dirty="0" smtClean="0"/>
                  <a:t>consumidores juzgan </a:t>
                </a:r>
                <a:r>
                  <a:rPr lang="es-CR" sz="2400" dirty="0"/>
                  <a:t>la similitud entre productos no se ajusta necesariamente a </a:t>
                </a:r>
                <a:r>
                  <a:rPr lang="es-CR" sz="2400" dirty="0" smtClean="0"/>
                  <a:t>lo que </a:t>
                </a:r>
                <a:r>
                  <a:rPr lang="es-CR" sz="2400" dirty="0"/>
                  <a:t>es importante para ellos cuando los evalúan para la </a:t>
                </a:r>
                <a:r>
                  <a:rPr lang="es-CR" sz="2400" dirty="0" smtClean="0"/>
                  <a:t>compra.</a:t>
                </a:r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/>
                  <a:t>No en vano, los juicios directos de similitud </a:t>
                </a:r>
                <a:r>
                  <a:rPr lang="es-CR" sz="2400" dirty="0" smtClean="0"/>
                  <a:t>entre </a:t>
                </a:r>
                <a:r>
                  <a:rPr lang="es-ES" sz="2400" dirty="0" smtClean="0"/>
                  <a:t>pares </a:t>
                </a:r>
                <a:r>
                  <a:rPr lang="es-ES" sz="2400" dirty="0"/>
                  <a:t>de objetos descansan mayormente sobre atributos físicos o </a:t>
                </a:r>
                <a:r>
                  <a:rPr lang="es-ES" sz="2400" dirty="0" smtClean="0"/>
                  <a:t>características </a:t>
                </a:r>
                <a:r>
                  <a:rPr lang="es-CR" sz="2400" dirty="0" smtClean="0"/>
                  <a:t>del </a:t>
                </a:r>
                <a:r>
                  <a:rPr lang="es-CR" sz="2400" dirty="0"/>
                  <a:t>producto (cilindradas, velocidad, nº de caballos etc.) y </a:t>
                </a:r>
                <a:r>
                  <a:rPr lang="es-CR" sz="2400" dirty="0" smtClean="0"/>
                  <a:t>los juicios </a:t>
                </a:r>
                <a:r>
                  <a:rPr lang="es-CR" sz="2400" dirty="0"/>
                  <a:t>de preferencias lo hacen mayormente sobre atributos subjetivos </a:t>
                </a:r>
                <a:r>
                  <a:rPr lang="es-CR" sz="2400" dirty="0" smtClean="0"/>
                  <a:t>o beneficios </a:t>
                </a:r>
                <a:r>
                  <a:rPr lang="es-CR" sz="2400" dirty="0"/>
                  <a:t>del producto (prestigio, status, seguridad etc</a:t>
                </a:r>
                <a:r>
                  <a:rPr lang="es-CR" sz="2400" dirty="0" smtClean="0"/>
                  <a:t>.).</a:t>
                </a:r>
                <a:endParaRPr lang="es-ES" sz="2400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183" y="1388896"/>
                <a:ext cx="11772331" cy="5469104"/>
              </a:xfrm>
              <a:blipFill rotWithShape="0">
                <a:blip r:embed="rId2"/>
                <a:stretch>
                  <a:fillRect l="-725" t="-2118" r="-77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8388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4993" y="1279714"/>
            <a:ext cx="11772331" cy="54759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D) Ordenamiento condicionado:</a:t>
            </a:r>
          </a:p>
          <a:p>
            <a:pPr marL="0" indent="0">
              <a:buNone/>
            </a:pPr>
            <a:endParaRPr lang="es-CR" sz="2400" dirty="0"/>
          </a:p>
          <a:p>
            <a:r>
              <a:rPr lang="es-CR" sz="2400" dirty="0" smtClean="0"/>
              <a:t>Los </a:t>
            </a:r>
            <a:r>
              <a:rPr lang="es-CR" sz="2400" dirty="0"/>
              <a:t>coeficientes de similitud entre pares de </a:t>
            </a:r>
            <a:r>
              <a:rPr lang="es-CR" sz="2400" dirty="0" smtClean="0"/>
              <a:t>marcas utilizando </a:t>
            </a:r>
            <a:r>
              <a:rPr lang="es-CR" sz="2400" dirty="0"/>
              <a:t>un ordenamiento condicional simplificado. Con tal </a:t>
            </a:r>
            <a:r>
              <a:rPr lang="es-CR" sz="2400" dirty="0" smtClean="0"/>
              <a:t>propósito, por </a:t>
            </a:r>
            <a:r>
              <a:rPr lang="es-CR" sz="2400" dirty="0"/>
              <a:t>fases, cada marca se utiliza como clave o modelo , y el resto de </a:t>
            </a:r>
            <a:r>
              <a:rPr lang="es-CR" sz="2400" dirty="0" smtClean="0"/>
              <a:t>marcas se </a:t>
            </a:r>
            <a:r>
              <a:rPr lang="es-CR" sz="2400" dirty="0"/>
              <a:t>ordenan en relación a la marca standard de más a menos parecido</a:t>
            </a:r>
            <a:r>
              <a:rPr lang="es-CR" sz="2400" dirty="0" smtClean="0"/>
              <a:t>.</a:t>
            </a:r>
          </a:p>
          <a:p>
            <a:endParaRPr lang="es-CR" sz="2400" dirty="0"/>
          </a:p>
          <a:p>
            <a:r>
              <a:rPr lang="es-CR" sz="2400" dirty="0"/>
              <a:t>Existen dos tipos de ordenamientos: el ordenamiento condicional </a:t>
            </a:r>
            <a:r>
              <a:rPr lang="es-CR" sz="2400" dirty="0" smtClean="0"/>
              <a:t>completo y </a:t>
            </a:r>
            <a:r>
              <a:rPr lang="es-CR" sz="2400" dirty="0"/>
              <a:t>el simplificado. La diferencia radica en que el ordenamiento </a:t>
            </a:r>
            <a:r>
              <a:rPr lang="es-CR" sz="2400" dirty="0" smtClean="0"/>
              <a:t>simplificado solo </a:t>
            </a:r>
            <a:r>
              <a:rPr lang="es-CR" sz="2400" dirty="0"/>
              <a:t>considera aquellos objetos más parecidos y menos parecidos </a:t>
            </a:r>
            <a:r>
              <a:rPr lang="es-CR" sz="2400" dirty="0" smtClean="0"/>
              <a:t>al standard</a:t>
            </a:r>
            <a:r>
              <a:rPr lang="es-CR" sz="2400" dirty="0"/>
              <a:t>, dejando sin ordenar objetos intermedios</a:t>
            </a:r>
            <a:endParaRPr lang="es-CR" sz="2400" dirty="0" smtClean="0"/>
          </a:p>
          <a:p>
            <a:endParaRPr lang="es-CR" sz="2400" dirty="0" smtClean="0"/>
          </a:p>
          <a:p>
            <a:r>
              <a:rPr lang="es-CR" sz="2400" dirty="0"/>
              <a:t>Este método también puede utilizar como pivote de comparación </a:t>
            </a:r>
            <a:r>
              <a:rPr lang="es-CR" sz="2400" dirty="0" smtClean="0"/>
              <a:t>una pareja </a:t>
            </a:r>
            <a:r>
              <a:rPr lang="es-CR" sz="2400" dirty="0"/>
              <a:t>de objetos. En este caso, las restantes parejas se ordenan respecto </a:t>
            </a:r>
            <a:r>
              <a:rPr lang="es-CR" sz="2400" dirty="0" smtClean="0"/>
              <a:t>al par </a:t>
            </a:r>
            <a:r>
              <a:rPr lang="es-CR" sz="2400" dirty="0"/>
              <a:t>elegido como standard en cada ocasión.</a:t>
            </a:r>
          </a:p>
          <a:p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72018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5937" y="1293362"/>
            <a:ext cx="11308307" cy="5339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/>
              <a:t>E</a:t>
            </a:r>
            <a:r>
              <a:rPr lang="es-CR" sz="2400" dirty="0" smtClean="0"/>
              <a:t>) </a:t>
            </a:r>
            <a:r>
              <a:rPr lang="es-ES" sz="2400" b="1" dirty="0"/>
              <a:t>Probabilidades </a:t>
            </a:r>
            <a:r>
              <a:rPr lang="es-ES" sz="2400" b="1" dirty="0" smtClean="0"/>
              <a:t>condicionadas</a:t>
            </a:r>
          </a:p>
          <a:p>
            <a:pPr marL="0" indent="0">
              <a:buNone/>
            </a:pPr>
            <a:endParaRPr lang="es-CR" sz="2400" b="1" dirty="0"/>
          </a:p>
          <a:p>
            <a:pPr algn="just"/>
            <a:r>
              <a:rPr lang="es-CR" sz="2400" dirty="0"/>
              <a:t>Con este método, cada coeficiente </a:t>
            </a:r>
            <a:r>
              <a:rPr lang="es-CR" sz="2400" dirty="0" err="1"/>
              <a:t>dij</a:t>
            </a:r>
            <a:r>
              <a:rPr lang="es-CR" sz="2400" dirty="0"/>
              <a:t> de similitud de la matriz de </a:t>
            </a:r>
            <a:r>
              <a:rPr lang="es-CR" sz="2400" dirty="0" smtClean="0"/>
              <a:t>proximidades recoge </a:t>
            </a:r>
            <a:r>
              <a:rPr lang="es-CR" sz="2400" dirty="0"/>
              <a:t>la probabilidad de que presentado el objeto i, se </a:t>
            </a:r>
            <a:r>
              <a:rPr lang="es-CR" sz="2400" dirty="0" smtClean="0"/>
              <a:t>responda con </a:t>
            </a:r>
            <a:r>
              <a:rPr lang="es-CR" sz="2400" dirty="0"/>
              <a:t>el objeto j. Este método se utiliza, básicamente, para derivar </a:t>
            </a:r>
            <a:r>
              <a:rPr lang="es-CR" sz="2400" dirty="0" smtClean="0"/>
              <a:t>matrices de </a:t>
            </a:r>
            <a:r>
              <a:rPr lang="es-CR" sz="2400" dirty="0"/>
              <a:t>reconocimiento, que miden la probabilidad de que un objeto sea </a:t>
            </a:r>
            <a:r>
              <a:rPr lang="es-CR" sz="2400" dirty="0" smtClean="0"/>
              <a:t>reconocido. Los </a:t>
            </a:r>
            <a:r>
              <a:rPr lang="es-CR" sz="2400" dirty="0"/>
              <a:t>elementos de la diagonal principal indican la probabilidad de </a:t>
            </a:r>
            <a:r>
              <a:rPr lang="es-CR" sz="2400" dirty="0" smtClean="0"/>
              <a:t>que mostrado </a:t>
            </a:r>
            <a:r>
              <a:rPr lang="es-CR" sz="2400" dirty="0"/>
              <a:t>un objeto el encuestado lo reconozca y responda </a:t>
            </a:r>
            <a:r>
              <a:rPr lang="es-CR" sz="2400" dirty="0" smtClean="0"/>
              <a:t>correctamente </a:t>
            </a:r>
            <a:r>
              <a:rPr lang="es-ES" sz="2400" dirty="0" smtClean="0"/>
              <a:t>su </a:t>
            </a:r>
            <a:r>
              <a:rPr lang="es-ES" sz="2400" dirty="0"/>
              <a:t>nombre</a:t>
            </a:r>
            <a:r>
              <a:rPr lang="es-ES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También permite generar matrices de transición, referidas a dos </a:t>
            </a:r>
            <a:r>
              <a:rPr lang="es-CR" sz="2400" dirty="0" smtClean="0"/>
              <a:t>momentos de </a:t>
            </a:r>
            <a:r>
              <a:rPr lang="es-CR" sz="2400" dirty="0"/>
              <a:t>tiempo, que recogen la probabilidad de que un estado inicial </a:t>
            </a:r>
            <a:r>
              <a:rPr lang="es-CR" sz="2400" dirty="0" smtClean="0"/>
              <a:t>se mantenga </a:t>
            </a:r>
            <a:r>
              <a:rPr lang="es-CR" sz="2400" dirty="0"/>
              <a:t>transcurrido un cierto plazo. Los elementos de la </a:t>
            </a:r>
            <a:r>
              <a:rPr lang="es-CR" sz="2400" dirty="0" smtClean="0"/>
              <a:t>diagonal principal </a:t>
            </a:r>
            <a:r>
              <a:rPr lang="es-CR" sz="2400" dirty="0"/>
              <a:t>indican la probabilidad de un estado inicial se repita al final.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5026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1472" y="1307010"/>
            <a:ext cx="113765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400" dirty="0" smtClean="0"/>
              <a:t>F) </a:t>
            </a:r>
            <a:r>
              <a:rPr lang="es-ES" sz="2400" b="1" dirty="0"/>
              <a:t>Probabilidades </a:t>
            </a:r>
            <a:r>
              <a:rPr lang="es-ES" sz="2400" b="1" dirty="0" smtClean="0"/>
              <a:t>conjuntas</a:t>
            </a:r>
          </a:p>
          <a:p>
            <a:pPr marL="0" indent="0">
              <a:buNone/>
            </a:pPr>
            <a:endParaRPr lang="es-CR" sz="2400" b="1" dirty="0" smtClean="0"/>
          </a:p>
          <a:p>
            <a:pPr algn="just"/>
            <a:r>
              <a:rPr lang="es-CR" sz="2400" dirty="0"/>
              <a:t>Con este método cada coeficiente </a:t>
            </a:r>
            <a:r>
              <a:rPr lang="es-CR" sz="2400" dirty="0" err="1"/>
              <a:t>dij</a:t>
            </a:r>
            <a:r>
              <a:rPr lang="es-CR" sz="2400" dirty="0"/>
              <a:t> de la matriz de proximidades </a:t>
            </a:r>
            <a:r>
              <a:rPr lang="es-CR" sz="2400" dirty="0" smtClean="0"/>
              <a:t>recoge </a:t>
            </a:r>
            <a:r>
              <a:rPr lang="es-ES" sz="2400" dirty="0" smtClean="0"/>
              <a:t>la </a:t>
            </a:r>
            <a:r>
              <a:rPr lang="es-ES" sz="2400" dirty="0"/>
              <a:t>probabilidad conjunta de que dos objetos se presenten </a:t>
            </a:r>
            <a:r>
              <a:rPr lang="es-ES" sz="2400" dirty="0" smtClean="0"/>
              <a:t>simultáneamente. </a:t>
            </a:r>
            <a:r>
              <a:rPr lang="es-CR" sz="2400" dirty="0" smtClean="0"/>
              <a:t>Se </a:t>
            </a:r>
            <a:r>
              <a:rPr lang="es-CR" sz="2400" dirty="0"/>
              <a:t>utiliza para derivar matrices de interacción y de </a:t>
            </a:r>
            <a:r>
              <a:rPr lang="es-CR" sz="2400" dirty="0" err="1"/>
              <a:t>co</a:t>
            </a:r>
            <a:r>
              <a:rPr lang="es-CR" sz="2400" dirty="0"/>
              <a:t>-ocurrencia. </a:t>
            </a:r>
            <a:r>
              <a:rPr lang="es-CR" sz="2400" dirty="0" smtClean="0"/>
              <a:t>Esta matriz </a:t>
            </a:r>
            <a:r>
              <a:rPr lang="es-CR" sz="2400" dirty="0"/>
              <a:t>puede obtenerse, por ejemplo, clasificando los objetos en </a:t>
            </a:r>
            <a:r>
              <a:rPr lang="es-CR" sz="2400" dirty="0" smtClean="0"/>
              <a:t>distintas categorías</a:t>
            </a:r>
            <a:r>
              <a:rPr lang="es-CR" sz="2400" dirty="0"/>
              <a:t>. Si un par de objetos es percibido similar, ambos formarán </a:t>
            </a:r>
            <a:r>
              <a:rPr lang="es-CR" sz="2400" dirty="0" smtClean="0"/>
              <a:t>parte del </a:t>
            </a:r>
            <a:r>
              <a:rPr lang="es-CR" sz="2400" dirty="0"/>
              <a:t>mismo grupo y en la matriz de proximidades aparecerá un 1, si </a:t>
            </a:r>
            <a:r>
              <a:rPr lang="es-CR" sz="2400" dirty="0" smtClean="0"/>
              <a:t>dos objetos </a:t>
            </a:r>
            <a:r>
              <a:rPr lang="es-CR" sz="2400" dirty="0"/>
              <a:t>se perciben diferentes formarán parte de clases distintas y en </a:t>
            </a:r>
            <a:r>
              <a:rPr lang="es-CR" sz="2400" dirty="0" smtClean="0"/>
              <a:t>la </a:t>
            </a:r>
            <a:r>
              <a:rPr lang="es-ES" sz="2400" dirty="0" smtClean="0"/>
              <a:t>matriz </a:t>
            </a:r>
            <a:r>
              <a:rPr lang="es-ES" sz="2400" dirty="0"/>
              <a:t>aparecerá un 0</a:t>
            </a:r>
            <a:endParaRPr lang="es-CR" sz="2400" dirty="0"/>
          </a:p>
          <a:p>
            <a:pPr marL="0" indent="0">
              <a:buNone/>
            </a:pP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58054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239" y="2254887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Condición de aplicabilidad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408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7088" y="1197827"/>
            <a:ext cx="11772331" cy="5516871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Luego de los métodos de categorización, se deben establecer las condiciones de aplicabilidad. </a:t>
            </a:r>
            <a:r>
              <a:rPr lang="es-CR" sz="2400" dirty="0"/>
              <a:t>El análisis de escalas multidimensionales no tiene restricciones ni del tipo input, </a:t>
            </a:r>
            <a:r>
              <a:rPr lang="es-CR" sz="2400" dirty="0" smtClean="0"/>
              <a:t>ni del </a:t>
            </a:r>
            <a:r>
              <a:rPr lang="es-CR" sz="2400" dirty="0"/>
              <a:t>tipo de relaciones entre las variables, pero requiere no descuidar </a:t>
            </a:r>
            <a:r>
              <a:rPr lang="es-CR" sz="2400" dirty="0" smtClean="0"/>
              <a:t>algunos </a:t>
            </a:r>
            <a:r>
              <a:rPr lang="es-ES" sz="2400" dirty="0" smtClean="0"/>
              <a:t>aspectos</a:t>
            </a:r>
            <a:r>
              <a:rPr lang="es-ES" sz="2400" dirty="0"/>
              <a:t>:</a:t>
            </a:r>
            <a:endParaRPr lang="es-CR" sz="2400" dirty="0" smtClean="0"/>
          </a:p>
          <a:p>
            <a:pPr marL="0" indent="0">
              <a:buNone/>
            </a:pPr>
            <a:endParaRPr lang="es-CR" sz="2400" dirty="0"/>
          </a:p>
          <a:p>
            <a:pPr marL="0" indent="0" algn="just">
              <a:buNone/>
            </a:pPr>
            <a:r>
              <a:rPr lang="es-CR" sz="2400" b="1" dirty="0" smtClean="0"/>
              <a:t>1. </a:t>
            </a:r>
            <a:r>
              <a:rPr lang="es-CR" sz="2400" dirty="0"/>
              <a:t>No todos los individuos estructuran mentalmente los objetos </a:t>
            </a:r>
            <a:r>
              <a:rPr lang="es-CR" sz="2400" dirty="0" smtClean="0"/>
              <a:t>empleando el </a:t>
            </a:r>
            <a:r>
              <a:rPr lang="es-CR" sz="2400" dirty="0"/>
              <a:t>mismo número de dimensiones. Existen sujetos que desarrollan </a:t>
            </a:r>
            <a:r>
              <a:rPr lang="es-CR" sz="2400" dirty="0" smtClean="0"/>
              <a:t>esquemas mentales </a:t>
            </a:r>
            <a:r>
              <a:rPr lang="es-CR" sz="2400" dirty="0"/>
              <a:t>complejos, con gran cantidad y variedad y de </a:t>
            </a:r>
            <a:r>
              <a:rPr lang="es-CR" sz="2400" dirty="0" smtClean="0"/>
              <a:t>variables evaluativas</a:t>
            </a:r>
            <a:r>
              <a:rPr lang="es-CR" sz="2400" dirty="0"/>
              <a:t>, mientras que otros simplifican su entendimiento del </a:t>
            </a:r>
            <a:r>
              <a:rPr lang="es-CR" sz="2400" dirty="0" smtClean="0"/>
              <a:t>entorno con </a:t>
            </a:r>
            <a:r>
              <a:rPr lang="es-CR" sz="2400" dirty="0"/>
              <a:t>un número más reducido</a:t>
            </a:r>
            <a:r>
              <a:rPr lang="es-CR" sz="2400" dirty="0" smtClean="0"/>
              <a:t>.</a:t>
            </a:r>
            <a:endParaRPr lang="es-ES" sz="2400" dirty="0"/>
          </a:p>
          <a:p>
            <a:pPr marL="0" indent="0" algn="just">
              <a:buNone/>
            </a:pPr>
            <a:r>
              <a:rPr lang="es-CR" sz="2400" b="1" dirty="0" smtClean="0"/>
              <a:t>2. </a:t>
            </a:r>
            <a:r>
              <a:rPr lang="es-CR" sz="2400" dirty="0"/>
              <a:t>No todos los individuos asignan la misma importancia a todas </a:t>
            </a:r>
            <a:r>
              <a:rPr lang="es-CR" sz="2400" dirty="0" smtClean="0"/>
              <a:t>las variables </a:t>
            </a:r>
            <a:r>
              <a:rPr lang="es-CR" sz="2400" dirty="0"/>
              <a:t>que consideran mentalmente cuando comparan los </a:t>
            </a:r>
            <a:r>
              <a:rPr lang="es-CR" sz="2400" dirty="0" smtClean="0"/>
              <a:t>objetos. Algunos </a:t>
            </a:r>
            <a:r>
              <a:rPr lang="es-CR" sz="2400" dirty="0"/>
              <a:t>pueden asignar más peso, por ejemplo, al factor coste, </a:t>
            </a:r>
            <a:r>
              <a:rPr lang="es-CR" sz="2400" dirty="0" smtClean="0"/>
              <a:t>mientras otros </a:t>
            </a:r>
            <a:r>
              <a:rPr lang="es-CR" sz="2400" dirty="0"/>
              <a:t>pueden decantarse hacia aspectos relativos a la calidad</a:t>
            </a:r>
            <a:r>
              <a:rPr lang="es-CR" sz="2400" dirty="0" smtClean="0"/>
              <a:t>.</a:t>
            </a:r>
          </a:p>
          <a:p>
            <a:pPr marL="0" indent="0" algn="just">
              <a:buNone/>
            </a:pPr>
            <a:r>
              <a:rPr lang="es-CR" sz="2400" b="1" dirty="0" smtClean="0"/>
              <a:t>3.</a:t>
            </a:r>
            <a:r>
              <a:rPr lang="es-CR" sz="2400" b="1" dirty="0"/>
              <a:t> </a:t>
            </a:r>
            <a:r>
              <a:rPr lang="es-CR" sz="2400" dirty="0"/>
              <a:t>Los juicios de similitud o de preferencia, tanto en términos de </a:t>
            </a:r>
            <a:r>
              <a:rPr lang="es-CR" sz="2400" dirty="0" smtClean="0"/>
              <a:t>variables utilizadas </a:t>
            </a:r>
            <a:r>
              <a:rPr lang="es-CR" sz="2400" dirty="0"/>
              <a:t>como de importancia asignada a las mismas, no tienen </a:t>
            </a:r>
            <a:r>
              <a:rPr lang="es-CR" sz="2400" dirty="0" smtClean="0"/>
              <a:t>porque permanecer </a:t>
            </a:r>
            <a:r>
              <a:rPr lang="es-CR" sz="2400" dirty="0"/>
              <a:t>estables a lo largo del tiempo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92168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5503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0527" y="1579965"/>
            <a:ext cx="11444785" cy="4351338"/>
          </a:xfrm>
        </p:spPr>
        <p:txBody>
          <a:bodyPr>
            <a:normAutofit/>
          </a:bodyPr>
          <a:lstStyle/>
          <a:p>
            <a:pPr algn="just"/>
            <a:r>
              <a:rPr lang="es-CR" dirty="0"/>
              <a:t>Todas estas consideraciones apuntan hacia la identificación de </a:t>
            </a:r>
            <a:r>
              <a:rPr lang="es-CR" dirty="0" smtClean="0"/>
              <a:t>segmentos homogéneos </a:t>
            </a:r>
            <a:r>
              <a:rPr lang="es-CR" dirty="0"/>
              <a:t>en términos de variables consideradas e importancia otorgada a </a:t>
            </a:r>
            <a:r>
              <a:rPr lang="es-CR" dirty="0" smtClean="0"/>
              <a:t>las mismas </a:t>
            </a:r>
            <a:r>
              <a:rPr lang="es-CR" dirty="0"/>
              <a:t>a fin de conseguir que los mapas estimados representen, con el </a:t>
            </a:r>
            <a:r>
              <a:rPr lang="es-CR" dirty="0" smtClean="0"/>
              <a:t>mayor ajuste </a:t>
            </a:r>
            <a:r>
              <a:rPr lang="es-CR" dirty="0"/>
              <a:t>posible, las percepciones de los individuos analizados</a:t>
            </a:r>
            <a:r>
              <a:rPr lang="es-CR" dirty="0" smtClean="0"/>
              <a:t>.</a:t>
            </a:r>
          </a:p>
          <a:p>
            <a:endParaRPr lang="es-CR" dirty="0"/>
          </a:p>
          <a:p>
            <a:pPr algn="just"/>
            <a:r>
              <a:rPr lang="es-ES" dirty="0"/>
              <a:t>La razón estriba </a:t>
            </a:r>
            <a:r>
              <a:rPr lang="es-ES" dirty="0" smtClean="0"/>
              <a:t>en </a:t>
            </a:r>
            <a:r>
              <a:rPr lang="es-CR" dirty="0" smtClean="0"/>
              <a:t>que </a:t>
            </a:r>
            <a:r>
              <a:rPr lang="es-CR" dirty="0"/>
              <a:t>a medida que las opiniones/preferencias diverjan, su representación a </a:t>
            </a:r>
            <a:r>
              <a:rPr lang="es-CR" dirty="0" smtClean="0"/>
              <a:t>través de </a:t>
            </a:r>
            <a:r>
              <a:rPr lang="es-CR" dirty="0"/>
              <a:t>mapas perceptuales será poco representativa de lo que realmente ocurre en </a:t>
            </a:r>
            <a:r>
              <a:rPr lang="es-CR" dirty="0" smtClean="0"/>
              <a:t>sus </a:t>
            </a:r>
            <a:r>
              <a:rPr lang="es-ES" dirty="0" smtClean="0"/>
              <a:t>mentes</a:t>
            </a:r>
            <a:r>
              <a:rPr lang="es-ES" dirty="0"/>
              <a:t>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4168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7714" y="2211342"/>
            <a:ext cx="11538857" cy="1325563"/>
          </a:xfrm>
        </p:spPr>
        <p:txBody>
          <a:bodyPr/>
          <a:lstStyle/>
          <a:p>
            <a:pPr algn="ctr"/>
            <a:r>
              <a:rPr lang="es-CR" dirty="0" smtClean="0"/>
              <a:t>Estimación del modelo y medida de ajuste global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84771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9183" y="1064525"/>
                <a:ext cx="11928142" cy="56501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R" sz="2400" dirty="0" smtClean="0"/>
                  <a:t>Seguidamente, importa tanto la estimación del modelo como la medida de ajuste global.</a:t>
                </a:r>
              </a:p>
              <a:p>
                <a:pPr marL="0" indent="0">
                  <a:buNone/>
                </a:pPr>
                <a:endParaRPr lang="es-CR" sz="2400" dirty="0"/>
              </a:p>
              <a:p>
                <a:pPr algn="just"/>
                <a:r>
                  <a:rPr lang="es-CR" sz="2400" dirty="0"/>
                  <a:t>En primer lugar, se debe seleccionar el número de dimensiones que, en </a:t>
                </a:r>
                <a:r>
                  <a:rPr lang="es-CR" sz="2400" dirty="0" smtClean="0"/>
                  <a:t>principio, se </a:t>
                </a:r>
                <a:r>
                  <a:rPr lang="es-CR" sz="2400" dirty="0"/>
                  <a:t>considera adecuado en función del número de objetos comparados. </a:t>
                </a:r>
                <a:r>
                  <a:rPr lang="es-CR" sz="2400" dirty="0" smtClean="0"/>
                  <a:t>Generalmente se </a:t>
                </a:r>
                <a:r>
                  <a:rPr lang="es-CR" sz="2400" dirty="0"/>
                  <a:t>suelen retener dos dimensiones, ya que ello permite obtener </a:t>
                </a:r>
                <a:r>
                  <a:rPr lang="es-CR" sz="2400" dirty="0" smtClean="0"/>
                  <a:t>mapas </a:t>
                </a:r>
                <a:r>
                  <a:rPr lang="es-ES" sz="2400" dirty="0" smtClean="0"/>
                  <a:t>bidimensionales </a:t>
                </a:r>
                <a:r>
                  <a:rPr lang="es-ES" sz="2400" dirty="0"/>
                  <a:t>fácilmente </a:t>
                </a:r>
                <a:r>
                  <a:rPr lang="es-ES" sz="2400" dirty="0" smtClean="0"/>
                  <a:t>interpretables. </a:t>
                </a:r>
                <a:r>
                  <a:rPr lang="es-CR" sz="2400" dirty="0" smtClean="0"/>
                  <a:t>Cuando </a:t>
                </a:r>
                <a:r>
                  <a:rPr lang="es-CR" sz="2400" dirty="0"/>
                  <a:t>se retienen más de tres </a:t>
                </a:r>
                <a:r>
                  <a:rPr lang="es-CR" sz="2400" dirty="0" smtClean="0"/>
                  <a:t>dimensiones, resulta </a:t>
                </a:r>
                <a:r>
                  <a:rPr lang="es-CR" sz="2400" dirty="0"/>
                  <a:t>complejo representar en el espacio </a:t>
                </a:r>
                <a:r>
                  <a:rPr lang="es-CR" sz="2400" dirty="0" err="1"/>
                  <a:t>Euclídeo</a:t>
                </a:r>
                <a:r>
                  <a:rPr lang="es-CR" sz="2400" dirty="0"/>
                  <a:t> la posición de </a:t>
                </a:r>
                <a:r>
                  <a:rPr lang="es-CR" sz="2400" dirty="0" smtClean="0"/>
                  <a:t>los </a:t>
                </a:r>
                <a:r>
                  <a:rPr lang="es-ES" sz="2400" dirty="0" smtClean="0"/>
                  <a:t>objetos </a:t>
                </a:r>
                <a:r>
                  <a:rPr lang="es-ES" sz="2400" dirty="0"/>
                  <a:t>comparados, salvo que se vayan tomando, dos a dos, las coordenadas </a:t>
                </a:r>
                <a:r>
                  <a:rPr lang="es-ES" sz="2400" dirty="0" smtClean="0"/>
                  <a:t>de </a:t>
                </a:r>
                <a:r>
                  <a:rPr lang="es-CR" sz="2400" dirty="0" smtClean="0"/>
                  <a:t>cada </a:t>
                </a:r>
                <a:r>
                  <a:rPr lang="es-CR" sz="2400" dirty="0"/>
                  <a:t>objeto. Es decir, salvo que se dibujen distintos mapas bidimensionales </a:t>
                </a:r>
                <a:r>
                  <a:rPr lang="es-CR" sz="2400" dirty="0" smtClean="0"/>
                  <a:t>para </a:t>
                </a:r>
                <a:r>
                  <a:rPr lang="es-ES" sz="2400" dirty="0" smtClean="0"/>
                  <a:t>cada </a:t>
                </a:r>
                <a:r>
                  <a:rPr lang="es-ES" sz="2400" dirty="0"/>
                  <a:t>posible par de factores identificados</a:t>
                </a:r>
                <a:r>
                  <a:rPr lang="es-ES" sz="2400" dirty="0" smtClean="0"/>
                  <a:t>.</a:t>
                </a:r>
              </a:p>
              <a:p>
                <a:pPr algn="just"/>
                <a:endParaRPr lang="es-CR" sz="2400" dirty="0"/>
              </a:p>
              <a:p>
                <a:pPr algn="just"/>
                <a:r>
                  <a:rPr lang="es-CR" sz="2400" dirty="0"/>
                  <a:t>En segundo lugar, una vez decidido el número de dimensiones, se representan </a:t>
                </a:r>
                <a:r>
                  <a:rPr lang="es-CR" sz="2400" dirty="0" smtClean="0"/>
                  <a:t>los objetos </a:t>
                </a:r>
                <a:r>
                  <a:rPr lang="es-CR" sz="2400" dirty="0"/>
                  <a:t>en forma de puntos a fin de analizar las relaciones que guardan entre </a:t>
                </a:r>
                <a:r>
                  <a:rPr lang="es-CR" sz="2400" dirty="0" smtClean="0"/>
                  <a:t>sí. La </a:t>
                </a:r>
                <a:r>
                  <a:rPr lang="es-CR" sz="2400" dirty="0"/>
                  <a:t>idea es comparar las similitudes/disimilitudes entre objetos recogidas en </a:t>
                </a:r>
                <a:r>
                  <a:rPr lang="es-CR" sz="2400" dirty="0" smtClean="0"/>
                  <a:t>la </a:t>
                </a:r>
                <a:r>
                  <a:rPr lang="es-ES" sz="2400" dirty="0"/>
                  <a:t>matriz de </a:t>
                </a:r>
                <a:r>
                  <a:rPr lang="es-ES" sz="2400" dirty="0" smtClean="0"/>
                  <a:t>partida </a:t>
                </a:r>
                <a:r>
                  <a:rPr lang="es-CR" sz="24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sz="2400" dirty="0" smtClean="0"/>
                  <a:t>) </a:t>
                </a:r>
                <a:r>
                  <a:rPr lang="es-CR" sz="2400" dirty="0"/>
                  <a:t>con las distancias que guardan los puntos que los </a:t>
                </a:r>
                <a:r>
                  <a:rPr lang="es-CR" sz="2400" dirty="0" smtClean="0"/>
                  <a:t>representan </a:t>
                </a:r>
                <a:r>
                  <a:rPr lang="es-ES" sz="2400" dirty="0" smtClean="0"/>
                  <a:t>(</a:t>
                </a:r>
                <a:r>
                  <a:rPr lang="es-ES" sz="2400" dirty="0" err="1" smtClean="0"/>
                  <a:t>dij</a:t>
                </a:r>
                <a:r>
                  <a:rPr lang="es-ES" sz="2400" dirty="0" smtClean="0"/>
                  <a:t>). </a:t>
                </a:r>
                <a:r>
                  <a:rPr lang="es-CR" sz="2400" dirty="0"/>
                  <a:t>Para tal fin se emplean tres índices de ajuste: el Stress, el S-Stress </a:t>
                </a:r>
                <a:r>
                  <a:rPr lang="es-CR" sz="2400" dirty="0" smtClean="0"/>
                  <a:t>y </a:t>
                </a:r>
                <a:r>
                  <a:rPr lang="es-ES" sz="2400" dirty="0" smtClean="0"/>
                  <a:t>RSQ</a:t>
                </a:r>
                <a:r>
                  <a:rPr lang="es-ES" sz="2400" dirty="0"/>
                  <a:t>:</a:t>
                </a:r>
                <a:endParaRPr lang="es-ES" sz="2400" dirty="0" smtClean="0"/>
              </a:p>
              <a:p>
                <a:pPr algn="just"/>
                <a:endParaRPr lang="es-CR" sz="2400" dirty="0"/>
              </a:p>
              <a:p>
                <a:pPr algn="just"/>
                <a:endParaRPr lang="es-ES" sz="2400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183" y="1064525"/>
                <a:ext cx="11928142" cy="5650173"/>
              </a:xfrm>
              <a:blipFill rotWithShape="0">
                <a:blip r:embed="rId2"/>
                <a:stretch>
                  <a:fillRect l="-818" t="-1512" r="-766" b="-97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0581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31832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09184" y="1201003"/>
                <a:ext cx="11791664" cy="537721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R" sz="2400" dirty="0" smtClean="0"/>
                  <a:t>El S-Stress indica el ajuste existente entre las distancias </a:t>
                </a:r>
                <a:r>
                  <a:rPr lang="es-CR" sz="2400" dirty="0" err="1"/>
                  <a:t>euclídeas</a:t>
                </a:r>
                <a:r>
                  <a:rPr lang="es-CR" sz="2400" dirty="0"/>
                  <a:t> </a:t>
                </a:r>
                <a:r>
                  <a:rPr lang="es-CR" sz="2400" dirty="0" smtClean="0"/>
                  <a:t>al cuadrado </a:t>
                </a:r>
                <a:r>
                  <a:rPr lang="es-CR" sz="2400" dirty="0"/>
                  <a:t>de los puntos del mapa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CR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R" sz="2400" b="1" dirty="0" smtClean="0"/>
                  <a:t> </a:t>
                </a:r>
                <a:r>
                  <a:rPr lang="es-CR" sz="2400" dirty="0"/>
                  <a:t>y las disimilitudes de la matriz </a:t>
                </a:r>
                <a:r>
                  <a:rPr lang="es-CR" sz="2400" dirty="0" smtClean="0"/>
                  <a:t>de </a:t>
                </a:r>
                <a:r>
                  <a:rPr lang="es-ES" sz="2400" dirty="0" smtClean="0"/>
                  <a:t>partida </a:t>
                </a:r>
                <a:r>
                  <a:rPr lang="es-ES" sz="2400" b="1" dirty="0"/>
                  <a:t>S</a:t>
                </a:r>
                <a:r>
                  <a:rPr lang="es-ES" sz="2400" dirty="0" smtClean="0"/>
                  <a:t>. </a:t>
                </a:r>
                <a:r>
                  <a:rPr lang="es-CR" sz="2400" dirty="0"/>
                  <a:t>El S-Stress será 0 cuando este ajuste sea perfecto, lo que </a:t>
                </a:r>
                <a:r>
                  <a:rPr lang="es-CR" sz="2400" dirty="0" smtClean="0"/>
                  <a:t>significa que </a:t>
                </a:r>
                <a:r>
                  <a:rPr lang="es-CR" sz="2400" dirty="0"/>
                  <a:t>el mapa reproduce con absoluta fidelidad la matriz original </a:t>
                </a:r>
                <a:r>
                  <a:rPr lang="es-CR" sz="2400" b="1" dirty="0"/>
                  <a:t>I</a:t>
                </a:r>
                <a:r>
                  <a:rPr lang="es-CR" sz="2400" dirty="0"/>
                  <a:t>{</a:t>
                </a:r>
                <a:r>
                  <a:rPr lang="es-CR" sz="2400" b="1" dirty="0"/>
                  <a:t>S</a:t>
                </a:r>
                <a:r>
                  <a:rPr lang="es-CR" sz="2400" dirty="0" smtClean="0"/>
                  <a:t>}=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s-CR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R" sz="2400" dirty="0"/>
                  <a:t>. Generalmente, se suele incurrir en un término de error (E¹0), de </a:t>
                </a:r>
                <a:r>
                  <a:rPr lang="es-CR" sz="2400" dirty="0" smtClean="0"/>
                  <a:t>forma </a:t>
                </a:r>
                <a:r>
                  <a:rPr lang="es-ES" sz="2400" dirty="0" smtClean="0"/>
                  <a:t>que </a:t>
                </a:r>
                <a:r>
                  <a:rPr lang="es-ES" sz="2400" b="1" dirty="0"/>
                  <a:t>I</a:t>
                </a:r>
                <a:r>
                  <a:rPr lang="es-ES" sz="2400" dirty="0"/>
                  <a:t>{</a:t>
                </a:r>
                <a:r>
                  <a:rPr lang="es-ES" sz="2400" b="1" dirty="0"/>
                  <a:t>S</a:t>
                </a:r>
                <a:r>
                  <a:rPr lang="es-ES" sz="2400" dirty="0" smtClean="0"/>
                  <a:t>}=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s-CR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400" b="1" dirty="0" smtClean="0"/>
                  <a:t>+E</a:t>
                </a:r>
                <a:r>
                  <a:rPr lang="es-ES" sz="2400" b="1" dirty="0"/>
                  <a:t>. </a:t>
                </a:r>
                <a:r>
                  <a:rPr lang="es-ES" sz="2400" dirty="0"/>
                  <a:t>El S-Stress intenta minimizar precisamente este </a:t>
                </a:r>
                <a:r>
                  <a:rPr lang="es-ES" sz="2400" dirty="0" smtClean="0"/>
                  <a:t>término de </a:t>
                </a:r>
                <a:r>
                  <a:rPr lang="es-ES" sz="2400" dirty="0"/>
                  <a:t>error</a:t>
                </a:r>
                <a:r>
                  <a:rPr lang="es-ES" sz="2400" dirty="0" smtClean="0"/>
                  <a:t>.</a:t>
                </a:r>
              </a:p>
              <a:p>
                <a:pPr algn="just"/>
                <a:endParaRPr lang="es-CR" sz="2400" dirty="0" smtClean="0"/>
              </a:p>
              <a:p>
                <a:pPr algn="just"/>
                <a:endParaRPr lang="es-CR" sz="2400" dirty="0" smtClean="0"/>
              </a:p>
              <a:p>
                <a:pPr algn="just"/>
                <a:endParaRPr lang="es-CR" sz="2400" dirty="0"/>
              </a:p>
              <a:p>
                <a:pPr algn="just"/>
                <a:endParaRPr lang="es-CR" sz="2400" dirty="0"/>
              </a:p>
              <a:p>
                <a:r>
                  <a:rPr lang="es-CR" sz="2400" b="1" dirty="0"/>
                  <a:t>E </a:t>
                </a:r>
                <a:r>
                  <a:rPr lang="es-CR" sz="2400" dirty="0"/>
                  <a:t>es al suma de todos los elementos al cuadrado de la matriz </a:t>
                </a:r>
                <a:r>
                  <a:rPr lang="es-CR" sz="2400" dirty="0" smtClean="0"/>
                  <a:t>de </a:t>
                </a:r>
                <a:r>
                  <a:rPr lang="es-ES" sz="2400" dirty="0" smtClean="0"/>
                  <a:t>error</a:t>
                </a:r>
              </a:p>
              <a:p>
                <a:r>
                  <a:rPr lang="es-CR" sz="2400" b="1" dirty="0"/>
                  <a:t>I</a:t>
                </a:r>
                <a:r>
                  <a:rPr lang="es-CR" sz="2400" dirty="0"/>
                  <a:t>{</a:t>
                </a:r>
                <a:r>
                  <a:rPr lang="es-CR" sz="2400" b="1" dirty="0"/>
                  <a:t>S</a:t>
                </a:r>
                <a:r>
                  <a:rPr lang="es-CR" sz="2400" dirty="0"/>
                  <a:t>} la suma de todos los elementos al cuadrado de la matriz </a:t>
                </a:r>
                <a:r>
                  <a:rPr lang="es-CR" sz="2400" dirty="0" smtClean="0"/>
                  <a:t>original</a:t>
                </a:r>
              </a:p>
              <a:p>
                <a:r>
                  <a:rPr lang="es-ES" sz="2400" dirty="0"/>
                  <a:t>la matriz original </a:t>
                </a:r>
                <a:r>
                  <a:rPr lang="es-ES" sz="2400" b="1" dirty="0"/>
                  <a:t>S </a:t>
                </a:r>
                <a:r>
                  <a:rPr lang="es-ES" sz="2400" dirty="0"/>
                  <a:t>se puede transformar </a:t>
                </a:r>
                <a:r>
                  <a:rPr lang="es-ES" sz="2400" dirty="0" smtClean="0"/>
                  <a:t>linealmente {</a:t>
                </a:r>
                <a:r>
                  <a:rPr lang="es-ES" sz="2400" b="1" dirty="0" smtClean="0"/>
                  <a:t>S</a:t>
                </a:r>
                <a:r>
                  <a:rPr lang="es-ES" sz="2400" dirty="0"/>
                  <a:t>} o </a:t>
                </a:r>
                <a:r>
                  <a:rPr lang="es-ES" sz="2400" dirty="0" err="1"/>
                  <a:t>monotónicamente</a:t>
                </a:r>
                <a:r>
                  <a:rPr lang="es-ES" sz="2400" dirty="0"/>
                  <a:t> </a:t>
                </a:r>
                <a:r>
                  <a:rPr lang="es-ES" sz="2400" b="1" dirty="0"/>
                  <a:t>m</a:t>
                </a:r>
                <a:r>
                  <a:rPr lang="es-ES" sz="2400" dirty="0"/>
                  <a:t>{</a:t>
                </a:r>
                <a:r>
                  <a:rPr lang="es-ES" sz="2400" b="1" dirty="0"/>
                  <a:t>S</a:t>
                </a:r>
                <a:r>
                  <a:rPr lang="es-ES" sz="2400" dirty="0"/>
                  <a:t>}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184" y="1201003"/>
                <a:ext cx="11791664" cy="5377218"/>
              </a:xfrm>
              <a:blipFill rotWithShape="0">
                <a:blip r:embed="rId2"/>
                <a:stretch>
                  <a:fillRect l="-724" t="-1587" r="-77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103" y="3361581"/>
            <a:ext cx="2683949" cy="105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727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6685" y="1259567"/>
            <a:ext cx="11493137" cy="5149941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El Stress se define igual que el S-stress salvo que usa distancias y </a:t>
            </a:r>
            <a:r>
              <a:rPr lang="es-CR" sz="2400" dirty="0" smtClean="0"/>
              <a:t>no distancias </a:t>
            </a:r>
            <a:r>
              <a:rPr lang="es-CR" sz="2400" dirty="0"/>
              <a:t>cuadradas. </a:t>
            </a:r>
            <a:r>
              <a:rPr lang="es-CR" sz="2400" dirty="0" err="1"/>
              <a:t>Kruskal</a:t>
            </a:r>
            <a:r>
              <a:rPr lang="es-CR" sz="2400" dirty="0"/>
              <a:t> (1964) establece la siguiente clasificación: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020" y="2743201"/>
            <a:ext cx="5400610" cy="31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44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2331" y="1381487"/>
            <a:ext cx="11501845" cy="4351338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El RSQ (coeficiente de correlación al cuadrado) mide la </a:t>
            </a:r>
            <a:r>
              <a:rPr lang="es-CR" sz="2400" dirty="0" smtClean="0"/>
              <a:t>correlación entre </a:t>
            </a:r>
            <a:r>
              <a:rPr lang="es-CR" sz="2400" dirty="0"/>
              <a:t>distancias </a:t>
            </a:r>
            <a:r>
              <a:rPr lang="es-CR" sz="2400" dirty="0" err="1"/>
              <a:t>euclídeas</a:t>
            </a:r>
            <a:r>
              <a:rPr lang="es-CR" sz="2400" dirty="0"/>
              <a:t> entre puntos del mapa </a:t>
            </a:r>
            <a:r>
              <a:rPr lang="es-CR" sz="2400" b="1" dirty="0"/>
              <a:t>D </a:t>
            </a:r>
            <a:r>
              <a:rPr lang="es-CR" sz="2400" dirty="0"/>
              <a:t>y disimilitudes de </a:t>
            </a:r>
            <a:r>
              <a:rPr lang="es-CR" sz="2400" dirty="0" smtClean="0"/>
              <a:t>la matriz </a:t>
            </a:r>
            <a:r>
              <a:rPr lang="es-CR" sz="2400" dirty="0"/>
              <a:t>original S. Es decir, el porcentaje de variabilidad de los datos </a:t>
            </a:r>
            <a:r>
              <a:rPr lang="es-CR" sz="2400" dirty="0" smtClean="0"/>
              <a:t>de partida </a:t>
            </a:r>
            <a:r>
              <a:rPr lang="es-CR" sz="2400" dirty="0"/>
              <a:t>que es explicado por el modelo. Conforme se aproxima a la </a:t>
            </a:r>
            <a:r>
              <a:rPr lang="es-CR" sz="2400" dirty="0" smtClean="0"/>
              <a:t>unidad (100</a:t>
            </a:r>
            <a:r>
              <a:rPr lang="es-CR" sz="2400" dirty="0"/>
              <a:t>%) el ajuste mejora, mientras su acercamiento a cero denota un </a:t>
            </a:r>
            <a:r>
              <a:rPr lang="es-CR" sz="2400" dirty="0" smtClean="0"/>
              <a:t>crecimiento del </a:t>
            </a:r>
            <a:r>
              <a:rPr lang="es-CR" sz="2400" dirty="0"/>
              <a:t>término de error en la estimación.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72403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355362"/>
            <a:ext cx="10515600" cy="5254444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Una recomendación para seleccionar el número de dimensiones es representar "</a:t>
            </a:r>
            <a:r>
              <a:rPr lang="es-CR" sz="2400" dirty="0" smtClean="0"/>
              <a:t>el número </a:t>
            </a:r>
            <a:r>
              <a:rPr lang="es-CR" sz="2400" dirty="0"/>
              <a:t>de dimensiones" en el eje de </a:t>
            </a:r>
            <a:r>
              <a:rPr lang="es-CR" sz="2400" dirty="0" err="1"/>
              <a:t>abcisas</a:t>
            </a:r>
            <a:r>
              <a:rPr lang="es-CR" sz="2400" dirty="0"/>
              <a:t> de un gráfico y "el valor del </a:t>
            </a:r>
            <a:r>
              <a:rPr lang="es-CR" sz="2400" dirty="0" err="1" smtClean="0"/>
              <a:t>Stress“</a:t>
            </a:r>
            <a:r>
              <a:rPr lang="es-CR" sz="2400" dirty="0" err="1"/>
              <a:t>en</a:t>
            </a:r>
            <a:r>
              <a:rPr lang="es-CR" sz="2400" dirty="0"/>
              <a:t> el de ordenadas. Aquel punto en el que se produce un salto brusco </a:t>
            </a:r>
            <a:r>
              <a:rPr lang="es-CR" sz="2400" dirty="0" smtClean="0"/>
              <a:t>puede tomarse </a:t>
            </a:r>
            <a:r>
              <a:rPr lang="es-CR" sz="2400" dirty="0"/>
              <a:t>como un buen indicador del número de dimensiones que deben </a:t>
            </a:r>
            <a:r>
              <a:rPr lang="es-CR" sz="2400" dirty="0" smtClean="0"/>
              <a:t>retenerse.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Otro aspecto interesante es el concerniente a las soluciones degeneradas, </a:t>
            </a:r>
            <a:r>
              <a:rPr lang="es-CR" sz="2400" dirty="0" smtClean="0"/>
              <a:t>que </a:t>
            </a:r>
            <a:r>
              <a:rPr lang="es-ES" sz="2400" dirty="0" smtClean="0"/>
              <a:t>corresponden </a:t>
            </a:r>
            <a:r>
              <a:rPr lang="es-ES" sz="2400" dirty="0"/>
              <a:t>a mapas que no representan de forma ajustada las percepciones </a:t>
            </a:r>
            <a:r>
              <a:rPr lang="es-ES" sz="2400" dirty="0" smtClean="0"/>
              <a:t>de </a:t>
            </a:r>
            <a:r>
              <a:rPr lang="es-CR" sz="2400" dirty="0" smtClean="0"/>
              <a:t>los </a:t>
            </a:r>
            <a:r>
              <a:rPr lang="es-CR" sz="2400" dirty="0"/>
              <a:t>sujetos encuestados. Generalmente se detectan porque los objetos </a:t>
            </a:r>
            <a:r>
              <a:rPr lang="es-CR" sz="2400" dirty="0" smtClean="0"/>
              <a:t>analizados se </a:t>
            </a:r>
            <a:r>
              <a:rPr lang="es-CR" sz="2400" dirty="0"/>
              <a:t>representan siguiendo un patrón circular, o lo que es lo mismo, en forma </a:t>
            </a:r>
            <a:r>
              <a:rPr lang="es-CR" sz="2400" dirty="0" smtClean="0"/>
              <a:t>de corona </a:t>
            </a:r>
            <a:r>
              <a:rPr lang="es-CR" sz="2400" dirty="0"/>
              <a:t>en torno a los ejes de coordenadas.</a:t>
            </a:r>
            <a:endParaRPr lang="es-ES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73993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239" y="221134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Interpretación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839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Aplicación del análisis de escalamiento multidimensional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33103" y="1355362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Si en el mapa se representan sólo objetos (métodos de descomposición), se </a:t>
            </a:r>
            <a:r>
              <a:rPr lang="es-CR" sz="2400" dirty="0" smtClean="0"/>
              <a:t>analizan </a:t>
            </a:r>
            <a:r>
              <a:rPr lang="es-ES" sz="2400" dirty="0" smtClean="0"/>
              <a:t>sus </a:t>
            </a:r>
            <a:r>
              <a:rPr lang="es-ES" sz="2400" dirty="0"/>
              <a:t>distancias y consultando fuentes secundarias, o incorporando a </a:t>
            </a:r>
            <a:r>
              <a:rPr lang="es-ES" sz="2400" dirty="0" smtClean="0"/>
              <a:t>posteriori </a:t>
            </a:r>
            <a:r>
              <a:rPr lang="es-CR" sz="2400" dirty="0" smtClean="0"/>
              <a:t>la </a:t>
            </a:r>
            <a:r>
              <a:rPr lang="es-CR" sz="2400" dirty="0"/>
              <a:t>evaluación de cada objeto sobre una lista de variables, se interpretan los </a:t>
            </a:r>
            <a:r>
              <a:rPr lang="es-CR" sz="2400" dirty="0" smtClean="0"/>
              <a:t>resultados. En </a:t>
            </a:r>
            <a:r>
              <a:rPr lang="es-CR" sz="2400" dirty="0"/>
              <a:t>ambos casos la idea es conseguir información que permita, en </a:t>
            </a:r>
            <a:r>
              <a:rPr lang="es-CR" sz="2400" dirty="0" smtClean="0"/>
              <a:t>función de </a:t>
            </a:r>
            <a:r>
              <a:rPr lang="es-CR" sz="2400" dirty="0"/>
              <a:t>cómo están posicionados relativamente los competidores, explicar de que </a:t>
            </a:r>
            <a:r>
              <a:rPr lang="es-CR" sz="2400" dirty="0" smtClean="0"/>
              <a:t>forma </a:t>
            </a:r>
            <a:r>
              <a:rPr lang="es-ES" sz="2400" dirty="0" smtClean="0"/>
              <a:t>se </a:t>
            </a:r>
            <a:r>
              <a:rPr lang="es-ES" sz="2400" dirty="0"/>
              <a:t>relacionan entre sí</a:t>
            </a:r>
            <a:r>
              <a:rPr lang="es-ES" sz="2400" dirty="0" smtClean="0"/>
              <a:t>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Si en el mapa se representan tanto objetos como propiedades (métodos de </a:t>
            </a:r>
            <a:r>
              <a:rPr lang="es-CR" sz="2400" dirty="0" smtClean="0"/>
              <a:t>composición) se </a:t>
            </a:r>
            <a:r>
              <a:rPr lang="es-CR" sz="2400" dirty="0"/>
              <a:t>facilita la interpretación de los resultados, ya que en este caso </a:t>
            </a:r>
            <a:r>
              <a:rPr lang="es-CR" sz="2400" dirty="0" smtClean="0"/>
              <a:t>las variables </a:t>
            </a:r>
            <a:r>
              <a:rPr lang="es-CR" sz="2400" dirty="0"/>
              <a:t>están incluidas a priori en el espacio perceptual.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4499806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239" y="221134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Validación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938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Escalamiento multidimensional: validación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33102" y="1355362"/>
            <a:ext cx="11284131" cy="5254444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Para validar los resultados a fin de permitir su generalización se puede llevar </a:t>
            </a:r>
            <a:r>
              <a:rPr lang="es-CR" sz="2400" dirty="0" smtClean="0"/>
              <a:t>a cabo </a:t>
            </a:r>
            <a:r>
              <a:rPr lang="es-CR" sz="2400" dirty="0"/>
              <a:t>una división de la muestra y realizar dos análisis similares </a:t>
            </a:r>
            <a:r>
              <a:rPr lang="es-CR" sz="2400" dirty="0" smtClean="0"/>
              <a:t>simultáneamente. Es </a:t>
            </a:r>
            <a:r>
              <a:rPr lang="es-CR" sz="2400" dirty="0"/>
              <a:t>decir, obtener dos mapas y compararlos. Su convergencia sirve para </a:t>
            </a:r>
            <a:r>
              <a:rPr lang="es-CR" sz="2400" dirty="0" smtClean="0"/>
              <a:t>garantizar la </a:t>
            </a:r>
            <a:r>
              <a:rPr lang="es-CR" sz="2400" dirty="0"/>
              <a:t>bondad de los análisis realizados. Esta convergencia puede contrastarse </a:t>
            </a:r>
            <a:r>
              <a:rPr lang="es-CR" sz="2400" dirty="0" smtClean="0"/>
              <a:t>analizando, visualmente</a:t>
            </a:r>
            <a:r>
              <a:rPr lang="es-CR" sz="2400" dirty="0"/>
              <a:t>, la colocación de los objetos, o bien, de forma más </a:t>
            </a:r>
            <a:r>
              <a:rPr lang="es-CR" sz="2400" dirty="0" smtClean="0"/>
              <a:t>precisa, calculando </a:t>
            </a:r>
            <a:r>
              <a:rPr lang="es-CR" sz="2400" dirty="0"/>
              <a:t>las correlaciones entre las distancias </a:t>
            </a:r>
            <a:r>
              <a:rPr lang="es-CR" sz="2400" dirty="0" err="1"/>
              <a:t>eclídeas</a:t>
            </a:r>
            <a:r>
              <a:rPr lang="es-CR" sz="2400" dirty="0"/>
              <a:t> de los dos mapas </a:t>
            </a:r>
            <a:r>
              <a:rPr lang="es-CR" sz="2400" dirty="0" smtClean="0"/>
              <a:t>obtenidos. En </a:t>
            </a:r>
            <a:r>
              <a:rPr lang="es-CR" sz="2400" dirty="0"/>
              <a:t>ambos casos los índices de ajuste (Stress, S-Stress y RSQ) deben </a:t>
            </a:r>
            <a:r>
              <a:rPr lang="es-CR" sz="2400" dirty="0" smtClean="0"/>
              <a:t>ser </a:t>
            </a:r>
            <a:r>
              <a:rPr lang="es-ES" sz="2400" dirty="0" smtClean="0"/>
              <a:t>igualmente </a:t>
            </a:r>
            <a:r>
              <a:rPr lang="es-ES" sz="2400" dirty="0"/>
              <a:t>buenos</a:t>
            </a:r>
            <a:r>
              <a:rPr lang="es-ES" sz="2400" dirty="0" smtClean="0"/>
              <a:t>.</a:t>
            </a:r>
          </a:p>
          <a:p>
            <a:pPr algn="just"/>
            <a:endParaRPr lang="es-CR" sz="2400" dirty="0"/>
          </a:p>
          <a:p>
            <a:r>
              <a:rPr lang="es-CR" sz="2400" dirty="0"/>
              <a:t>Otra forma de validar los resultados obtenidos partiendo de métodos de </a:t>
            </a:r>
            <a:r>
              <a:rPr lang="es-CR" sz="2400" dirty="0" smtClean="0"/>
              <a:t>descomposición consiste </a:t>
            </a:r>
            <a:r>
              <a:rPr lang="es-CR" sz="2400" dirty="0"/>
              <a:t>en aplicar, a posteriori, un método de composición (y a </a:t>
            </a:r>
            <a:r>
              <a:rPr lang="es-CR" sz="2400" dirty="0" smtClean="0"/>
              <a:t>la inversa</a:t>
            </a:r>
            <a:r>
              <a:rPr lang="es-CR" sz="2400" dirty="0"/>
              <a:t>). Es decir, contar con matrices cuadradas (objetos x objetos) y </a:t>
            </a:r>
            <a:r>
              <a:rPr lang="es-CR" sz="2400" dirty="0" smtClean="0"/>
              <a:t>matrices rectangulares </a:t>
            </a:r>
            <a:r>
              <a:rPr lang="es-CR" sz="2400" dirty="0"/>
              <a:t>(objetos x atributos) y comprobar si los resultados convergen.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498009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7239" y="221134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Ejemplo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652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9183" y="174056"/>
            <a:ext cx="11928142" cy="890469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Ejemplo página 12 sobre las empresas de carros</a:t>
            </a:r>
            <a:endParaRPr lang="es-ES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33103" y="1355362"/>
            <a:ext cx="10515600" cy="4351338"/>
          </a:xfrm>
        </p:spPr>
        <p:txBody>
          <a:bodyPr>
            <a:normAutofit/>
          </a:bodyPr>
          <a:lstStyle/>
          <a:p>
            <a:r>
              <a:rPr lang="es-CR" sz="2400" dirty="0" smtClean="0"/>
              <a:t>Ver el ejemplo que tiene por enunciado: </a:t>
            </a:r>
          </a:p>
          <a:p>
            <a:endParaRPr lang="es-CR" sz="2400" dirty="0"/>
          </a:p>
          <a:p>
            <a:r>
              <a:rPr lang="es-CR" sz="2400" dirty="0" smtClean="0"/>
              <a:t>“</a:t>
            </a:r>
            <a:r>
              <a:rPr lang="es-CR" sz="2400" dirty="0"/>
              <a:t>En este ejemplo se relacionan 18 empresas de coches, concretamente aquellas </a:t>
            </a:r>
            <a:r>
              <a:rPr lang="es-CR" sz="2400" dirty="0" smtClean="0"/>
              <a:t>que cuentan </a:t>
            </a:r>
            <a:r>
              <a:rPr lang="es-CR" sz="2400" dirty="0"/>
              <a:t>con los volúmenes de facturación de turismos mas elevados España. </a:t>
            </a:r>
            <a:r>
              <a:rPr lang="es-CR" sz="2400" dirty="0" smtClean="0"/>
              <a:t>Esta decisión </a:t>
            </a:r>
            <a:r>
              <a:rPr lang="es-CR" sz="2400" dirty="0"/>
              <a:t>se ha tomado a partir de los resultados obtenidos en una fase </a:t>
            </a:r>
            <a:r>
              <a:rPr lang="es-CR" sz="2400" dirty="0" smtClean="0"/>
              <a:t>previa </a:t>
            </a:r>
            <a:r>
              <a:rPr lang="es-ES" sz="2400" dirty="0" smtClean="0"/>
              <a:t>cualitativa</a:t>
            </a:r>
            <a:r>
              <a:rPr lang="es-CR" sz="2400" dirty="0" smtClean="0"/>
              <a:t>”</a:t>
            </a:r>
          </a:p>
          <a:p>
            <a:endParaRPr lang="es-CR" sz="2400" dirty="0"/>
          </a:p>
          <a:p>
            <a:r>
              <a:rPr lang="es-CR" sz="2400" dirty="0" smtClean="0"/>
              <a:t>Ver todas las etapas del análisis por escalamiento multidimensional.</a:t>
            </a:r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4248429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2" descr="Resultado de imagen para the 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4573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3340</Words>
  <Application>Microsoft Office PowerPoint</Application>
  <PresentationFormat>Personalizado</PresentationFormat>
  <Paragraphs>151</Paragraphs>
  <Slides>36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7" baseType="lpstr">
      <vt:lpstr>Tema de Office</vt:lpstr>
      <vt:lpstr>Escalamiento multidimensional</vt:lpstr>
      <vt:lpstr>Introducción</vt:lpstr>
      <vt:lpstr>Introducción</vt:lpstr>
      <vt:lpstr>Etapas del EM</vt:lpstr>
      <vt:lpstr>Establecimiento de los objetivos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Presentación de PowerPoint</vt:lpstr>
      <vt:lpstr>Aplicación del análisis de escalamiento multidimensional</vt:lpstr>
      <vt:lpstr>Diseño del plan de análisis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Condición de aplicabilidad</vt:lpstr>
      <vt:lpstr>Aplicación del análisis de escalamiento multidimensional</vt:lpstr>
      <vt:lpstr>Aplicación del análisis de escalamiento multidimensional</vt:lpstr>
      <vt:lpstr>Estimación del modelo y medida de ajuste global 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Aplicación del análisis de escalamiento multidimensional</vt:lpstr>
      <vt:lpstr>Interpretación</vt:lpstr>
      <vt:lpstr>Aplicación del análisis de escalamiento multidimensional</vt:lpstr>
      <vt:lpstr>Validación</vt:lpstr>
      <vt:lpstr>Escalamiento multidimensional: validación</vt:lpstr>
      <vt:lpstr>Ejemplo</vt:lpstr>
      <vt:lpstr>Ejemplo página 12 sobre las empresas de carros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Escalamiento multidimensional</dc:title>
  <dc:creator>Oscar</dc:creator>
  <cp:lastModifiedBy>Oscar Centeno Mora</cp:lastModifiedBy>
  <cp:revision>25</cp:revision>
  <dcterms:created xsi:type="dcterms:W3CDTF">2017-06-05T00:19:02Z</dcterms:created>
  <dcterms:modified xsi:type="dcterms:W3CDTF">2017-06-06T21:00:18Z</dcterms:modified>
</cp:coreProperties>
</file>