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5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6" r:id="rId25"/>
    <p:sldId id="294" r:id="rId26"/>
    <p:sldId id="278" r:id="rId27"/>
    <p:sldId id="279" r:id="rId28"/>
    <p:sldId id="280" r:id="rId29"/>
    <p:sldId id="297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93" r:id="rId3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t>27/03/2017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2495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t>27/03/2017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493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t>27/03/2017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4437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t>27/03/2017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5291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t>27/03/2017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313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t>27/03/2017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152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t>27/03/2017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308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t>27/03/2017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865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t>27/03/2017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354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t>27/03/2017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40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t>27/03/2017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0159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12550-39C4-483B-94C6-30E907CB0272}" type="datetimeFigureOut">
              <a:rPr lang="es-ES" smtClean="0"/>
              <a:t>27/03/2017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BF184-AB2A-44C6-B8B0-0DEA178BEB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20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hda.com/english/wiki/ade4-and-factoextra-principal-component-analysis-r-software-and-data-mining#at_pco=smlwn-1.0&amp;at_si=58d852c3ce898442&amp;at_ab=per-2&amp;at_pos=0&amp;at_tot=1" TargetMode="External"/><Relationship Id="rId2" Type="http://schemas.openxmlformats.org/officeDocument/2006/relationships/hyperlink" Target="http://www.sthda.com/english/wiki/principal-component-analysis-in-r-prcomp-vs-princomp-r-software-and-data-min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sthda.com/english/wiki/factominer-and-factoextra-principal-component-analysis-visualization-r-software-and-data-mining" TargetMode="External"/><Relationship Id="rId4" Type="http://schemas.openxmlformats.org/officeDocument/2006/relationships/hyperlink" Target="http://www.sthda.com/english/wiki/principal-component-analysis-how-to-reveal-the-most-important-variables-in-your-data-r-software-and-data-mining#at_pco=smlwn-1.0&amp;at_si=58d2e52d6d391656&amp;at_ab=per-2&amp;at_pos=0&amp;at_tot=1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52549"/>
            <a:ext cx="10067108" cy="1088571"/>
          </a:xfrm>
        </p:spPr>
        <p:txBody>
          <a:bodyPr/>
          <a:lstStyle/>
          <a:p>
            <a:r>
              <a:rPr lang="es-CR" dirty="0" smtClean="0"/>
              <a:t>Componentes Principales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778034" y="6061166"/>
            <a:ext cx="9144000" cy="590006"/>
          </a:xfrm>
        </p:spPr>
        <p:txBody>
          <a:bodyPr/>
          <a:lstStyle/>
          <a:p>
            <a:pPr algn="r"/>
            <a:r>
              <a:rPr lang="es-CR" dirty="0" smtClean="0"/>
              <a:t>Oscar Centeno Mora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81603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03864"/>
            <a:ext cx="10515600" cy="854075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8931" y="1027611"/>
            <a:ext cx="9281159" cy="5738949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El análisis por componente principales hace parte de un grupo de análisis descriptivos multidimensionales llamados métodos factoriales.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Creados en los años 30 y desarrollados en los años 60 donde se mejore los aspectos geométricos y las representaciones gráficas.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Son métodos descriptivos, no se apoyan en modelos probabilísticos sino más bien de un modelo geométrico.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A partir de una matriz rectangular de datos con </a:t>
            </a:r>
            <a:r>
              <a:rPr lang="es-CR" sz="2400" i="1" dirty="0" smtClean="0"/>
              <a:t>p</a:t>
            </a:r>
            <a:r>
              <a:rPr lang="es-CR" sz="2400" dirty="0" smtClean="0"/>
              <a:t> variables cuantitativas y </a:t>
            </a:r>
            <a:r>
              <a:rPr lang="es-CR" sz="2400" i="1" dirty="0" smtClean="0"/>
              <a:t>n</a:t>
            </a:r>
            <a:r>
              <a:rPr lang="es-CR" sz="2400" dirty="0" smtClean="0"/>
              <a:t> unidades, el análisis por componentes principales propone diversas representación geométricas de estos dos.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Lo que se busca es ver si existe una estructura, no conocida a priori, para el conjunto de casos y variables.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939787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173536"/>
            <a:ext cx="10515600" cy="854075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158931" y="1027611"/>
            <a:ext cx="8897983" cy="5738949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Lo que se busca es ver si se pueden buscar grupos de unidades con diferencias o similitudes.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Para las variables buscamos ver cuáles están muy correlacionadas entre ellas, y, de forma contraria, cuales no están correlacionadas con las otras.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En la visualización de los individuos o unidades, se utiliza el concepto de las distancias entre los individuos.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En la visualización de las variables, estas se llevan a cabo en función de sus correlaciones</a:t>
            </a:r>
          </a:p>
          <a:p>
            <a:pPr algn="just"/>
            <a:endParaRPr lang="es-CR" sz="2400" dirty="0"/>
          </a:p>
        </p:txBody>
      </p:sp>
    </p:spTree>
    <p:extLst>
      <p:ext uri="{BB962C8B-B14F-4D97-AF65-F5344CB8AC3E}">
        <p14:creationId xmlns:p14="http://schemas.microsoft.com/office/powerpoint/2010/main" val="364104054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173536"/>
            <a:ext cx="10515600" cy="854075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158932" y="1027611"/>
            <a:ext cx="9115698" cy="5738949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En el análisis por PCA se deben de tomar en cuenta siempre las medidas de calidad de las representaciones: criterio global y criterios individuales.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A veces se recomienda nombrar a los nuevos ejes, y de ahí explicar la posición de los individuos.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Después de la explicación del método, no se debe olvidar de donde provienen los datos utilizados, lo que representan y el significado para el contexto en causa.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Como todo método descriptivo, llevar a cabo un PCA no es un fin en sí. El PCA sirve para conocer mejor los datos, detectar valores sospechosos, y ayuda a formular hipótesis que se deben estudiar mediante modelos inferenciales. </a:t>
            </a:r>
            <a:endParaRPr lang="es-ES" sz="2400" dirty="0" smtClean="0"/>
          </a:p>
          <a:p>
            <a:pPr algn="just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24168186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8674" y="147411"/>
            <a:ext cx="11634652" cy="845366"/>
          </a:xfrm>
        </p:spPr>
        <p:txBody>
          <a:bodyPr/>
          <a:lstStyle/>
          <a:p>
            <a:pPr algn="ctr"/>
            <a:r>
              <a:rPr lang="es-CR" dirty="0" smtClean="0"/>
              <a:t>El PCA: los datos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78674" y="1181191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Los datos corresponden a variables cuantitativas observadas para n individuos.</a:t>
            </a:r>
            <a:endParaRPr lang="es-ES" sz="24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56" y="2136925"/>
            <a:ext cx="5898695" cy="4361567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7297318" y="3948376"/>
            <a:ext cx="192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Individuo </a:t>
            </a:r>
            <a:r>
              <a:rPr lang="es-CR" dirty="0" err="1" smtClean="0"/>
              <a:t>e’</a:t>
            </a:r>
            <a:r>
              <a:rPr lang="es-CR" baseline="-25000" dirty="0" err="1" smtClean="0"/>
              <a:t>i</a:t>
            </a:r>
            <a:endParaRPr lang="es-ES" baseline="-25000" dirty="0"/>
          </a:p>
        </p:txBody>
      </p:sp>
      <p:sp>
        <p:nvSpPr>
          <p:cNvPr id="8" name="CuadroTexto 7"/>
          <p:cNvSpPr txBox="1"/>
          <p:nvPr/>
        </p:nvSpPr>
        <p:spPr>
          <a:xfrm>
            <a:off x="7297318" y="5720943"/>
            <a:ext cx="4100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INDIVIDUO = elemento del espacio </a:t>
            </a:r>
            <a:r>
              <a:rPr lang="es-CR" dirty="0" err="1" smtClean="0"/>
              <a:t>R</a:t>
            </a:r>
            <a:r>
              <a:rPr lang="es-CR" baseline="30000" dirty="0" err="1" smtClean="0"/>
              <a:t>p</a:t>
            </a:r>
            <a:endParaRPr lang="es-CR" baseline="30000" dirty="0" smtClean="0"/>
          </a:p>
          <a:p>
            <a:r>
              <a:rPr lang="es-CR" dirty="0" smtClean="0"/>
              <a:t> VARIABLE = </a:t>
            </a:r>
            <a:r>
              <a:rPr lang="es-CR" dirty="0"/>
              <a:t>elemento del espacio </a:t>
            </a:r>
            <a:r>
              <a:rPr lang="es-CR" dirty="0" smtClean="0"/>
              <a:t>R</a:t>
            </a:r>
            <a:r>
              <a:rPr lang="es-CR" baseline="30000" dirty="0" smtClean="0"/>
              <a:t>n</a:t>
            </a:r>
            <a:endParaRPr lang="es-ES" baseline="-25000" dirty="0"/>
          </a:p>
        </p:txBody>
      </p:sp>
    </p:spTree>
    <p:extLst>
      <p:ext uri="{BB962C8B-B14F-4D97-AF65-F5344CB8AC3E}">
        <p14:creationId xmlns:p14="http://schemas.microsoft.com/office/powerpoint/2010/main" val="10237337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78674" y="1189898"/>
            <a:ext cx="10032275" cy="5332821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Se trata de visualizar una nube de individuos. Cada </a:t>
            </a:r>
            <a:r>
              <a:rPr lang="es-CR" sz="2400" dirty="0" smtClean="0"/>
              <a:t>individuo </a:t>
            </a:r>
            <a:r>
              <a:rPr lang="es-CR" sz="2400" dirty="0" smtClean="0"/>
              <a:t>denominado </a:t>
            </a:r>
            <a:r>
              <a:rPr lang="es-CR" sz="2400" dirty="0" err="1" smtClean="0"/>
              <a:t>e</a:t>
            </a:r>
            <a:r>
              <a:rPr lang="es-CR" sz="2400" baseline="-25000" dirty="0" err="1" smtClean="0"/>
              <a:t>i</a:t>
            </a:r>
            <a:r>
              <a:rPr lang="es-CR" sz="2400" dirty="0" smtClean="0"/>
              <a:t>, se puede asociar un punto en el eje </a:t>
            </a:r>
            <a:r>
              <a:rPr lang="es-CR" sz="2400" dirty="0" err="1" smtClean="0"/>
              <a:t>R</a:t>
            </a:r>
            <a:r>
              <a:rPr lang="es-CR" sz="2400" baseline="30000" dirty="0" err="1" smtClean="0"/>
              <a:t>p</a:t>
            </a:r>
            <a:r>
              <a:rPr lang="es-CR" sz="2400" dirty="0" smtClean="0"/>
              <a:t>, o espacio de los individuos.</a:t>
            </a:r>
          </a:p>
          <a:p>
            <a:pPr algn="just"/>
            <a:r>
              <a:rPr lang="es-CR" sz="2400" dirty="0" smtClean="0"/>
              <a:t>Cada variable de la matriz X es asociada a un eje de </a:t>
            </a:r>
            <a:r>
              <a:rPr lang="es-CR" sz="2400" dirty="0" err="1" smtClean="0"/>
              <a:t>R</a:t>
            </a:r>
            <a:r>
              <a:rPr lang="es-CR" sz="2400" baseline="30000" dirty="0" err="1" smtClean="0"/>
              <a:t>p</a:t>
            </a:r>
            <a:r>
              <a:rPr lang="es-CR" sz="2400" dirty="0"/>
              <a:t>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78674" y="147411"/>
            <a:ext cx="11634652" cy="845366"/>
          </a:xfrm>
        </p:spPr>
        <p:txBody>
          <a:bodyPr/>
          <a:lstStyle/>
          <a:p>
            <a:pPr algn="ctr"/>
            <a:r>
              <a:rPr lang="es-CR" dirty="0" smtClean="0"/>
              <a:t>El PCA: los datos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40" y="2658190"/>
            <a:ext cx="5722192" cy="4061650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7829006" y="3169920"/>
            <a:ext cx="3614057" cy="13585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Imposible visualizar a partir de p&gt;3.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6232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67641" y="1045031"/>
            <a:ext cx="9376953" cy="5651860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Se busca representar a los n individuos o casos, para un sub espacio vectorial </a:t>
            </a:r>
            <a:r>
              <a:rPr lang="es-CR" sz="2400" dirty="0" err="1" smtClean="0"/>
              <a:t>F</a:t>
            </a:r>
            <a:r>
              <a:rPr lang="es-CR" sz="2400" i="1" baseline="-25000" dirty="0" err="1" smtClean="0"/>
              <a:t>k</a:t>
            </a:r>
            <a:r>
              <a:rPr lang="es-CR" sz="2400" dirty="0" smtClean="0"/>
              <a:t> de </a:t>
            </a:r>
            <a:r>
              <a:rPr lang="es-CR" sz="2400" dirty="0" err="1" smtClean="0"/>
              <a:t>R</a:t>
            </a:r>
            <a:r>
              <a:rPr lang="es-CR" sz="2400" i="1" baseline="-25000" dirty="0" err="1" smtClean="0"/>
              <a:t>p</a:t>
            </a:r>
            <a:r>
              <a:rPr lang="es-CR" sz="2400" dirty="0" smtClean="0"/>
              <a:t> de dimensión </a:t>
            </a:r>
            <a:r>
              <a:rPr lang="es-CR" sz="2400" i="1" dirty="0" smtClean="0"/>
              <a:t>k</a:t>
            </a:r>
            <a:r>
              <a:rPr lang="es-CR" sz="2400" dirty="0" smtClean="0"/>
              <a:t> (</a:t>
            </a:r>
            <a:r>
              <a:rPr lang="es-CR" sz="2400" i="1" dirty="0" smtClean="0"/>
              <a:t>k</a:t>
            </a:r>
            <a:r>
              <a:rPr lang="es-CR" sz="2400" dirty="0" smtClean="0"/>
              <a:t> pequeño como 2, 3,…; por ejemplo un plano).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otras palabras, se busca definir k nuevas variables que son combinaciones lineares de las p variables iniciales, que en su conjunto tratarán de optimizar la perdida de información dado el proceso de reducción de variables. </a:t>
            </a:r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Las nuevas variables se denominarán como </a:t>
            </a:r>
            <a:r>
              <a:rPr lang="es-CR" sz="2400" b="1" i="1" dirty="0" smtClean="0"/>
              <a:t>componentes principales</a:t>
            </a:r>
            <a:r>
              <a:rPr lang="es-CR" sz="2400" dirty="0" smtClean="0"/>
              <a:t>, los ejes serán </a:t>
            </a:r>
            <a:r>
              <a:rPr lang="es-CR" sz="2400" dirty="0" smtClean="0"/>
              <a:t>llamados </a:t>
            </a:r>
            <a:r>
              <a:rPr lang="es-CR" sz="2400" b="1" i="1" dirty="0"/>
              <a:t>e</a:t>
            </a:r>
            <a:r>
              <a:rPr lang="es-CR" sz="2400" b="1" i="1" dirty="0" smtClean="0"/>
              <a:t>jes </a:t>
            </a:r>
            <a:r>
              <a:rPr lang="es-CR" sz="2400" b="1" i="1" dirty="0" smtClean="0"/>
              <a:t>principales</a:t>
            </a:r>
            <a:r>
              <a:rPr lang="es-CR" sz="2400" dirty="0" smtClean="0"/>
              <a:t>, y las formas lineares asociadas se llamarán </a:t>
            </a:r>
            <a:r>
              <a:rPr lang="es-CR" sz="2400" b="1" i="1" dirty="0" smtClean="0"/>
              <a:t>factores principales</a:t>
            </a:r>
            <a:r>
              <a:rPr lang="es-CR" sz="2400" dirty="0" smtClean="0"/>
              <a:t>.</a:t>
            </a:r>
            <a:endParaRPr lang="es-CR" sz="2400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278674" y="199665"/>
            <a:ext cx="11634652" cy="845366"/>
          </a:xfrm>
        </p:spPr>
        <p:txBody>
          <a:bodyPr/>
          <a:lstStyle/>
          <a:p>
            <a:pPr algn="ctr"/>
            <a:r>
              <a:rPr lang="es-CR" dirty="0" smtClean="0"/>
              <a:t>El PCA: </a:t>
            </a:r>
            <a:r>
              <a:rPr lang="es-CR" dirty="0" smtClean="0"/>
              <a:t>objetivo</a:t>
            </a:r>
            <a:endParaRPr lang="es-ES" dirty="0"/>
          </a:p>
        </p:txBody>
      </p:sp>
      <p:sp>
        <p:nvSpPr>
          <p:cNvPr id="6" name="Rectángulo redondeado 5"/>
          <p:cNvSpPr/>
          <p:nvPr/>
        </p:nvSpPr>
        <p:spPr>
          <a:xfrm>
            <a:off x="2795454" y="4319453"/>
            <a:ext cx="1645919" cy="6705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Matriz </a:t>
            </a:r>
            <a:br>
              <a:rPr lang="es-CR" dirty="0" smtClean="0"/>
            </a:br>
            <a:r>
              <a:rPr lang="es-CR" i="1" dirty="0" smtClean="0"/>
              <a:t>p</a:t>
            </a:r>
            <a:endParaRPr lang="es-ES" i="1" dirty="0"/>
          </a:p>
        </p:txBody>
      </p:sp>
      <p:sp>
        <p:nvSpPr>
          <p:cNvPr id="7" name="Rectángulo redondeado 6"/>
          <p:cNvSpPr/>
          <p:nvPr/>
        </p:nvSpPr>
        <p:spPr>
          <a:xfrm>
            <a:off x="6500952" y="4319453"/>
            <a:ext cx="1624148" cy="6705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Componentes</a:t>
            </a:r>
          </a:p>
          <a:p>
            <a:pPr algn="ctr"/>
            <a:r>
              <a:rPr lang="es-CR" i="1" dirty="0"/>
              <a:t>k</a:t>
            </a:r>
            <a:endParaRPr lang="es-ES" i="1" dirty="0"/>
          </a:p>
        </p:txBody>
      </p:sp>
      <p:cxnSp>
        <p:nvCxnSpPr>
          <p:cNvPr id="9" name="Conector recto de flecha 8"/>
          <p:cNvCxnSpPr/>
          <p:nvPr/>
        </p:nvCxnSpPr>
        <p:spPr>
          <a:xfrm>
            <a:off x="4746174" y="4676502"/>
            <a:ext cx="14717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231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531" y="182245"/>
            <a:ext cx="10515600" cy="862783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nuevo espacio vectorial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794" y="1808933"/>
            <a:ext cx="2695575" cy="319087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68" y="1775596"/>
            <a:ext cx="2762250" cy="3257550"/>
          </a:xfrm>
          <a:prstGeom prst="rect">
            <a:avLst/>
          </a:prstGeom>
        </p:spPr>
      </p:pic>
      <p:cxnSp>
        <p:nvCxnSpPr>
          <p:cNvPr id="9" name="Conector angular 8"/>
          <p:cNvCxnSpPr/>
          <p:nvPr/>
        </p:nvCxnSpPr>
        <p:spPr>
          <a:xfrm>
            <a:off x="4093029" y="3544389"/>
            <a:ext cx="3100251" cy="32221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ectángulo redondeado 9"/>
          <p:cNvSpPr/>
          <p:nvPr/>
        </p:nvSpPr>
        <p:spPr>
          <a:xfrm>
            <a:off x="382904" y="5643153"/>
            <a:ext cx="3202578" cy="8273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Espacio vectorial inicial</a:t>
            </a:r>
            <a:endParaRPr lang="es-ES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7525292" y="5643153"/>
            <a:ext cx="3202578" cy="8273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Nuevo espacio vectorial con los ejes principales 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9580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7571" y="2455182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Los individuos 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380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3841" y="199662"/>
            <a:ext cx="11660776" cy="1028247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la menor perdida posible de información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76646" y="1416323"/>
            <a:ext cx="8723812" cy="5036728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En la definición de los ejes principales, </a:t>
            </a:r>
            <a:r>
              <a:rPr lang="es-CR" sz="2400" dirty="0" err="1" smtClean="0"/>
              <a:t>F</a:t>
            </a:r>
            <a:r>
              <a:rPr lang="es-CR" sz="2400" i="1" baseline="-25000" dirty="0" err="1" smtClean="0"/>
              <a:t>k</a:t>
            </a:r>
            <a:r>
              <a:rPr lang="es-CR" sz="2400" dirty="0" smtClean="0"/>
              <a:t> deberá ser ajustado lo mejor posible a la nube de los individuos: la suma de cuadrados de las distancias de los individuos a </a:t>
            </a:r>
            <a:r>
              <a:rPr lang="es-CR" sz="2400" dirty="0"/>
              <a:t>los </a:t>
            </a:r>
            <a:r>
              <a:rPr lang="es-CR" sz="2400" dirty="0" err="1"/>
              <a:t>F</a:t>
            </a:r>
            <a:r>
              <a:rPr lang="es-CR" sz="2400" i="1" baseline="-25000" dirty="0" err="1"/>
              <a:t>k</a:t>
            </a:r>
            <a:r>
              <a:rPr lang="es-CR" sz="2400" dirty="0" smtClean="0"/>
              <a:t> tiene que ser mínima.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err="1"/>
              <a:t>F</a:t>
            </a:r>
            <a:r>
              <a:rPr lang="es-CR" sz="2400" i="1" baseline="-25000" dirty="0" err="1"/>
              <a:t>k</a:t>
            </a:r>
            <a:r>
              <a:rPr lang="es-CR" sz="2400" dirty="0" smtClean="0"/>
              <a:t> es el sub espacio tal que la nube proyectada deba tener una inercia (dispersión) máxima. 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Los dos puntos anteriores se fundamentan sobre la noción de distancia y proyección ortogonal.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06298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43841" y="199662"/>
            <a:ext cx="11660776" cy="1028247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la menor perdida posible de información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178" y="1454332"/>
            <a:ext cx="7592537" cy="3953841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2752577" y="5547360"/>
            <a:ext cx="5625737" cy="10189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distancia entre f</a:t>
            </a:r>
            <a:r>
              <a:rPr lang="es-CR" baseline="-25000" dirty="0" smtClean="0"/>
              <a:t>i</a:t>
            </a:r>
            <a:r>
              <a:rPr lang="es-CR" dirty="0" smtClean="0"/>
              <a:t> y </a:t>
            </a:r>
            <a:r>
              <a:rPr lang="es-CR" dirty="0" err="1" smtClean="0"/>
              <a:t>f</a:t>
            </a:r>
            <a:r>
              <a:rPr lang="es-CR" baseline="-25000" dirty="0" err="1" smtClean="0"/>
              <a:t>j</a:t>
            </a:r>
            <a:r>
              <a:rPr lang="es-CR" dirty="0" smtClean="0"/>
              <a:t> es inferior o igual a la distancia entre </a:t>
            </a:r>
            <a:r>
              <a:rPr lang="es-CR" dirty="0" err="1" smtClean="0"/>
              <a:t>e</a:t>
            </a:r>
            <a:r>
              <a:rPr lang="es-CR" baseline="-25000" dirty="0" err="1" smtClean="0"/>
              <a:t>i</a:t>
            </a:r>
            <a:r>
              <a:rPr lang="es-CR" dirty="0" smtClean="0"/>
              <a:t> y e</a:t>
            </a:r>
            <a:r>
              <a:rPr lang="es-CR" baseline="-25000" dirty="0" smtClean="0"/>
              <a:t>j</a:t>
            </a:r>
            <a:r>
              <a:rPr lang="es-CR" dirty="0" smtClean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7727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1589" y="173536"/>
            <a:ext cx="11808822" cy="975995"/>
          </a:xfrm>
        </p:spPr>
        <p:txBody>
          <a:bodyPr/>
          <a:lstStyle/>
          <a:p>
            <a:r>
              <a:rPr lang="es-CR" dirty="0"/>
              <a:t>El PCA</a:t>
            </a:r>
            <a:r>
              <a:rPr lang="es-CR" dirty="0" smtClean="0"/>
              <a:t>: la elección de distancia entre los individuos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9229" y="1520825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En el espacio </a:t>
            </a:r>
            <a:r>
              <a:rPr lang="es-CR" sz="2400" dirty="0" err="1" smtClean="0"/>
              <a:t>R</a:t>
            </a:r>
            <a:r>
              <a:rPr lang="es-CR" sz="2400" baseline="30000" dirty="0" err="1" smtClean="0"/>
              <a:t>p</a:t>
            </a:r>
            <a:r>
              <a:rPr lang="es-CR" sz="2400" dirty="0" smtClean="0"/>
              <a:t> de p dimensiones, se generaliza la siguiente noción: la distancia euclidiana entre dos individuos se expresa como:</a:t>
            </a:r>
          </a:p>
          <a:p>
            <a:endParaRPr lang="es-CR" sz="2400" dirty="0" smtClean="0"/>
          </a:p>
          <a:p>
            <a:endParaRPr lang="es-CR" sz="2400" dirty="0"/>
          </a:p>
          <a:p>
            <a:endParaRPr lang="es-CR" sz="2400" dirty="0" smtClean="0"/>
          </a:p>
          <a:p>
            <a:endParaRPr lang="es-CR" sz="2400" dirty="0" smtClean="0"/>
          </a:p>
          <a:p>
            <a:r>
              <a:rPr lang="es-CR" sz="2400" dirty="0" smtClean="0"/>
              <a:t>Por lo tanto</a:t>
            </a:r>
            <a:endParaRPr lang="es-CR" sz="2400" dirty="0"/>
          </a:p>
          <a:p>
            <a:pPr marL="0" indent="0">
              <a:buNone/>
            </a:pPr>
            <a:endParaRPr lang="es-CR" sz="2400" dirty="0"/>
          </a:p>
          <a:p>
            <a:pPr marL="0" indent="0">
              <a:buNone/>
            </a:pPr>
            <a:r>
              <a:rPr lang="es-CR" sz="2400" dirty="0" smtClean="0"/>
              <a:t> </a:t>
            </a:r>
            <a:endParaRPr lang="es-E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025" y="2957851"/>
            <a:ext cx="3625054" cy="251984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455" y="5819332"/>
            <a:ext cx="2508194" cy="42412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59" y="2674695"/>
            <a:ext cx="4790504" cy="102179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59" y="4939378"/>
            <a:ext cx="3273747" cy="93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432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1590" y="1311818"/>
            <a:ext cx="9030788" cy="4688387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Cuando se tienen variables con diferentes unidades de medida, el problema se revuelve transformando los datos mediante el proceso de la estandarización.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La observación </a:t>
            </a:r>
            <a:r>
              <a:rPr lang="es-CR" sz="2400" dirty="0" err="1" smtClean="0"/>
              <a:t>X</a:t>
            </a:r>
            <a:r>
              <a:rPr lang="es-CR" sz="2400" baseline="-25000" dirty="0" err="1" smtClean="0"/>
              <a:t>i</a:t>
            </a:r>
            <a:r>
              <a:rPr lang="es-CR" sz="2400" baseline="30000" dirty="0" err="1" smtClean="0"/>
              <a:t>k</a:t>
            </a:r>
            <a:r>
              <a:rPr lang="es-CR" sz="2400" dirty="0" smtClean="0"/>
              <a:t> se remplaza por: </a:t>
            </a:r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Nótese que al realizar la estandarización, suponemos la normalidad de los datos.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91589" y="173536"/>
            <a:ext cx="11808822" cy="975995"/>
          </a:xfrm>
        </p:spPr>
        <p:txBody>
          <a:bodyPr/>
          <a:lstStyle/>
          <a:p>
            <a:r>
              <a:rPr lang="es-CR" dirty="0"/>
              <a:t>El PCA</a:t>
            </a:r>
            <a:r>
              <a:rPr lang="es-CR" dirty="0" smtClean="0"/>
              <a:t>: la elección de distancia entre los individuos 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900" y="2574963"/>
            <a:ext cx="1442032" cy="104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923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1589" y="1355362"/>
            <a:ext cx="9457508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La inercia es la suma ponderada de las distancias cuadradas de los individuos para el centro de gravedad g. </a:t>
            </a:r>
          </a:p>
          <a:p>
            <a:endParaRPr lang="es-CR" sz="2400" dirty="0"/>
          </a:p>
          <a:p>
            <a:r>
              <a:rPr lang="es-CR" sz="2400" dirty="0" smtClean="0"/>
              <a:t>La inercia mide la dispersión total de la nube de puntos.</a:t>
            </a:r>
          </a:p>
          <a:p>
            <a:endParaRPr lang="es-CR" sz="2400" dirty="0"/>
          </a:p>
          <a:p>
            <a:r>
              <a:rPr lang="es-CR" sz="2400" dirty="0" smtClean="0"/>
              <a:t>La inercia se expresa como:</a:t>
            </a:r>
            <a:endParaRPr lang="es-ES" sz="2400" dirty="0"/>
          </a:p>
          <a:p>
            <a:endParaRPr lang="es-CR" sz="2400" dirty="0" smtClean="0"/>
          </a:p>
          <a:p>
            <a:endParaRPr lang="es-CR" sz="2400" dirty="0"/>
          </a:p>
          <a:p>
            <a:pPr marL="0" indent="0">
              <a:buNone/>
            </a:pPr>
            <a:r>
              <a:rPr lang="es-CR" sz="2400" dirty="0" smtClean="0"/>
              <a:t>O de forma general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91589" y="173536"/>
            <a:ext cx="11808822" cy="975995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la inercia total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325" y="4133334"/>
            <a:ext cx="2084732" cy="61171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898" y="5500580"/>
            <a:ext cx="2019585" cy="61171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554" y="5622924"/>
            <a:ext cx="1172662" cy="48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9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1589" y="940526"/>
            <a:ext cx="8586651" cy="5843451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La inercia es por lo tanto igual a la suma de las variancias de las variables estudiadas.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Si denominamos V la matriz de variancias y covariancias:</a:t>
            </a:r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el caso donde las variables son estandarizadas, la variancia de cada variable es de 1. 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Por lo tanto, en el caso anterior, la inercia es igual a p (total de variables).</a:t>
            </a:r>
            <a:endParaRPr lang="es-CR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91589" y="103864"/>
            <a:ext cx="11808822" cy="749573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la inercia total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46" y="2883031"/>
            <a:ext cx="4332335" cy="155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85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686" y="1372779"/>
            <a:ext cx="775716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Sea F es un sub espacio de R</a:t>
            </a:r>
            <a:r>
              <a:rPr lang="es-CR" sz="2400" baseline="30000" dirty="0" smtClean="0"/>
              <a:t>P</a:t>
            </a:r>
          </a:p>
          <a:p>
            <a:endParaRPr lang="es-CR" sz="2400" baseline="30000" dirty="0"/>
          </a:p>
          <a:p>
            <a:r>
              <a:rPr lang="es-CR" sz="2400" dirty="0" smtClean="0"/>
              <a:t>fi la proyección ortogonal de </a:t>
            </a:r>
            <a:r>
              <a:rPr lang="es-CR" sz="2400" dirty="0" err="1" smtClean="0"/>
              <a:t>ei</a:t>
            </a:r>
            <a:r>
              <a:rPr lang="es-CR" sz="2400" dirty="0" smtClean="0"/>
              <a:t> sobre F se representa como</a:t>
            </a:r>
          </a:p>
          <a:p>
            <a:pPr marL="0" indent="0">
              <a:buNone/>
            </a:pPr>
            <a:endParaRPr lang="es-CR" sz="2400" dirty="0"/>
          </a:p>
          <a:p>
            <a:pPr marL="0" indent="0">
              <a:buNone/>
            </a:pPr>
            <a:r>
              <a:rPr lang="es-CR" sz="2400" dirty="0" smtClean="0"/>
              <a:t> </a:t>
            </a:r>
            <a:endParaRPr lang="es-ES" sz="2400" baseline="300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0" y="103864"/>
            <a:ext cx="12192000" cy="923747"/>
          </a:xfrm>
        </p:spPr>
        <p:txBody>
          <a:bodyPr>
            <a:normAutofit/>
          </a:bodyPr>
          <a:lstStyle/>
          <a:p>
            <a:pPr algn="ctr"/>
            <a:r>
              <a:rPr lang="es-CR" sz="4000" dirty="0"/>
              <a:t>El </a:t>
            </a:r>
            <a:r>
              <a:rPr lang="es-CR" sz="4000" dirty="0" smtClean="0"/>
              <a:t>PCA: sobre la equivalencia en la perdida de información</a:t>
            </a:r>
            <a:endParaRPr lang="es-ES" sz="4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999" y="3196753"/>
            <a:ext cx="3974021" cy="46490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809" y="4337036"/>
            <a:ext cx="2866507" cy="1998281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6977020" y="4661671"/>
            <a:ext cx="3457303" cy="11234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Proyección ortogonal de la nube sobre el sub espacio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5865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6977" y="1250859"/>
            <a:ext cx="7617823" cy="5437324"/>
          </a:xfrm>
        </p:spPr>
        <p:txBody>
          <a:bodyPr>
            <a:normAutofit/>
          </a:bodyPr>
          <a:lstStyle/>
          <a:p>
            <a:r>
              <a:rPr lang="es-CR" sz="2400" dirty="0" smtClean="0"/>
              <a:t>Se busca para F que sea mínimo: </a:t>
            </a:r>
          </a:p>
          <a:p>
            <a:endParaRPr lang="es-CR" sz="2400" dirty="0"/>
          </a:p>
          <a:p>
            <a:r>
              <a:rPr lang="es-CR" sz="2400" dirty="0" smtClean="0"/>
              <a:t>Lo que equivaldría que, según el teorema de Pitágoras a maximizar la siguiente expresión:</a:t>
            </a:r>
          </a:p>
          <a:p>
            <a:endParaRPr lang="es-CR" sz="2400" dirty="0" smtClean="0"/>
          </a:p>
          <a:p>
            <a:r>
              <a:rPr lang="es-CR" sz="2400" dirty="0" smtClean="0"/>
              <a:t>De lo anterior se obtiene:</a:t>
            </a:r>
          </a:p>
          <a:p>
            <a:endParaRPr lang="es-CR" sz="2400" dirty="0"/>
          </a:p>
          <a:p>
            <a:endParaRPr lang="es-CR" sz="2400" dirty="0" smtClean="0"/>
          </a:p>
          <a:p>
            <a:r>
              <a:rPr lang="es-CR" sz="2400" dirty="0" smtClean="0"/>
              <a:t>Y por lo tanto:</a:t>
            </a:r>
            <a:endParaRPr lang="es-CR" sz="2400" dirty="0"/>
          </a:p>
          <a:p>
            <a:endParaRPr lang="es-CR" sz="2400" dirty="0"/>
          </a:p>
          <a:p>
            <a:endParaRPr lang="es-CR" sz="2400" dirty="0" smtClean="0"/>
          </a:p>
          <a:p>
            <a:endParaRPr lang="es-CR" sz="2400" dirty="0"/>
          </a:p>
          <a:p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0" y="69028"/>
            <a:ext cx="12192000" cy="923747"/>
          </a:xfrm>
        </p:spPr>
        <p:txBody>
          <a:bodyPr>
            <a:normAutofit/>
          </a:bodyPr>
          <a:lstStyle/>
          <a:p>
            <a:pPr algn="ctr"/>
            <a:r>
              <a:rPr lang="es-CR" sz="4000" dirty="0"/>
              <a:t>El </a:t>
            </a:r>
            <a:r>
              <a:rPr lang="es-CR" sz="4000" dirty="0" smtClean="0"/>
              <a:t>PCA: sobre la equivalencia en la perdida de información</a:t>
            </a:r>
            <a:endParaRPr lang="es-ES" sz="4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219" y="1137586"/>
            <a:ext cx="1270384" cy="61171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808" y="2923591"/>
            <a:ext cx="1270384" cy="59540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597" y="4112003"/>
            <a:ext cx="4006595" cy="44859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7485" y="5302601"/>
            <a:ext cx="5048961" cy="579094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2049683" y="5994968"/>
            <a:ext cx="1520831" cy="542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Inercia total</a:t>
            </a:r>
            <a:endParaRPr lang="es-ES" dirty="0"/>
          </a:p>
        </p:txBody>
      </p:sp>
      <p:sp>
        <p:nvSpPr>
          <p:cNvPr id="10" name="Rectángulo redondeado 9"/>
          <p:cNvSpPr/>
          <p:nvPr/>
        </p:nvSpPr>
        <p:spPr>
          <a:xfrm>
            <a:off x="6096000" y="5994968"/>
            <a:ext cx="1520831" cy="542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Maximizar inercia de la nube proyectada</a:t>
            </a:r>
            <a:endParaRPr lang="es-ES" sz="1200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4115888" y="6013648"/>
            <a:ext cx="1520831" cy="542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Minimizar distancia entre individuos y la proyección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4001381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73536"/>
            <a:ext cx="10515600" cy="784407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solución al problema originado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3434" y="1337945"/>
            <a:ext cx="9315995" cy="5324112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La búsqueda de los ejes con el máximo de inercia equivale a la construcción de nuevas variables </a:t>
            </a:r>
            <a:r>
              <a:rPr lang="es-CR" sz="2400" dirty="0"/>
              <a:t>con </a:t>
            </a:r>
            <a:r>
              <a:rPr lang="es-CR" sz="2400" dirty="0" smtClean="0"/>
              <a:t>máxima variancia (las variables están asociadas a los nuevos ejes mediante combinaciones lineales).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otros términos, realizamos un cambio del sistema de referencia en el espacio </a:t>
            </a:r>
            <a:r>
              <a:rPr lang="es-CR" sz="2400" dirty="0" err="1" smtClean="0"/>
              <a:t>R</a:t>
            </a:r>
            <a:r>
              <a:rPr lang="es-CR" sz="2400" baseline="30000" dirty="0" err="1" smtClean="0"/>
              <a:t>p</a:t>
            </a:r>
            <a:r>
              <a:rPr lang="es-CR" sz="2400" dirty="0"/>
              <a:t> </a:t>
            </a:r>
            <a:r>
              <a:rPr lang="es-CR" sz="2400" dirty="0" smtClean="0"/>
              <a:t>de manera de </a:t>
            </a:r>
            <a:r>
              <a:rPr lang="es-CR" sz="2400" dirty="0" err="1" smtClean="0"/>
              <a:t>colozarse</a:t>
            </a:r>
            <a:r>
              <a:rPr lang="es-CR" sz="2400" dirty="0" smtClean="0"/>
              <a:t> en un nuevo sistema de representación donde el primer eje aporta la mayor cantidad posible de inercia total a la nube, el segundo eje la mayor cantidad de inercia no tomada en cuenta en el primer eje, y así consecutivamente. </a:t>
            </a:r>
          </a:p>
          <a:p>
            <a:endParaRPr lang="es-CR" sz="2400" dirty="0"/>
          </a:p>
          <a:p>
            <a:r>
              <a:rPr lang="es-CR" sz="2400" dirty="0" smtClean="0"/>
              <a:t>Esta reorganización se apoya sobre la </a:t>
            </a:r>
            <a:r>
              <a:rPr lang="es-CR" sz="2400" dirty="0" err="1" smtClean="0"/>
              <a:t>diagonalización</a:t>
            </a:r>
            <a:r>
              <a:rPr lang="es-CR" sz="2400" dirty="0" smtClean="0"/>
              <a:t> de la matriz de variancia y covariancia.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272566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3103" y="1477282"/>
            <a:ext cx="9211491" cy="5106398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Sobre los ejes principales, denominamos ejes principales de inercia a los ejes de direccionan los vectores propios de V normados en 1.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total hay </a:t>
            </a:r>
            <a:r>
              <a:rPr lang="es-CR" sz="2400" i="1" dirty="0" smtClean="0"/>
              <a:t>p</a:t>
            </a:r>
            <a:r>
              <a:rPr lang="es-CR" sz="2400" dirty="0" smtClean="0"/>
              <a:t>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El primer eje está asociado a la mayor cantidad de valores propios. Lo notamos como u</a:t>
            </a:r>
            <a:r>
              <a:rPr lang="es-CR" sz="2400" baseline="30000" dirty="0" smtClean="0"/>
              <a:t>1</a:t>
            </a:r>
            <a:r>
              <a:rPr lang="es-CR" sz="2400" dirty="0" smtClean="0"/>
              <a:t>.</a:t>
            </a:r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r>
              <a:rPr lang="es-CR" sz="2400" dirty="0"/>
              <a:t>El </a:t>
            </a:r>
            <a:r>
              <a:rPr lang="es-CR" sz="2400" dirty="0" smtClean="0"/>
              <a:t>segundo eje </a:t>
            </a:r>
            <a:r>
              <a:rPr lang="es-CR" sz="2400" dirty="0"/>
              <a:t>está asociado a la mayor cantidad de valores propios. Lo notamos como </a:t>
            </a:r>
            <a:r>
              <a:rPr lang="es-CR" sz="2400" dirty="0" smtClean="0"/>
              <a:t>u</a:t>
            </a:r>
            <a:r>
              <a:rPr lang="es-CR" sz="2400" baseline="30000" dirty="0" smtClean="0"/>
              <a:t>2</a:t>
            </a:r>
            <a:r>
              <a:rPr lang="es-CR" sz="2400" dirty="0" smtClean="0"/>
              <a:t>.</a:t>
            </a:r>
            <a:endParaRPr lang="es-CR" sz="2400" dirty="0"/>
          </a:p>
          <a:p>
            <a:pPr algn="just"/>
            <a:endParaRPr lang="es-CR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173536"/>
            <a:ext cx="10515600" cy="784407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solución al problema originado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3209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3103" y="1189899"/>
            <a:ext cx="8723811" cy="5446031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A cada eje está asociado una variable llamada componente principal.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El componente c</a:t>
            </a:r>
            <a:r>
              <a:rPr lang="es-CR" sz="2400" baseline="30000" dirty="0" smtClean="0"/>
              <a:t>1</a:t>
            </a:r>
            <a:r>
              <a:rPr lang="es-CR" sz="2400" dirty="0" smtClean="0"/>
              <a:t> es el vector que contiene las coordenadas de las  proyecciones de los individuos  sobre el eje 1.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El </a:t>
            </a:r>
            <a:r>
              <a:rPr lang="es-CR" sz="2400" dirty="0"/>
              <a:t>componente </a:t>
            </a:r>
            <a:r>
              <a:rPr lang="es-CR" sz="2400" dirty="0" smtClean="0"/>
              <a:t>c</a:t>
            </a:r>
            <a:r>
              <a:rPr lang="es-CR" sz="2400" baseline="30000" dirty="0" smtClean="0"/>
              <a:t>2</a:t>
            </a:r>
            <a:r>
              <a:rPr lang="es-CR" sz="2400" dirty="0" smtClean="0"/>
              <a:t> </a:t>
            </a:r>
            <a:r>
              <a:rPr lang="es-CR" sz="2400" dirty="0"/>
              <a:t>es el vector que contiene las coordenadas </a:t>
            </a:r>
            <a:r>
              <a:rPr lang="es-CR" sz="2400" dirty="0" smtClean="0"/>
              <a:t>de proyecciones de los </a:t>
            </a:r>
            <a:r>
              <a:rPr lang="es-CR" sz="2400" dirty="0"/>
              <a:t>individuos  sobre el eje </a:t>
            </a:r>
            <a:r>
              <a:rPr lang="es-CR" sz="2400" dirty="0" smtClean="0"/>
              <a:t>2.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Para obtener dichas coordenadas, cada componente principal es una combinación lineal de las variables iniciales. 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173536"/>
            <a:ext cx="10515600" cy="784407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solución al problema originado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953" y="5923222"/>
            <a:ext cx="3583134" cy="6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64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4394" y="1468573"/>
            <a:ext cx="7722326" cy="504543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R" sz="2400" dirty="0" smtClean="0"/>
              <a:t>1.  La variancia de un componente principal es igual a la inercia contribuida al eje principal que le es asociado.</a:t>
            </a:r>
          </a:p>
          <a:p>
            <a:pPr algn="just"/>
            <a:endParaRPr lang="es-CR" sz="2400" dirty="0"/>
          </a:p>
          <a:p>
            <a:pPr marL="0" indent="0" algn="just">
              <a:buNone/>
            </a:pPr>
            <a:endParaRPr lang="es-CR" sz="2400" dirty="0" smtClean="0"/>
          </a:p>
          <a:p>
            <a:pPr marL="0" indent="0" algn="just">
              <a:buNone/>
            </a:pPr>
            <a:endParaRPr lang="es-CR" sz="2400" dirty="0"/>
          </a:p>
          <a:p>
            <a:pPr marL="0" indent="0" algn="just">
              <a:buNone/>
            </a:pPr>
            <a:endParaRPr lang="es-CR" sz="2400" dirty="0" smtClean="0"/>
          </a:p>
          <a:p>
            <a:pPr marL="0" indent="0" algn="just">
              <a:buNone/>
            </a:pPr>
            <a:endParaRPr lang="es-CR" sz="2400" dirty="0"/>
          </a:p>
          <a:p>
            <a:pPr marL="0" indent="0" algn="just">
              <a:buNone/>
            </a:pPr>
            <a:endParaRPr lang="es-CR" sz="2400" dirty="0" smtClean="0"/>
          </a:p>
          <a:p>
            <a:pPr marL="0" indent="0" algn="just">
              <a:buNone/>
            </a:pPr>
            <a:r>
              <a:rPr lang="es-CR" sz="2400" dirty="0" smtClean="0"/>
              <a:t>2. Les componentes principales no están correlacionados entre ellos. En efecto, los ejes asociados son ortogonales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086" y="173536"/>
            <a:ext cx="12017828" cy="784407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propiedad de los componentes principales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3" y="2805809"/>
            <a:ext cx="4979074" cy="153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038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7937" y="129995"/>
            <a:ext cx="11562806" cy="766988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representación de los individuos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7937" y="1175657"/>
            <a:ext cx="8976360" cy="5599612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Los </a:t>
            </a:r>
            <a:r>
              <a:rPr lang="es-CR" sz="2400" i="1" dirty="0" smtClean="0"/>
              <a:t>j </a:t>
            </a:r>
            <a:r>
              <a:rPr lang="es-CR" sz="2400" dirty="0" smtClean="0"/>
              <a:t>componentes principales brindan la información para ubicar a los n individuos sobre el los </a:t>
            </a:r>
            <a:r>
              <a:rPr lang="es-CR" sz="2400" i="1" dirty="0" smtClean="0"/>
              <a:t>j</a:t>
            </a:r>
            <a:r>
              <a:rPr lang="es-CR" sz="2400" dirty="0" smtClean="0"/>
              <a:t> ejes principales.</a:t>
            </a:r>
          </a:p>
          <a:p>
            <a:pPr algn="just"/>
            <a:endParaRPr lang="es-CR" sz="2400" i="1" dirty="0"/>
          </a:p>
          <a:p>
            <a:pPr algn="just"/>
            <a:r>
              <a:rPr lang="es-CR" sz="2400" dirty="0" smtClean="0"/>
              <a:t>El vector que permite ubicar a los individuos se presenta como: </a:t>
            </a:r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En la práctica, si se desearía una representación plana de los individuos, lo mejor sería utilizar los dos primeros componentes principales.</a:t>
            </a:r>
            <a:endParaRPr lang="es-E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296" y="3065109"/>
            <a:ext cx="1101733" cy="182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73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9194" y="5886994"/>
            <a:ext cx="10515600" cy="638311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Se debe de tener cuidado con la calidad de la representación  de cada individuo.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7937" y="129995"/>
            <a:ext cx="11562806" cy="766988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representación de los individuos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217" y="1380373"/>
            <a:ext cx="6691366" cy="374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11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7938" y="1294401"/>
            <a:ext cx="8793480" cy="4351338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EL objetivo es ver patrones a aglomeraciones de los casos.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Es importante, de ser posible, nombrar al eje principal para mejorar la</a:t>
            </a:r>
            <a:r>
              <a:rPr lang="es-ES" sz="2400" dirty="0" smtClean="0"/>
              <a:t> calidad del análisis.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A veces, los casos muy aparte del resto de los individuos, son complicados de describir o comprender. Se les suele dar la denominación de valor atípico.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7937" y="129995"/>
            <a:ext cx="11562806" cy="766988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representación de los individuos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2758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7571" y="2455182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Las variables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4043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7937" y="1364070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Las </a:t>
            </a:r>
            <a:r>
              <a:rPr lang="es-CR" sz="2400" i="1" dirty="0" smtClean="0"/>
              <a:t>proximidades </a:t>
            </a:r>
            <a:r>
              <a:rPr lang="es-CR" sz="2400" dirty="0" smtClean="0"/>
              <a:t>entre los componentes principales </a:t>
            </a:r>
            <a:r>
              <a:rPr lang="es-CR" sz="2400" dirty="0" smtClean="0"/>
              <a:t>y </a:t>
            </a:r>
            <a:r>
              <a:rPr lang="es-CR" sz="2400" dirty="0" smtClean="0"/>
              <a:t>las variables iniciales son medidas por la covariancia, y sobre todo con las correlaciones.</a:t>
            </a:r>
          </a:p>
          <a:p>
            <a:endParaRPr lang="es-CR" sz="2400" i="1" dirty="0"/>
          </a:p>
          <a:p>
            <a:r>
              <a:rPr lang="es-CR" sz="2400" dirty="0" smtClean="0"/>
              <a:t>El coeficiente de correlación lineal entre </a:t>
            </a:r>
            <a:r>
              <a:rPr lang="es-CR" sz="2400" dirty="0" err="1" smtClean="0"/>
              <a:t>c</a:t>
            </a:r>
            <a:r>
              <a:rPr lang="es-CR" sz="2400" baseline="-25000" dirty="0" err="1" smtClean="0"/>
              <a:t>j</a:t>
            </a:r>
            <a:r>
              <a:rPr lang="es-CR" sz="2400" dirty="0" smtClean="0"/>
              <a:t> y x</a:t>
            </a:r>
            <a:r>
              <a:rPr lang="es-CR" sz="2400" baseline="-25000" dirty="0" smtClean="0"/>
              <a:t>i</a:t>
            </a:r>
            <a:r>
              <a:rPr lang="es-CR" sz="2400" dirty="0" smtClean="0"/>
              <a:t> se denota como r(</a:t>
            </a:r>
            <a:r>
              <a:rPr lang="es-CR" sz="2400" dirty="0" err="1" smtClean="0"/>
              <a:t>c</a:t>
            </a:r>
            <a:r>
              <a:rPr lang="es-CR" sz="2400" baseline="30000" dirty="0" err="1" smtClean="0"/>
              <a:t>j</a:t>
            </a:r>
            <a:r>
              <a:rPr lang="es-CR" sz="2400" dirty="0" err="1" smtClean="0"/>
              <a:t>,x</a:t>
            </a:r>
            <a:r>
              <a:rPr lang="es-CR" sz="2400" baseline="30000" dirty="0" err="1" smtClean="0"/>
              <a:t>i</a:t>
            </a:r>
            <a:r>
              <a:rPr lang="es-CR" sz="2400" dirty="0" smtClean="0"/>
              <a:t>)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7937" y="129995"/>
            <a:ext cx="11562806" cy="766988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la representación de las variables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185" y="3461362"/>
            <a:ext cx="2781300" cy="2800350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6412773" y="4334668"/>
            <a:ext cx="3169920" cy="10537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Circulo de correlaciones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0422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685" y="1311818"/>
            <a:ext cx="10515600" cy="5358947"/>
          </a:xfrm>
        </p:spPr>
        <p:txBody>
          <a:bodyPr>
            <a:normAutofit/>
          </a:bodyPr>
          <a:lstStyle/>
          <a:p>
            <a:r>
              <a:rPr lang="es-CR" sz="2400" dirty="0" smtClean="0"/>
              <a:t>Se utiliza un producto escalar entre variables que permiten asociar a los parámetros conocidos: desviación estándar, coeficiente de correlación lineal en las representaciones geométricas (se parte de que las variables están centradas).</a:t>
            </a:r>
          </a:p>
          <a:p>
            <a:endParaRPr lang="es-CR" sz="2400" dirty="0" smtClean="0"/>
          </a:p>
          <a:p>
            <a:pPr marL="0" indent="0">
              <a:buNone/>
            </a:pPr>
            <a:endParaRPr lang="es-CR" sz="2400" dirty="0" smtClean="0"/>
          </a:p>
          <a:p>
            <a:pPr marL="0" indent="0">
              <a:buNone/>
            </a:pPr>
            <a:endParaRPr lang="es-CR" sz="2400" dirty="0"/>
          </a:p>
          <a:p>
            <a:r>
              <a:rPr lang="es-CR" sz="2400" dirty="0" smtClean="0"/>
              <a:t>Las ecuaciones restantes son: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interpretación de la proximidad entre variables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519" y="2825179"/>
            <a:ext cx="2671063" cy="68512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04" y="4633423"/>
            <a:ext cx="2638489" cy="149259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728" y="4727220"/>
            <a:ext cx="1107514" cy="13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43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6280" y="93312"/>
            <a:ext cx="10515600" cy="897618"/>
          </a:xfrm>
        </p:spPr>
        <p:txBody>
          <a:bodyPr/>
          <a:lstStyle/>
          <a:p>
            <a:r>
              <a:rPr lang="es-CR" dirty="0"/>
              <a:t>El PCA</a:t>
            </a:r>
            <a:r>
              <a:rPr lang="es-CR" dirty="0" smtClean="0"/>
              <a:t>: coeficiente de correlación </a:t>
            </a:r>
            <a:r>
              <a:rPr lang="es-CR" dirty="0" smtClean="0"/>
              <a:t>lineal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72143" y="1137648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Para asociar a las variables en el circulo de relación, el coseno del alguno formado por las variables Xi y </a:t>
            </a:r>
            <a:r>
              <a:rPr lang="es-CR" sz="2400" dirty="0" err="1" smtClean="0"/>
              <a:t>Xj</a:t>
            </a:r>
            <a:r>
              <a:rPr lang="es-CR" sz="2400" dirty="0" smtClean="0"/>
              <a:t> es el coeficiente de correlación lineal de las dos variables.</a:t>
            </a:r>
          </a:p>
          <a:p>
            <a:endParaRPr lang="es-CR" sz="2400" dirty="0"/>
          </a:p>
          <a:p>
            <a:endParaRPr lang="es-CR" sz="2400" dirty="0" smtClean="0"/>
          </a:p>
          <a:p>
            <a:endParaRPr lang="es-CR" sz="2400" dirty="0" smtClean="0"/>
          </a:p>
          <a:p>
            <a:endParaRPr lang="es-CR" sz="2400" dirty="0"/>
          </a:p>
          <a:p>
            <a:r>
              <a:rPr lang="es-CR" sz="2400" dirty="0" smtClean="0"/>
              <a:t>Una interpretación según el circulo es la siguiente: </a:t>
            </a:r>
          </a:p>
          <a:p>
            <a:endParaRPr lang="es-CR" sz="2400" dirty="0" smtClean="0"/>
          </a:p>
          <a:p>
            <a:endParaRPr lang="es-E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302" y="2136478"/>
            <a:ext cx="5342127" cy="10113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t="6994" b="4237"/>
          <a:stretch/>
        </p:blipFill>
        <p:spPr>
          <a:xfrm>
            <a:off x="1130019" y="4505408"/>
            <a:ext cx="1955283" cy="1967156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3943178" y="4545874"/>
            <a:ext cx="2734491" cy="943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X</a:t>
            </a:r>
            <a:r>
              <a:rPr lang="es-CR" baseline="30000" dirty="0" smtClean="0"/>
              <a:t>1</a:t>
            </a:r>
            <a:r>
              <a:rPr lang="es-CR" dirty="0" smtClean="0"/>
              <a:t> y X</a:t>
            </a:r>
            <a:r>
              <a:rPr lang="es-CR" baseline="30000" dirty="0" smtClean="0"/>
              <a:t>2</a:t>
            </a:r>
            <a:r>
              <a:rPr lang="es-CR" dirty="0" smtClean="0"/>
              <a:t> poseen una correlación cercana a 1.</a:t>
            </a:r>
            <a:endParaRPr lang="es-ES" dirty="0"/>
          </a:p>
        </p:txBody>
      </p:sp>
      <p:sp>
        <p:nvSpPr>
          <p:cNvPr id="7" name="Rectángulo redondeado 6"/>
          <p:cNvSpPr/>
          <p:nvPr/>
        </p:nvSpPr>
        <p:spPr>
          <a:xfrm>
            <a:off x="3943177" y="5696207"/>
            <a:ext cx="2734491" cy="943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X</a:t>
            </a:r>
            <a:r>
              <a:rPr lang="es-CR" baseline="30000" dirty="0" smtClean="0"/>
              <a:t>1</a:t>
            </a:r>
            <a:r>
              <a:rPr lang="es-CR" dirty="0" smtClean="0"/>
              <a:t> y X</a:t>
            </a:r>
            <a:r>
              <a:rPr lang="es-CR" baseline="30000" dirty="0" smtClean="0"/>
              <a:t>3</a:t>
            </a:r>
            <a:r>
              <a:rPr lang="es-CR" dirty="0" smtClean="0"/>
              <a:t> poseen una correlación cercana a 0.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8125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98525" y="2628900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Validación de los resultados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4190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6091" y="992776"/>
            <a:ext cx="9170126" cy="5799909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Para conocer la validez de los resultados globales, se pueden utilizar criterios de la parte explicada por la inercia para el eje </a:t>
            </a:r>
            <a:r>
              <a:rPr lang="es-CR" sz="2400" i="1" dirty="0" smtClean="0"/>
              <a:t>i</a:t>
            </a:r>
            <a:r>
              <a:rPr lang="es-CR" sz="2400" dirty="0" smtClean="0"/>
              <a:t>.</a:t>
            </a:r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Para el caso de los dos primeros componentes, utilizaríamos el siguiente criterio.</a:t>
            </a:r>
          </a:p>
          <a:p>
            <a:pPr algn="just"/>
            <a:endParaRPr lang="es-CR" sz="2400" dirty="0"/>
          </a:p>
          <a:p>
            <a:pPr marL="0" indent="0" algn="just">
              <a:buNone/>
            </a:pPr>
            <a:endParaRPr lang="es-CR" sz="2400" dirty="0"/>
          </a:p>
          <a:p>
            <a:pPr algn="just"/>
            <a:r>
              <a:rPr lang="es-CR" sz="2400" dirty="0" smtClean="0"/>
              <a:t>Este criterio, muy amenudeo expresado en porcentaje, mide el grado de reconstitución de los cuadrados según la distancia.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Entre mayor correlación entre las variables, la reducción de variables será más contundente. 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validación de la representación gráfica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090" y="1956746"/>
            <a:ext cx="1596123" cy="68512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r="3533"/>
          <a:stretch/>
        </p:blipFill>
        <p:spPr>
          <a:xfrm>
            <a:off x="4551205" y="3605841"/>
            <a:ext cx="659891" cy="81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53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4063" y="1067980"/>
            <a:ext cx="9734006" cy="5210900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Para determinar la cantidad de ejes, se puede utilizar el porcentaje de inercia requerido (a priori), o dividir la inercia total según la cantidad de variables iniciales.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 Otro método es dibujar un histograma con todos las contribuciones de todas las inercias, y ver donde es que se da un punto de corte</a:t>
            </a:r>
            <a:r>
              <a:rPr lang="es-CR" sz="2400" dirty="0" smtClean="0"/>
              <a:t>. Este método tiene por representación el gráfico de sedimentación.</a:t>
            </a:r>
            <a:endParaRPr lang="es-CR" sz="2400" dirty="0" smtClean="0"/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este se </a:t>
            </a:r>
            <a:r>
              <a:rPr lang="es-CR" sz="2400" dirty="0" smtClean="0"/>
              <a:t>conservan </a:t>
            </a:r>
            <a:r>
              <a:rPr lang="es-CR" sz="2400" dirty="0" smtClean="0"/>
              <a:t>los ejes o el número de componentes </a:t>
            </a:r>
            <a:br>
              <a:rPr lang="es-CR" sz="2400" dirty="0" smtClean="0"/>
            </a:br>
            <a:r>
              <a:rPr lang="es-CR" sz="2400" dirty="0" smtClean="0"/>
              <a:t>situados antes del corte. </a:t>
            </a:r>
            <a:endParaRPr lang="es-ES" sz="2400" dirty="0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cantidad de ejes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009" y="4884328"/>
            <a:ext cx="2714311" cy="1830501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8168641" y="5127762"/>
            <a:ext cx="2516777" cy="10363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En este caso elegiríamos 3 componentes.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0455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76646" y="1198607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Se utiliza los cosenos cuadrados: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criterios individuales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417" y="1863742"/>
            <a:ext cx="6695531" cy="452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63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46018" y="1102813"/>
            <a:ext cx="9150532" cy="5472157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Para </a:t>
            </a:r>
            <a:r>
              <a:rPr lang="es-CR" sz="2400" b="1" i="1" dirty="0" smtClean="0"/>
              <a:t>cada</a:t>
            </a:r>
            <a:r>
              <a:rPr lang="es-CR" sz="2400" dirty="0" smtClean="0"/>
              <a:t> individuo, la calidad de la representación se define por el cuadrado del coseno del </a:t>
            </a:r>
            <a:r>
              <a:rPr lang="es-CR" sz="2400" dirty="0"/>
              <a:t>á</a:t>
            </a:r>
            <a:r>
              <a:rPr lang="es-CR" sz="2400" dirty="0" smtClean="0"/>
              <a:t>ngulo entre el eje de proyección y el vector </a:t>
            </a:r>
            <a:r>
              <a:rPr lang="es-CR" sz="2400" dirty="0" err="1" smtClean="0"/>
              <a:t>e</a:t>
            </a:r>
            <a:r>
              <a:rPr lang="es-CR" sz="2400" baseline="-25000" dirty="0" err="1" smtClean="0"/>
              <a:t>i</a:t>
            </a:r>
            <a:r>
              <a:rPr lang="es-CR" sz="2400" dirty="0" smtClean="0"/>
              <a:t>. Entre más cerca es cercana a 1, mejor es la calidad de la representación.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general, las calidades en la representación están dadas eje a eje. Para tener la calidad de la representación en un plano, se suma los criterios correspondientes a los ejes estudiados.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Este criterio no tiene sentido para los casos cercanos del origen.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Si se detectan individuos con cosenos cuadrados débiles, se debe tener cuenta de su distancia al origen antes de pensar sobre una mala representación. </a:t>
            </a:r>
          </a:p>
          <a:p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criterios individuales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2091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0628" y="1155065"/>
            <a:ext cx="10515600" cy="53502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Es útil también calcular para cada eje la contribución brindada para los diversos individuos al eje.</a:t>
            </a:r>
          </a:p>
          <a:p>
            <a:endParaRPr lang="es-CR" sz="2400" dirty="0"/>
          </a:p>
          <a:p>
            <a:r>
              <a:rPr lang="es-CR" sz="2400" dirty="0" smtClean="0"/>
              <a:t>Consideremos el </a:t>
            </a:r>
            <a:r>
              <a:rPr lang="es-CR" sz="2400" i="1" dirty="0" smtClean="0"/>
              <a:t>k</a:t>
            </a:r>
            <a:r>
              <a:rPr lang="es-CR" sz="2400" dirty="0" smtClean="0"/>
              <a:t>-</a:t>
            </a:r>
            <a:r>
              <a:rPr lang="es-CR" sz="2400" dirty="0" err="1" smtClean="0"/>
              <a:t>ésimo</a:t>
            </a:r>
            <a:r>
              <a:rPr lang="es-CR" sz="2400" dirty="0" smtClean="0"/>
              <a:t> componente principal </a:t>
            </a:r>
            <a:r>
              <a:rPr lang="es-CR" sz="2400" dirty="0" err="1"/>
              <a:t>C</a:t>
            </a:r>
            <a:r>
              <a:rPr lang="es-CR" sz="2400" baseline="30000" dirty="0" err="1" smtClean="0"/>
              <a:t>k</a:t>
            </a:r>
            <a:r>
              <a:rPr lang="es-CR" sz="2400" dirty="0" smtClean="0"/>
              <a:t>, sea </a:t>
            </a:r>
            <a:r>
              <a:rPr lang="es-CR" sz="2400" dirty="0" err="1" smtClean="0"/>
              <a:t>C</a:t>
            </a:r>
            <a:r>
              <a:rPr lang="es-CR" sz="2400" baseline="30000" dirty="0" err="1" smtClean="0"/>
              <a:t>k</a:t>
            </a:r>
            <a:r>
              <a:rPr lang="es-CR" sz="2400" baseline="-25000" dirty="0" err="1" smtClean="0"/>
              <a:t>i</a:t>
            </a:r>
            <a:r>
              <a:rPr lang="es-CR" sz="2400" baseline="-25000" dirty="0" smtClean="0"/>
              <a:t> </a:t>
            </a:r>
            <a:r>
              <a:rPr lang="es-CR" sz="2400" dirty="0" smtClean="0"/>
              <a:t>el valor del componente para el individuo i. Este en termino </a:t>
            </a:r>
            <a:r>
              <a:rPr lang="es-CR" sz="2400" dirty="0" smtClean="0"/>
              <a:t>de </a:t>
            </a:r>
            <a:r>
              <a:rPr lang="es-CR" sz="2400" b="1" i="1" dirty="0" smtClean="0"/>
              <a:t>inercia</a:t>
            </a:r>
            <a:r>
              <a:rPr lang="es-CR" sz="2400" dirty="0" smtClean="0"/>
              <a:t> sería: </a:t>
            </a:r>
          </a:p>
          <a:p>
            <a:endParaRPr lang="es-CR" sz="2400" dirty="0"/>
          </a:p>
          <a:p>
            <a:endParaRPr lang="es-CR" sz="2400" dirty="0" smtClean="0"/>
          </a:p>
          <a:p>
            <a:endParaRPr lang="es-CR" sz="2400" dirty="0"/>
          </a:p>
          <a:p>
            <a:r>
              <a:rPr lang="es-CR" sz="2400" dirty="0" smtClean="0"/>
              <a:t>La </a:t>
            </a:r>
            <a:r>
              <a:rPr lang="es-CR" sz="2400" b="1" i="1" dirty="0" smtClean="0"/>
              <a:t>contribución</a:t>
            </a:r>
            <a:r>
              <a:rPr lang="es-CR" sz="2400" dirty="0" smtClean="0"/>
              <a:t> del individuo </a:t>
            </a:r>
            <a:r>
              <a:rPr lang="es-CR" sz="2400" dirty="0" err="1" smtClean="0"/>
              <a:t>ei</a:t>
            </a:r>
            <a:r>
              <a:rPr lang="es-CR" sz="2400" dirty="0" smtClean="0"/>
              <a:t> al componente n° k se definiría por la ecuación: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criterios individuales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r="3214"/>
          <a:stretch/>
        </p:blipFill>
        <p:spPr>
          <a:xfrm>
            <a:off x="3328671" y="3462774"/>
            <a:ext cx="1817671" cy="73475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392" y="5212220"/>
            <a:ext cx="1215942" cy="120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87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3103" y="1242151"/>
            <a:ext cx="9507583" cy="480159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No </a:t>
            </a:r>
            <a:r>
              <a:rPr lang="es-CR" sz="2400" dirty="0" smtClean="0"/>
              <a:t>es</a:t>
            </a:r>
            <a:r>
              <a:rPr lang="es-CR" sz="2400" dirty="0" smtClean="0"/>
              <a:t> </a:t>
            </a:r>
            <a:r>
              <a:rPr lang="es-CR" sz="2400" dirty="0" smtClean="0"/>
              <a:t>aconsejable que un individuo tenga una contribución excesiva, dado que provoca la inestabilidad. </a:t>
            </a:r>
            <a:endParaRPr lang="es-CR" sz="2400" dirty="0"/>
          </a:p>
          <a:p>
            <a:endParaRPr lang="es-CR" sz="2400" dirty="0" smtClean="0"/>
          </a:p>
          <a:p>
            <a:r>
              <a:rPr lang="es-CR" sz="2400" dirty="0" smtClean="0"/>
              <a:t>En dicho </a:t>
            </a:r>
            <a:r>
              <a:rPr lang="es-CR" sz="2400" dirty="0" smtClean="0"/>
              <a:t>caso se </a:t>
            </a:r>
            <a:r>
              <a:rPr lang="es-CR" sz="2400" dirty="0" smtClean="0"/>
              <a:t>prefiere eliminar al o los casos que poseen contribución importantes.</a:t>
            </a:r>
          </a:p>
          <a:p>
            <a:endParaRPr lang="es-CR" sz="2400" dirty="0"/>
          </a:p>
          <a:p>
            <a:r>
              <a:rPr lang="es-CR" sz="2400" dirty="0" smtClean="0"/>
              <a:t>Este caso se puede presentar en las encuestas por muestreo.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criterios individuales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3369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20188" y="1320528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El círculo de las correlaciones es la proyección de la nube de las variables sobre el plano de los componentes principales.</a:t>
            </a:r>
          </a:p>
          <a:p>
            <a:endParaRPr lang="es-CR" sz="2400" dirty="0"/>
          </a:p>
          <a:p>
            <a:r>
              <a:rPr lang="es-CR" sz="2400" dirty="0" smtClean="0"/>
              <a:t>Las variables que están bien representadas son aquellas que están cercanas al círculo. Caso contrarias, aquellas cerca del origen están mal representadas. 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representación de las variables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302" y="3735978"/>
            <a:ext cx="2864303" cy="2721428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5878285" y="3866604"/>
            <a:ext cx="3230881" cy="9927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Correlación = coseno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5435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4028" y="103868"/>
            <a:ext cx="10515600" cy="827949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Ejemplos </a:t>
            </a:r>
            <a:r>
              <a:rPr lang="es-CR" dirty="0" smtClean="0"/>
              <a:t>ilustrativos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0850" y="1189898"/>
            <a:ext cx="11789229" cy="5480867"/>
          </a:xfrm>
        </p:spPr>
        <p:txBody>
          <a:bodyPr>
            <a:normAutofit/>
          </a:bodyPr>
          <a:lstStyle/>
          <a:p>
            <a:r>
              <a:rPr lang="es-CR" sz="2400" dirty="0" smtClean="0"/>
              <a:t>Los ejemplos se encuentran en el laboratorio y en los siguientes enlaces:</a:t>
            </a:r>
          </a:p>
          <a:p>
            <a:endParaRPr lang="es-CR" sz="2400" dirty="0"/>
          </a:p>
          <a:p>
            <a:r>
              <a:rPr lang="es-CR" sz="2400" dirty="0">
                <a:hlinkClick r:id="rId2"/>
              </a:rPr>
              <a:t>http://</a:t>
            </a:r>
            <a:r>
              <a:rPr lang="es-CR" sz="2400" dirty="0" smtClean="0">
                <a:hlinkClick r:id="rId2"/>
              </a:rPr>
              <a:t>www.sthda.com/english/wiki/principal-component-analysis-in-r-prcomp-vs-princomp-r-software-and-data-mining</a:t>
            </a:r>
            <a:endParaRPr lang="es-CR" sz="2400" dirty="0" smtClean="0"/>
          </a:p>
          <a:p>
            <a:r>
              <a:rPr lang="es-CR" sz="2400" dirty="0">
                <a:hlinkClick r:id="rId3"/>
              </a:rPr>
              <a:t>http://</a:t>
            </a:r>
            <a:r>
              <a:rPr lang="es-CR" sz="2400" dirty="0" smtClean="0">
                <a:hlinkClick r:id="rId3"/>
              </a:rPr>
              <a:t>www.sthda.com/english/wiki/ade4-and-factoextra-principal-component-analysis-r-software-and-data-mining#at_pco=smlwn-1.0&amp;at_si=58d852c3ce898442&amp;at_ab=per-2&amp;at_pos=0&amp;at_tot=1</a:t>
            </a:r>
            <a:endParaRPr lang="es-CR" sz="2400" dirty="0" smtClean="0"/>
          </a:p>
          <a:p>
            <a:r>
              <a:rPr lang="es-CR" sz="2400" dirty="0">
                <a:hlinkClick r:id="rId4"/>
              </a:rPr>
              <a:t>http://</a:t>
            </a:r>
            <a:r>
              <a:rPr lang="es-CR" sz="2400" dirty="0" smtClean="0">
                <a:hlinkClick r:id="rId4"/>
              </a:rPr>
              <a:t>www.sthda.com/english/wiki/principal-component-analysis-how-to-reveal-the-most-important-variables-in-your-data-r-software-and-data-mining#at_pco=smlwn-1.0&amp;at_si=58d2e52d6d391656&amp;at_ab=per-2&amp;at_pos=0&amp;at_tot=1</a:t>
            </a:r>
            <a:endParaRPr lang="es-CR" sz="2400" dirty="0" smtClean="0"/>
          </a:p>
          <a:p>
            <a:r>
              <a:rPr lang="es-CR" sz="2400" dirty="0">
                <a:hlinkClick r:id="rId5"/>
              </a:rPr>
              <a:t>http://</a:t>
            </a:r>
            <a:r>
              <a:rPr lang="es-CR" sz="2400" dirty="0" smtClean="0">
                <a:hlinkClick r:id="rId5"/>
              </a:rPr>
              <a:t>www.sthda.com/english/wiki/factominer-and-factoextra-principal-component-analysis-visualization-r-software-and-data-mining</a:t>
            </a:r>
            <a:endParaRPr lang="es-CR" sz="2400" dirty="0" smtClean="0"/>
          </a:p>
          <a:p>
            <a:pPr marL="0" indent="0">
              <a:buNone/>
            </a:pPr>
            <a:endParaRPr lang="es-CR" sz="2400" dirty="0" smtClean="0"/>
          </a:p>
          <a:p>
            <a:endParaRPr lang="es-CR" sz="2400" dirty="0"/>
          </a:p>
          <a:p>
            <a:pPr marL="0" indent="0">
              <a:buNone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082131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1028" name="Picture 4" descr="Resultado de imagen para the e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814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2096</Words>
  <Application>Microsoft Office PowerPoint</Application>
  <PresentationFormat>Panorámica</PresentationFormat>
  <Paragraphs>244</Paragraphs>
  <Slides>38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Tema de Office</vt:lpstr>
      <vt:lpstr>Componentes Principales</vt:lpstr>
      <vt:lpstr>Introducción</vt:lpstr>
      <vt:lpstr>Introducción</vt:lpstr>
      <vt:lpstr>Introducción</vt:lpstr>
      <vt:lpstr>El PCA: los datos</vt:lpstr>
      <vt:lpstr>El PCA: los datos</vt:lpstr>
      <vt:lpstr>El PCA: objetivo</vt:lpstr>
      <vt:lpstr>El PCA: nuevo espacio vectorial</vt:lpstr>
      <vt:lpstr>Los individuos  </vt:lpstr>
      <vt:lpstr>El PCA: la menor perdida posible de información</vt:lpstr>
      <vt:lpstr>El PCA: la menor perdida posible de información</vt:lpstr>
      <vt:lpstr>El PCA: la elección de distancia entre los individuos </vt:lpstr>
      <vt:lpstr>El PCA: la elección de distancia entre los individuos </vt:lpstr>
      <vt:lpstr>El PCA: la inercia total</vt:lpstr>
      <vt:lpstr>El PCA: la inercia total</vt:lpstr>
      <vt:lpstr>El PCA: sobre la equivalencia en la perdida de información</vt:lpstr>
      <vt:lpstr>El PCA: sobre la equivalencia en la perdida de información</vt:lpstr>
      <vt:lpstr>El PCA: solución al problema originado</vt:lpstr>
      <vt:lpstr>El PCA: solución al problema originado</vt:lpstr>
      <vt:lpstr>El PCA: solución al problema originado</vt:lpstr>
      <vt:lpstr>El PCA: propiedad de los componentes principales</vt:lpstr>
      <vt:lpstr>El PCA: representación de los individuos</vt:lpstr>
      <vt:lpstr>El PCA: representación de los individuos</vt:lpstr>
      <vt:lpstr>El PCA: representación de los individuos</vt:lpstr>
      <vt:lpstr>Las variables</vt:lpstr>
      <vt:lpstr>El PCA: la representación de las variables</vt:lpstr>
      <vt:lpstr>El PCA: interpretación de la proximidad entre variables</vt:lpstr>
      <vt:lpstr>El PCA: coeficiente de correlación lineal</vt:lpstr>
      <vt:lpstr>Validación de los resultados</vt:lpstr>
      <vt:lpstr>El PCA: validación de la representación gráfica</vt:lpstr>
      <vt:lpstr>El PCA: cantidad de ejes</vt:lpstr>
      <vt:lpstr>El PCA: criterios individuales</vt:lpstr>
      <vt:lpstr>El PCA: criterios individuales</vt:lpstr>
      <vt:lpstr>El PCA: criterios individuales</vt:lpstr>
      <vt:lpstr>El PCA: criterios individuales</vt:lpstr>
      <vt:lpstr>El PCA: representación de las variables</vt:lpstr>
      <vt:lpstr>Ejemplos ilustrativos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Componentes Principales</dc:title>
  <dc:creator>Oscar</dc:creator>
  <cp:lastModifiedBy>Oscar</cp:lastModifiedBy>
  <cp:revision>64</cp:revision>
  <dcterms:created xsi:type="dcterms:W3CDTF">2017-03-25T22:55:59Z</dcterms:created>
  <dcterms:modified xsi:type="dcterms:W3CDTF">2017-03-27T23:44:38Z</dcterms:modified>
</cp:coreProperties>
</file>