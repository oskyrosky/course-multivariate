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82" r:id="rId5"/>
    <p:sldId id="274" r:id="rId6"/>
    <p:sldId id="275" r:id="rId7"/>
    <p:sldId id="276" r:id="rId8"/>
    <p:sldId id="283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85" r:id="rId18"/>
    <p:sldId id="286" r:id="rId19"/>
    <p:sldId id="287" r:id="rId20"/>
    <p:sldId id="269" r:id="rId21"/>
    <p:sldId id="277" r:id="rId22"/>
    <p:sldId id="278" r:id="rId23"/>
    <p:sldId id="279" r:id="rId24"/>
    <p:sldId id="280" r:id="rId25"/>
    <p:sldId id="281" r:id="rId26"/>
    <p:sldId id="284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65" autoAdjust="0"/>
  </p:normalViewPr>
  <p:slideViewPr>
    <p:cSldViewPr snapToGrid="0">
      <p:cViewPr varScale="1">
        <p:scale>
          <a:sx n="63" d="100"/>
          <a:sy n="63" d="100"/>
        </p:scale>
        <p:origin x="-99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4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4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274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99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323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313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28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137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543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94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02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E1D0C-5AE1-4729-B78C-23A29FD0A7A3}" type="datetimeFigureOut">
              <a:rPr lang="es-ES" smtClean="0"/>
              <a:pPr/>
              <a:t>19/05/2017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1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5097" y="77334"/>
            <a:ext cx="11364685" cy="1035671"/>
          </a:xfrm>
        </p:spPr>
        <p:txBody>
          <a:bodyPr>
            <a:normAutofit/>
          </a:bodyPr>
          <a:lstStyle/>
          <a:p>
            <a:r>
              <a:rPr lang="es-CR" dirty="0" smtClean="0"/>
              <a:t>Análisis discriminante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25782" y="5939247"/>
            <a:ext cx="9144000" cy="548640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  <p:pic>
        <p:nvPicPr>
          <p:cNvPr id="1026" name="Picture 2" descr="Resultado de imagen para discriminant analysi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9" t="8489" r="8501" b="5677"/>
          <a:stretch/>
        </p:blipFill>
        <p:spPr bwMode="auto">
          <a:xfrm>
            <a:off x="986841" y="1382971"/>
            <a:ext cx="6951814" cy="510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616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044" y="1115494"/>
            <a:ext cx="11144793" cy="5313022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s-CR" dirty="0"/>
              <a:t>El análisis discriminante es una técnica </a:t>
            </a:r>
            <a:r>
              <a:rPr lang="es-CR" dirty="0" err="1" smtClean="0"/>
              <a:t>multivariante</a:t>
            </a:r>
            <a:r>
              <a:rPr lang="es-CR" dirty="0" smtClean="0"/>
              <a:t> </a:t>
            </a:r>
            <a:r>
              <a:rPr lang="es-CR" dirty="0"/>
              <a:t>cuya finalidad es </a:t>
            </a:r>
            <a:r>
              <a:rPr lang="es-CR" dirty="0" smtClean="0"/>
              <a:t>describir </a:t>
            </a:r>
            <a:r>
              <a:rPr lang="es-CR" dirty="0"/>
              <a:t>las diferencias significativas entre </a:t>
            </a:r>
            <a:r>
              <a:rPr lang="es-CR" b="1" i="1" dirty="0"/>
              <a:t>k</a:t>
            </a:r>
            <a:r>
              <a:rPr lang="es-CR" dirty="0"/>
              <a:t> grupos de objetos </a:t>
            </a:r>
            <a:r>
              <a:rPr lang="es-CR" dirty="0" smtClean="0"/>
              <a:t>(k</a:t>
            </a:r>
            <a:r>
              <a:rPr lang="es-CR" dirty="0"/>
              <a:t> &gt; 1) sobre los que se observan </a:t>
            </a:r>
            <a:r>
              <a:rPr lang="es-CR" dirty="0" smtClean="0"/>
              <a:t> (</a:t>
            </a:r>
            <a:r>
              <a:rPr lang="es-CR" dirty="0"/>
              <a:t>variables discriminantes</a:t>
            </a:r>
            <a:r>
              <a:rPr lang="es-CR" dirty="0" smtClean="0"/>
              <a:t>).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CR" dirty="0"/>
          </a:p>
          <a:p>
            <a:pPr algn="just">
              <a:lnSpc>
                <a:spcPct val="110000"/>
              </a:lnSpc>
            </a:pPr>
            <a:r>
              <a:rPr lang="es-CR" dirty="0"/>
              <a:t>En caso de que estas diferencias existan, intentará explicar en qué sentido se dan y proporcionar procedimientos de asignación sistemática de nuevas observaciones con grupo desconocido a uno de los grupos analizados, utilizando para ello sus valores en las </a:t>
            </a:r>
            <a:r>
              <a:rPr lang="es-CR" b="1" i="1" dirty="0" smtClean="0"/>
              <a:t>k</a:t>
            </a:r>
            <a:r>
              <a:rPr lang="es-CR" dirty="0"/>
              <a:t> variables </a:t>
            </a:r>
            <a:r>
              <a:rPr lang="es-CR" dirty="0" smtClean="0"/>
              <a:t>clasificadoras.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46907" y="60324"/>
            <a:ext cx="10515600" cy="888909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4996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181190"/>
            <a:ext cx="11118668" cy="5297987"/>
          </a:xfrm>
        </p:spPr>
        <p:txBody>
          <a:bodyPr>
            <a:noAutofit/>
          </a:bodyPr>
          <a:lstStyle/>
          <a:p>
            <a:pPr algn="just"/>
            <a:r>
              <a:rPr lang="es-CR" dirty="0"/>
              <a:t>Podemos ver este procedimiento como un modelo de predicción de una variable respuesta categórica (variable grupo) a partir de </a:t>
            </a:r>
            <a:r>
              <a:rPr lang="es-CR" b="1" i="1" dirty="0"/>
              <a:t>k</a:t>
            </a:r>
            <a:r>
              <a:rPr lang="es-CR" dirty="0"/>
              <a:t> variables explicativas generalmente continuas (variables clasificatorias). </a:t>
            </a:r>
            <a:endParaRPr lang="es-ES" dirty="0"/>
          </a:p>
          <a:p>
            <a:pPr marL="0" indent="0"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Supongamos que un conjunto de objetos está ya clasificado en una serie de grupos, es decir, se sabe previamente a qué grupos pertenecen.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Análisis Discriminante se puede considerar como un análisis de regresión donde la variable dependiente es categórica y tiene como categorías la etiqueta de cada uno de los grupos, y las variables independientes son continuas y determinan a qué grupos pertenecen los objetos.</a:t>
            </a:r>
          </a:p>
        </p:txBody>
      </p:sp>
    </p:spTree>
    <p:extLst>
      <p:ext uri="{BB962C8B-B14F-4D97-AF65-F5344CB8AC3E}">
        <p14:creationId xmlns:p14="http://schemas.microsoft.com/office/powerpoint/2010/main" val="212686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49382" y="1246909"/>
            <a:ext cx="11028218" cy="5403273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/>
              <a:t> Se pretende encontrar relaciones lineales entre las variables continuas que mejor discriminen en los grupos dados a los objetos.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El objetivo es asignar los casos a cierto grupo, a partir de una regla que trata de discriminar o separar a los sujetos en los </a:t>
            </a:r>
            <a:r>
              <a:rPr lang="es-CR" b="1" i="1" dirty="0"/>
              <a:t>k</a:t>
            </a:r>
            <a:r>
              <a:rPr lang="es-CR" dirty="0"/>
              <a:t> grupos</a:t>
            </a:r>
            <a:r>
              <a:rPr lang="es-CR" dirty="0" smtClean="0"/>
              <a:t>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Un segundo objetivo es construir una regla de decisión que asigne un objeto nuevo, que no sabemos clasificar previamente, a uno de los grupos prefijados con un cierto grado de riesgo.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Esto es, a partir de las variables independientes, y sin conocer el grupo de pertenencia,  se trata de clasificar a una observación en uno de los </a:t>
            </a:r>
            <a:r>
              <a:rPr lang="es-CR" b="1" i="1" dirty="0"/>
              <a:t>k</a:t>
            </a:r>
            <a:r>
              <a:rPr lang="es-CR" dirty="0"/>
              <a:t> grupos</a:t>
            </a:r>
            <a:r>
              <a:rPr lang="es-CR" dirty="0" smtClean="0"/>
              <a:t>.</a:t>
            </a: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011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0683" y="1079863"/>
            <a:ext cx="11722770" cy="56578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R" b="1" u="sng" dirty="0" smtClean="0"/>
              <a:t>Medicina</a:t>
            </a:r>
          </a:p>
          <a:p>
            <a:pPr marL="0" indent="0">
              <a:buNone/>
            </a:pPr>
            <a:endParaRPr lang="es-CR" dirty="0"/>
          </a:p>
          <a:p>
            <a:pPr algn="just"/>
            <a:r>
              <a:rPr lang="es-CR" dirty="0" smtClean="0"/>
              <a:t>A partir de los </a:t>
            </a:r>
            <a:r>
              <a:rPr lang="es-CR" dirty="0" err="1" smtClean="0"/>
              <a:t>sintomas</a:t>
            </a:r>
            <a:r>
              <a:rPr lang="es-CR" dirty="0" smtClean="0"/>
              <a:t> presentados por el paciente, ¿podemos hacer un diagnóstico de su enfermedad?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u="sng" dirty="0" smtClean="0"/>
              <a:t>Finanzas</a:t>
            </a:r>
            <a:endParaRPr lang="es-ES" b="1" u="sng" dirty="0"/>
          </a:p>
          <a:p>
            <a:pPr marL="0" indent="0">
              <a:buNone/>
            </a:pPr>
            <a:endParaRPr lang="es-CR" dirty="0" smtClean="0"/>
          </a:p>
          <a:p>
            <a:pPr algn="just"/>
            <a:r>
              <a:rPr lang="es-CR" dirty="0" smtClean="0"/>
              <a:t>A partir de los balances de una empresa, es posible estimar el riesgo de quiebre en 2 o 3 años (</a:t>
            </a:r>
            <a:r>
              <a:rPr lang="es-CR" dirty="0" err="1" smtClean="0"/>
              <a:t>Scoring</a:t>
            </a:r>
            <a:r>
              <a:rPr lang="es-CR" dirty="0" smtClean="0"/>
              <a:t> financiero)?</a:t>
            </a:r>
          </a:p>
          <a:p>
            <a:endParaRPr lang="es-CR" dirty="0" smtClean="0"/>
          </a:p>
          <a:p>
            <a:pPr algn="just"/>
            <a:r>
              <a:rPr lang="es-CR" dirty="0" smtClean="0"/>
              <a:t>En la solicitud de un préstamo, ¿se puede predecirse, en función de las características del cliente, el riesgo de morosidad (puntuación de crédito)?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Áreas de aplicación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8696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4642" y="1079863"/>
            <a:ext cx="11305674" cy="5096348"/>
          </a:xfrm>
        </p:spPr>
        <p:txBody>
          <a:bodyPr/>
          <a:lstStyle/>
          <a:p>
            <a:pPr marL="0" indent="0">
              <a:buNone/>
            </a:pPr>
            <a:r>
              <a:rPr lang="es-CR" b="1" u="sng" dirty="0" smtClean="0"/>
              <a:t>Petroleras</a:t>
            </a:r>
          </a:p>
          <a:p>
            <a:pPr marL="0" indent="0">
              <a:buNone/>
            </a:pPr>
            <a:endParaRPr lang="es-CR" b="1" u="sng" dirty="0"/>
          </a:p>
          <a:p>
            <a:pPr marL="0" indent="0" algn="just">
              <a:buNone/>
            </a:pPr>
            <a:r>
              <a:rPr lang="es-CR" dirty="0" smtClean="0"/>
              <a:t>Dado el análisis de núcleos de una perforación, es posible suponer la existencia de una mancha de aceite?</a:t>
            </a:r>
            <a:endParaRPr lang="es-ES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u="sng" dirty="0" smtClean="0"/>
              <a:t>Marketing</a:t>
            </a:r>
          </a:p>
          <a:p>
            <a:pPr marL="0" indent="0">
              <a:buNone/>
            </a:pPr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Es posible, a partir de las características de un cliente, predecir su respuesta a una oferta de productos por correo?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Áreas de aplicación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60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5433" y="140537"/>
            <a:ext cx="11117178" cy="1078664"/>
          </a:xfrm>
        </p:spPr>
        <p:txBody>
          <a:bodyPr/>
          <a:lstStyle/>
          <a:p>
            <a:pPr algn="ctr"/>
            <a:r>
              <a:rPr lang="es-CR" dirty="0" smtClean="0"/>
              <a:t>Objetivo del análisis discriminante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0843" y="1219201"/>
            <a:ext cx="11341767" cy="4351338"/>
          </a:xfrm>
        </p:spPr>
        <p:txBody>
          <a:bodyPr/>
          <a:lstStyle/>
          <a:p>
            <a:pPr algn="just"/>
            <a:r>
              <a:rPr lang="es-CR" dirty="0" smtClean="0"/>
              <a:t>Consiste en buscar nuevas variables (las variables discriminantes), que separan lo mejor posible los grupos de proyección en las </a:t>
            </a:r>
            <a:r>
              <a:rPr lang="es-CR" b="1" i="1" dirty="0" smtClean="0"/>
              <a:t>k</a:t>
            </a:r>
            <a:r>
              <a:rPr lang="es-CR" dirty="0" smtClean="0"/>
              <a:t> variables, de las </a:t>
            </a:r>
            <a:r>
              <a:rPr lang="es-CR" b="1" i="1" dirty="0" smtClean="0"/>
              <a:t>n</a:t>
            </a:r>
            <a:r>
              <a:rPr lang="es-CR" dirty="0" smtClean="0"/>
              <a:t> observaciones.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0842" y="2919664"/>
            <a:ext cx="6688573" cy="3429122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7780422" y="2689017"/>
            <a:ext cx="4090737" cy="14117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El eje 1 posee un buen poder de discriminación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7780422" y="4547957"/>
            <a:ext cx="4090737" cy="14117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El eje 2 no permite separar según su proyección a los dos grupos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56145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01437" y="129593"/>
            <a:ext cx="10515600" cy="1034190"/>
          </a:xfrm>
        </p:spPr>
        <p:txBody>
          <a:bodyPr/>
          <a:lstStyle/>
          <a:p>
            <a:pPr algn="ctr"/>
            <a:r>
              <a:rPr lang="es-CR" dirty="0" smtClean="0"/>
              <a:t>Construcción de la regla de decisión</a:t>
            </a:r>
            <a:endParaRPr lang="es-CR" dirty="0"/>
          </a:p>
        </p:txBody>
      </p:sp>
      <p:pic>
        <p:nvPicPr>
          <p:cNvPr id="1026" name="Picture 2" descr="Image result for discrimination analysi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1" b="5608"/>
          <a:stretch/>
        </p:blipFill>
        <p:spPr bwMode="auto">
          <a:xfrm>
            <a:off x="789708" y="1371599"/>
            <a:ext cx="5015345" cy="487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54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5" y="1357745"/>
            <a:ext cx="11170920" cy="5347855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tiene una variable categórica y el resto de variables son de intervalo o de razón y son independientes respecto de ella.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 necesario que existan al menos dos grupos, y para cada grupo se necesitan dos o más casos.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número de variables discriminantes debe ser menor que el número de objetos menos 2.  </a:t>
            </a:r>
            <a:r>
              <a:rPr lang="es-CR" sz="2400" dirty="0" smtClean="0">
                <a:sym typeface="Wingdings" panose="05000000000000000000" pitchFamily="2" charset="2"/>
              </a:rPr>
              <a:t>  </a:t>
            </a:r>
            <a:r>
              <a:rPr lang="es-CR" sz="2400" dirty="0" smtClean="0"/>
              <a:t>x1, ..., </a:t>
            </a:r>
            <a:r>
              <a:rPr lang="es-CR" sz="2400" dirty="0" err="1" smtClean="0"/>
              <a:t>xp</a:t>
            </a:r>
            <a:r>
              <a:rPr lang="es-CR" sz="2400" dirty="0" smtClean="0"/>
              <a:t>, donde p &lt; (n − 2) y </a:t>
            </a:r>
            <a:r>
              <a:rPr lang="es-CR" sz="2400" b="1" i="1" dirty="0" smtClean="0"/>
              <a:t>n</a:t>
            </a:r>
            <a:r>
              <a:rPr lang="es-CR" sz="2400" dirty="0" smtClean="0"/>
              <a:t> es el número de objetos.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Ninguna variable discriminante puede ser combinación lineal de otras variables discriminantes.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Restricciones del LDA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860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0" y="150340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El número máximo de funciones discriminantes es igual al mínimo entre el número de variables y el número de grupos menos 1 (con q grupos, (q − 1) funciones discriminantes).</a:t>
            </a:r>
            <a:endParaRPr lang="es-ES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Las matrices de covarianzas dentro de cada grupo deben ser aproximadamente iguales.</a:t>
            </a:r>
          </a:p>
          <a:p>
            <a:endParaRPr lang="es-CR" sz="2400" dirty="0"/>
          </a:p>
          <a:p>
            <a:r>
              <a:rPr lang="es-CR" sz="2400" dirty="0" smtClean="0"/>
              <a:t>Las variables continuas deben seguir una distribución normal </a:t>
            </a:r>
            <a:r>
              <a:rPr lang="es-CR" sz="2400" dirty="0" err="1" smtClean="0"/>
              <a:t>multivariante</a:t>
            </a:r>
            <a:r>
              <a:rPr lang="es-CR" sz="2400" dirty="0" smtClean="0"/>
              <a:t>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Restricciones del LDA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22551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0109" y="129995"/>
            <a:ext cx="11790218" cy="1030065"/>
          </a:xfrm>
        </p:spPr>
        <p:txBody>
          <a:bodyPr/>
          <a:lstStyle/>
          <a:p>
            <a:pPr algn="ctr"/>
            <a:r>
              <a:rPr lang="es-CR" dirty="0" smtClean="0"/>
              <a:t>Modelo matemático de la regla de discriminación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9829" y="1304321"/>
            <a:ext cx="10515600" cy="4351338"/>
          </a:xfrm>
        </p:spPr>
        <p:txBody>
          <a:bodyPr/>
          <a:lstStyle/>
          <a:p>
            <a:pPr algn="just"/>
            <a:r>
              <a:rPr lang="es-CR" dirty="0" smtClean="0"/>
              <a:t>A partir </a:t>
            </a:r>
            <a:r>
              <a:rPr lang="es-CR" dirty="0"/>
              <a:t>de </a:t>
            </a:r>
            <a:r>
              <a:rPr lang="es-CR" i="1" dirty="0"/>
              <a:t>q</a:t>
            </a:r>
            <a:r>
              <a:rPr lang="es-CR" dirty="0"/>
              <a:t> grupos donde se asignan a una serie de objetos y de </a:t>
            </a:r>
            <a:r>
              <a:rPr lang="es-CR" dirty="0" smtClean="0"/>
              <a:t>k </a:t>
            </a:r>
            <a:r>
              <a:rPr lang="es-CR" dirty="0"/>
              <a:t>variables </a:t>
            </a:r>
            <a:r>
              <a:rPr lang="es-CR" dirty="0" smtClean="0"/>
              <a:t>medidas sobre </a:t>
            </a:r>
            <a:r>
              <a:rPr lang="es-CR" dirty="0"/>
              <a:t>ellos (x1, . . . , </a:t>
            </a:r>
            <a:r>
              <a:rPr lang="es-CR" dirty="0" err="1"/>
              <a:t>xp</a:t>
            </a:r>
            <a:r>
              <a:rPr lang="es-CR" dirty="0"/>
              <a:t>), se trata de obtener para cada objeto una serie de </a:t>
            </a:r>
            <a:r>
              <a:rPr lang="es-CR" dirty="0" smtClean="0"/>
              <a:t>puntuaciones que </a:t>
            </a:r>
            <a:r>
              <a:rPr lang="es-CR" dirty="0"/>
              <a:t>indican el grupo al que pertenecen (y1, . . . , </a:t>
            </a:r>
            <a:r>
              <a:rPr lang="es-CR" dirty="0" err="1"/>
              <a:t>ym</a:t>
            </a:r>
            <a:r>
              <a:rPr lang="es-CR" dirty="0"/>
              <a:t>), de modo que sean funciones </a:t>
            </a:r>
            <a:r>
              <a:rPr lang="es-CR" dirty="0" smtClean="0"/>
              <a:t>lineales </a:t>
            </a:r>
            <a:r>
              <a:rPr lang="es-ES" dirty="0" smtClean="0"/>
              <a:t>de </a:t>
            </a:r>
            <a:r>
              <a:rPr lang="es-ES" dirty="0"/>
              <a:t>x1, . . . , </a:t>
            </a:r>
            <a:r>
              <a:rPr lang="es-ES" dirty="0" err="1" smtClean="0"/>
              <a:t>xp</a:t>
            </a:r>
            <a:r>
              <a:rPr lang="es-ES" dirty="0" smtClean="0"/>
              <a:t>.</a:t>
            </a:r>
          </a:p>
          <a:p>
            <a:endParaRPr lang="es-CR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99917" y="3368529"/>
            <a:ext cx="7205504" cy="260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245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9310" y="1233891"/>
            <a:ext cx="10515600" cy="4351338"/>
          </a:xfrm>
        </p:spPr>
        <p:txBody>
          <a:bodyPr/>
          <a:lstStyle/>
          <a:p>
            <a:pPr algn="just"/>
            <a:r>
              <a:rPr lang="es-CR" dirty="0" smtClean="0"/>
              <a:t>Se busca que las funciones </a:t>
            </a:r>
            <a:r>
              <a:rPr lang="es-CR" dirty="0" err="1" smtClean="0"/>
              <a:t>yi</a:t>
            </a:r>
            <a:r>
              <a:rPr lang="es-CR" dirty="0" smtClean="0"/>
              <a:t> discriminen </a:t>
            </a:r>
            <a:r>
              <a:rPr lang="es-CR" dirty="0"/>
              <a:t>o separen lo </a:t>
            </a:r>
            <a:r>
              <a:rPr lang="es-CR" dirty="0" smtClean="0"/>
              <a:t>mejor posible </a:t>
            </a:r>
            <a:r>
              <a:rPr lang="es-CR" dirty="0"/>
              <a:t>a los </a:t>
            </a:r>
            <a:r>
              <a:rPr lang="es-CR" dirty="0" smtClean="0"/>
              <a:t>grupos.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 </a:t>
            </a:r>
            <a:r>
              <a:rPr lang="es-CR" dirty="0"/>
              <a:t>Estas combinaciones lineales de las </a:t>
            </a:r>
            <a:r>
              <a:rPr lang="es-CR" b="1" i="1" dirty="0"/>
              <a:t>k</a:t>
            </a:r>
            <a:r>
              <a:rPr lang="es-CR" dirty="0" smtClean="0"/>
              <a:t> </a:t>
            </a:r>
            <a:r>
              <a:rPr lang="es-CR" dirty="0"/>
              <a:t>variables deben maximizar la varianza </a:t>
            </a:r>
            <a:r>
              <a:rPr lang="es-CR" dirty="0" smtClean="0"/>
              <a:t>entre los </a:t>
            </a:r>
            <a:r>
              <a:rPr lang="es-CR" dirty="0"/>
              <a:t>grupos y minimizar la varianza dentro de los grupos.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14801" y="206944"/>
            <a:ext cx="10762397" cy="102694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68375" y="3874711"/>
            <a:ext cx="3009260" cy="273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986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8817" y="1169985"/>
            <a:ext cx="10813473" cy="5216960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Se puede descomponer la variabilidad total de la muestra en variabilidad dentro de </a:t>
            </a:r>
            <a:r>
              <a:rPr lang="es-CR" dirty="0" smtClean="0"/>
              <a:t>los grupos </a:t>
            </a:r>
            <a:r>
              <a:rPr lang="es-CR" dirty="0"/>
              <a:t>y entre los </a:t>
            </a:r>
            <a:r>
              <a:rPr lang="es-CR" dirty="0" smtClean="0"/>
              <a:t>grupos. </a:t>
            </a:r>
          </a:p>
          <a:p>
            <a:pPr algn="just"/>
            <a:endParaRPr lang="es-CR" dirty="0"/>
          </a:p>
          <a:p>
            <a:r>
              <a:rPr lang="es-CR" dirty="0" smtClean="0"/>
              <a:t>Se busca que la </a:t>
            </a:r>
            <a:r>
              <a:rPr lang="es-CR" dirty="0"/>
              <a:t>covarianza </a:t>
            </a:r>
            <a:r>
              <a:rPr lang="es-CR" dirty="0" smtClean="0"/>
              <a:t>total, que </a:t>
            </a:r>
            <a:r>
              <a:rPr lang="es-CR" dirty="0"/>
              <a:t>es igual a la covarianza dentro de grupos más la </a:t>
            </a:r>
            <a:r>
              <a:rPr lang="es-CR" dirty="0" smtClean="0"/>
              <a:t>covarianza </a:t>
            </a:r>
            <a:r>
              <a:rPr lang="es-ES" dirty="0" smtClean="0"/>
              <a:t>entre grupos, sea lo más pequeña entre los grupos, y lo más grande dentro de los grupos.</a:t>
            </a:r>
          </a:p>
          <a:p>
            <a:endParaRPr lang="es-CR" dirty="0" smtClean="0"/>
          </a:p>
          <a:p>
            <a:r>
              <a:rPr lang="es-CR" dirty="0" smtClean="0"/>
              <a:t>Esto es, que todo se pueda explicar dentro de los grupos, y no entre los grupos.</a:t>
            </a:r>
            <a:endParaRPr lang="es-CR" dirty="0"/>
          </a:p>
          <a:p>
            <a:endParaRPr lang="es-CR" dirty="0"/>
          </a:p>
          <a:p>
            <a:r>
              <a:rPr lang="es-CR" dirty="0" smtClean="0"/>
              <a:t>Esto produce una separación correcta entre los grupos.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55070" y="118015"/>
            <a:ext cx="10515600" cy="90411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041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1597" y="1361600"/>
            <a:ext cx="10515600" cy="4970961"/>
          </a:xfrm>
        </p:spPr>
        <p:txBody>
          <a:bodyPr/>
          <a:lstStyle/>
          <a:p>
            <a:r>
              <a:rPr lang="es-CR" dirty="0"/>
              <a:t>En notación matricial esto es equivalente </a:t>
            </a:r>
            <a:r>
              <a:rPr lang="es-CR" dirty="0" smtClean="0"/>
              <a:t>a</a:t>
            </a:r>
          </a:p>
          <a:p>
            <a:endParaRPr lang="es-CR" dirty="0"/>
          </a:p>
          <a:p>
            <a:pPr marL="0" indent="0">
              <a:buNone/>
            </a:pPr>
            <a:r>
              <a:rPr lang="es-ES" dirty="0"/>
              <a:t>T = E + </a:t>
            </a:r>
            <a:r>
              <a:rPr lang="es-ES" dirty="0" smtClean="0"/>
              <a:t>D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ES" dirty="0"/>
              <a:t>donde</a:t>
            </a:r>
            <a:r>
              <a:rPr lang="es-ES" dirty="0" smtClean="0"/>
              <a:t>: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	T </a:t>
            </a:r>
            <a:r>
              <a:rPr lang="es-ES" dirty="0"/>
              <a:t>= matriz de covarianzas total</a:t>
            </a:r>
          </a:p>
          <a:p>
            <a:pPr marL="0" indent="0">
              <a:buNone/>
            </a:pPr>
            <a:r>
              <a:rPr lang="pt-BR" dirty="0" smtClean="0"/>
              <a:t>	E </a:t>
            </a:r>
            <a:r>
              <a:rPr lang="pt-BR" dirty="0"/>
              <a:t>= matriz de </a:t>
            </a:r>
            <a:r>
              <a:rPr lang="pt-BR" dirty="0" err="1"/>
              <a:t>covarianzas</a:t>
            </a:r>
            <a:r>
              <a:rPr lang="pt-BR" dirty="0"/>
              <a:t> entre grupos</a:t>
            </a:r>
          </a:p>
          <a:p>
            <a:pPr marL="0" indent="0">
              <a:buNone/>
            </a:pPr>
            <a:r>
              <a:rPr lang="es-ES" dirty="0" smtClean="0"/>
              <a:t>	D </a:t>
            </a:r>
            <a:r>
              <a:rPr lang="es-ES" dirty="0"/>
              <a:t>= matriz de covarianzas dentro de grupos.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15000"/>
            <a:ext cx="10515600" cy="90411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153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/>
              <a:t>Extracción de las funciones discriminantes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8490" y="1310185"/>
            <a:ext cx="11177516" cy="5418161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/>
              <a:t>La idea básica del Análisis Discriminante consiste en extraer a partir de x1, . . . , </a:t>
            </a:r>
            <a:r>
              <a:rPr lang="es-CR" dirty="0" err="1" smtClean="0"/>
              <a:t>xk</a:t>
            </a:r>
            <a:r>
              <a:rPr lang="es-CR" dirty="0" smtClean="0"/>
              <a:t> variables </a:t>
            </a:r>
            <a:r>
              <a:rPr lang="es-CR" dirty="0"/>
              <a:t>observadas en k grupos, m funciones y1, . . . , </a:t>
            </a:r>
            <a:r>
              <a:rPr lang="es-CR" dirty="0" err="1"/>
              <a:t>ym</a:t>
            </a:r>
            <a:r>
              <a:rPr lang="es-CR" dirty="0"/>
              <a:t> de </a:t>
            </a:r>
            <a:r>
              <a:rPr lang="es-CR" dirty="0" smtClean="0"/>
              <a:t>forma:</a:t>
            </a:r>
          </a:p>
          <a:p>
            <a:endParaRPr lang="es-CR" dirty="0" smtClean="0"/>
          </a:p>
          <a:p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r>
              <a:rPr lang="es-CR" dirty="0"/>
              <a:t>Las funciones y1, . . . , </a:t>
            </a:r>
            <a:r>
              <a:rPr lang="es-CR" dirty="0" err="1"/>
              <a:t>ym</a:t>
            </a:r>
            <a:r>
              <a:rPr lang="es-CR" dirty="0"/>
              <a:t> se extraen de modo </a:t>
            </a:r>
            <a:r>
              <a:rPr lang="es-CR" dirty="0" smtClean="0"/>
              <a:t>que: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dirty="0"/>
              <a:t>y1 sea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</a:t>
            </a:r>
            <a:r>
              <a:rPr lang="es-ES" dirty="0" smtClean="0"/>
              <a:t>posible </a:t>
            </a:r>
            <a:r>
              <a:rPr lang="es-ES" dirty="0"/>
              <a:t>entre los grupos</a:t>
            </a:r>
            <a:r>
              <a:rPr lang="es-E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dirty="0"/>
              <a:t>y2 sea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 posible </a:t>
            </a:r>
            <a:r>
              <a:rPr lang="es-CR" dirty="0"/>
              <a:t>entre los grupos, después de y1, tal que </a:t>
            </a:r>
            <a:r>
              <a:rPr lang="es-CR" dirty="0" err="1"/>
              <a:t>corr</a:t>
            </a:r>
            <a:r>
              <a:rPr lang="es-CR" dirty="0"/>
              <a:t>(</a:t>
            </a:r>
            <a:r>
              <a:rPr lang="es-CR" dirty="0" err="1"/>
              <a:t>yi</a:t>
            </a:r>
            <a:r>
              <a:rPr lang="es-CR" dirty="0"/>
              <a:t>, y2) = 0</a:t>
            </a:r>
            <a:r>
              <a:rPr lang="es-CR" dirty="0" smtClean="0"/>
              <a:t>. Se supone independencia entre las reglas.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4779" y="2674961"/>
            <a:ext cx="5481939" cy="5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5652" y="1294403"/>
            <a:ext cx="10515600" cy="5023270"/>
          </a:xfrm>
        </p:spPr>
        <p:txBody>
          <a:bodyPr/>
          <a:lstStyle/>
          <a:p>
            <a:pPr algn="just"/>
            <a:r>
              <a:rPr lang="es-CR" dirty="0"/>
              <a:t>En general, </a:t>
            </a:r>
            <a:r>
              <a:rPr lang="es-CR" dirty="0" err="1"/>
              <a:t>yi</a:t>
            </a:r>
            <a:r>
              <a:rPr lang="es-CR" dirty="0"/>
              <a:t> es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 posible </a:t>
            </a:r>
            <a:r>
              <a:rPr lang="es-CR" dirty="0"/>
              <a:t>entre los grupos después de yi−1 y tal que </a:t>
            </a:r>
            <a:r>
              <a:rPr lang="es-CR" dirty="0" err="1"/>
              <a:t>corr</a:t>
            </a:r>
            <a:r>
              <a:rPr lang="es-CR" dirty="0"/>
              <a:t>(</a:t>
            </a:r>
            <a:r>
              <a:rPr lang="es-CR" dirty="0" err="1"/>
              <a:t>yi</a:t>
            </a:r>
            <a:r>
              <a:rPr lang="es-CR" dirty="0"/>
              <a:t>, </a:t>
            </a:r>
            <a:r>
              <a:rPr lang="es-CR" dirty="0" err="1"/>
              <a:t>yj</a:t>
            </a:r>
            <a:r>
              <a:rPr lang="es-CR" dirty="0"/>
              <a:t>) = 0 </a:t>
            </a:r>
            <a:r>
              <a:rPr lang="es-CR" dirty="0" smtClean="0"/>
              <a:t>para </a:t>
            </a:r>
            <a:r>
              <a:rPr lang="es-ES" dirty="0" smtClean="0"/>
              <a:t>j </a:t>
            </a:r>
            <a:r>
              <a:rPr lang="es-ES" dirty="0"/>
              <a:t>= 1, . . . , (i − 1</a:t>
            </a:r>
            <a:r>
              <a:rPr lang="es-ES" dirty="0" smtClean="0"/>
              <a:t>).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Lo que rige la cantidad de reglas o </a:t>
            </a:r>
            <a:r>
              <a:rPr lang="es-CR" dirty="0"/>
              <a:t>ecuaciones </a:t>
            </a:r>
            <a:r>
              <a:rPr lang="es-CR" dirty="0" err="1" smtClean="0"/>
              <a:t>yi</a:t>
            </a:r>
            <a:r>
              <a:rPr lang="es-CR" dirty="0" smtClean="0"/>
              <a:t>, es el total de variancia explicada por cada uno de las reglas.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Una cantidad excesivas de reglas podría sesgar el modelo, y muy pocas reglas podría no explicar el total de casos.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/>
              <a:t>Extracción de las funciones discriminantes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79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8709" y="1160606"/>
            <a:ext cx="11104418" cy="5392593"/>
          </a:xfrm>
        </p:spPr>
        <p:txBody>
          <a:bodyPr/>
          <a:lstStyle/>
          <a:p>
            <a:r>
              <a:rPr lang="es-CR" dirty="0" smtClean="0"/>
              <a:t>Según las ecuaciones siguientes: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r>
              <a:rPr lang="es-CR" dirty="0" smtClean="0"/>
              <a:t>Las anteriores suponen una relación lineal para poder discriminar los grupos.</a:t>
            </a:r>
          </a:p>
          <a:p>
            <a:endParaRPr lang="es-CR" dirty="0"/>
          </a:p>
          <a:p>
            <a:r>
              <a:rPr lang="es-CR" dirty="0" smtClean="0"/>
              <a:t>Sin embargo, existen relaciones cuadráticas, y de otros tipos para tratar de mejorar la variancia explicada en los grupos.</a:t>
            </a: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 smtClean="0"/>
              <a:t>Diferentes tipos de reglas</a:t>
            </a:r>
            <a:endParaRPr lang="es-ES" dirty="0"/>
          </a:p>
        </p:txBody>
      </p:sp>
      <p:pic>
        <p:nvPicPr>
          <p:cNvPr id="5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1617" y="1858384"/>
            <a:ext cx="5497175" cy="19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3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129598"/>
            <a:ext cx="10515600" cy="1020330"/>
          </a:xfrm>
        </p:spPr>
        <p:txBody>
          <a:bodyPr/>
          <a:lstStyle/>
          <a:p>
            <a:pPr algn="ctr"/>
            <a:r>
              <a:rPr lang="es-CR" dirty="0" smtClean="0"/>
              <a:t>Calidad de la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3291" y="1299152"/>
            <a:ext cx="10515600" cy="5212484"/>
          </a:xfrm>
        </p:spPr>
        <p:txBody>
          <a:bodyPr/>
          <a:lstStyle/>
          <a:p>
            <a:pPr algn="just"/>
            <a:r>
              <a:rPr lang="es-CR" dirty="0" smtClean="0"/>
              <a:t>Para determinar si las reglas construidas fueron efectivas o no, se podría mediar el grado de clasificación.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Altos valores en las diagonales, rebelan buenos resultados. Fuera de las diagonales se presume una no buena clasificación.</a:t>
            </a:r>
            <a:endParaRPr lang="es-C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4138612"/>
            <a:ext cx="4905808" cy="1811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390" y="4177794"/>
            <a:ext cx="5746769" cy="177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25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054" y="226580"/>
            <a:ext cx="10515600" cy="1048039"/>
          </a:xfrm>
        </p:spPr>
        <p:txBody>
          <a:bodyPr/>
          <a:lstStyle/>
          <a:p>
            <a:pPr algn="ctr"/>
            <a:r>
              <a:rPr lang="es-CR" dirty="0" smtClean="0"/>
              <a:t>Nueva observación </a:t>
            </a:r>
            <a:r>
              <a:rPr lang="es-CR" dirty="0" smtClean="0">
                <a:sym typeface="Wingdings" panose="05000000000000000000" pitchFamily="2" charset="2"/>
              </a:rPr>
              <a:t> nueva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5582" y="1562387"/>
            <a:ext cx="10744200" cy="4810703"/>
          </a:xfrm>
        </p:spPr>
        <p:txBody>
          <a:bodyPr/>
          <a:lstStyle/>
          <a:p>
            <a:pPr algn="just"/>
            <a:r>
              <a:rPr lang="es-CR" dirty="0" smtClean="0"/>
              <a:t>Al trabajar con este tipo de análisis, es posible que una observación nueva pudiera poseer los valores cuantitativos, y no así un grupo de procedencia.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La regla de decisión construida permite determinar el grupo de pertenencia de un nuevo grupo.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Por ejemplo, en un nuevo crédito bancario, las características de las personas permiten clasificar si esté podrá ser acreedor de un préstamo.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9274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4345" y="198872"/>
            <a:ext cx="10515600" cy="923346"/>
          </a:xfrm>
        </p:spPr>
        <p:txBody>
          <a:bodyPr/>
          <a:lstStyle/>
          <a:p>
            <a:pPr algn="ctr"/>
            <a:r>
              <a:rPr lang="es-ES" dirty="0" smtClean="0"/>
              <a:t>Etapas de un análisis discriminante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4854" y="1326861"/>
            <a:ext cx="8679873" cy="4907684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Las principales etapas son:</a:t>
            </a:r>
          </a:p>
          <a:p>
            <a:pPr marL="0" indent="0">
              <a:buNone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Análisis descriptivos de las variables.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Estimación y evaluación de la regla de decisión.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Estimar otras reglas de decisión.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Evaluar las tasas de correcta clasificación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Introducir nuevos sujetos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575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2" y="166249"/>
            <a:ext cx="10515600" cy="823336"/>
          </a:xfrm>
        </p:spPr>
        <p:txBody>
          <a:bodyPr/>
          <a:lstStyle/>
          <a:p>
            <a:pPr algn="ctr"/>
            <a:r>
              <a:rPr lang="es-CR" dirty="0" smtClean="0"/>
              <a:t>Descripción de los datos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39437" y="1368570"/>
            <a:ext cx="5936673" cy="5046085"/>
          </a:xfrm>
        </p:spPr>
        <p:txBody>
          <a:bodyPr/>
          <a:lstStyle/>
          <a:p>
            <a:r>
              <a:rPr lang="es-CR" dirty="0" smtClean="0"/>
              <a:t>Al igual que para las otras técnicas, se recomienda un estudio de distribuciones, promedios, etc.</a:t>
            </a:r>
          </a:p>
          <a:p>
            <a:endParaRPr lang="es-CR" dirty="0"/>
          </a:p>
          <a:p>
            <a:r>
              <a:rPr lang="es-CR" dirty="0" smtClean="0"/>
              <a:t>Recomendado analizar la correlación entre los grupos.</a:t>
            </a:r>
            <a:endParaRPr lang="es-C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68570"/>
            <a:ext cx="5472545" cy="5212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66550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5910" y="143452"/>
            <a:ext cx="10515600" cy="1048039"/>
          </a:xfrm>
        </p:spPr>
        <p:txBody>
          <a:bodyPr/>
          <a:lstStyle/>
          <a:p>
            <a:pPr algn="ctr"/>
            <a:r>
              <a:rPr lang="es-CR" dirty="0" smtClean="0"/>
              <a:t>Estimación de la regla de discriminación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14746" y="1532514"/>
            <a:ext cx="6700404" cy="5068311"/>
          </a:xfrm>
        </p:spPr>
        <p:txBody>
          <a:bodyPr/>
          <a:lstStyle/>
          <a:p>
            <a:r>
              <a:rPr lang="es-CR" dirty="0" smtClean="0"/>
              <a:t>Se estima la o las posibles reglas del análisis de discriminación.</a:t>
            </a:r>
          </a:p>
          <a:p>
            <a:endParaRPr lang="es-CR" dirty="0" smtClean="0"/>
          </a:p>
          <a:p>
            <a:r>
              <a:rPr lang="es-CR" dirty="0" smtClean="0"/>
              <a:t>Importante es analizar cual regla o “trace” es la que más está ayudando a discriminar.</a:t>
            </a:r>
            <a:endParaRPr lang="es-CR" dirty="0"/>
          </a:p>
          <a:p>
            <a:endParaRPr lang="es-C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7" y="1500187"/>
            <a:ext cx="4481511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650" y="5133975"/>
            <a:ext cx="1514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71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Estimación  de otras reglas de discriminación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8162" y="1711325"/>
            <a:ext cx="6091238" cy="4351338"/>
          </a:xfrm>
        </p:spPr>
        <p:txBody>
          <a:bodyPr/>
          <a:lstStyle/>
          <a:p>
            <a:pPr algn="just"/>
            <a:r>
              <a:rPr lang="es-CR" dirty="0" smtClean="0"/>
              <a:t>Se puede realizar estimación cuadráticas, y no solo lineales.</a:t>
            </a:r>
          </a:p>
          <a:p>
            <a:endParaRPr lang="es-CR" dirty="0" smtClean="0"/>
          </a:p>
          <a:p>
            <a:endParaRPr lang="es-CR" dirty="0"/>
          </a:p>
          <a:p>
            <a:pPr algn="just"/>
            <a:r>
              <a:rPr lang="es-CR" dirty="0" smtClean="0"/>
              <a:t>También se podrían realizar estimaciones no paramétricas.</a:t>
            </a:r>
            <a:endParaRPr lang="es-C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7" y="2328863"/>
            <a:ext cx="4319587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318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055" y="129597"/>
            <a:ext cx="10515600" cy="964911"/>
          </a:xfrm>
        </p:spPr>
        <p:txBody>
          <a:bodyPr/>
          <a:lstStyle/>
          <a:p>
            <a:pPr algn="ctr"/>
            <a:r>
              <a:rPr lang="es-ES" dirty="0" smtClean="0"/>
              <a:t>Tasas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564" y="1756352"/>
            <a:ext cx="5645727" cy="4351338"/>
          </a:xfrm>
        </p:spPr>
        <p:txBody>
          <a:bodyPr/>
          <a:lstStyle/>
          <a:p>
            <a:r>
              <a:rPr lang="es-CR" dirty="0" smtClean="0"/>
              <a:t>No olvidemos de evaluar el modelo.</a:t>
            </a:r>
          </a:p>
          <a:p>
            <a:endParaRPr lang="es-CR" dirty="0"/>
          </a:p>
          <a:p>
            <a:r>
              <a:rPr lang="es-CR" dirty="0" smtClean="0"/>
              <a:t>Se recomienda hacer sobre todo la evaluación en términos relativos y no absolutos.</a:t>
            </a:r>
            <a:endParaRPr lang="es-CR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2" y="1807844"/>
            <a:ext cx="4628197" cy="267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2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0560" y="273685"/>
            <a:ext cx="10515600" cy="1189355"/>
          </a:xfrm>
        </p:spPr>
        <p:txBody>
          <a:bodyPr/>
          <a:lstStyle/>
          <a:p>
            <a:pPr algn="ctr"/>
            <a:r>
              <a:rPr lang="es-CR" dirty="0" smtClean="0"/>
              <a:t>Introducción de nuevas unidas de estudio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11479" y="1851949"/>
            <a:ext cx="10515600" cy="4351338"/>
          </a:xfrm>
        </p:spPr>
        <p:txBody>
          <a:bodyPr/>
          <a:lstStyle/>
          <a:p>
            <a:r>
              <a:rPr lang="es-CR" dirty="0" smtClean="0"/>
              <a:t>La introducción de nuevos valores en la regla de decisión, nos ayuda a determinar en qué grupo estará tal unidad de estudio.</a:t>
            </a:r>
            <a:endParaRPr lang="es-C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8" y="3166253"/>
            <a:ext cx="11603421" cy="1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66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2050" name="Picture 2" descr="Image result for the e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48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1288</Words>
  <Application>Microsoft Office PowerPoint</Application>
  <PresentationFormat>Personalizado</PresentationFormat>
  <Paragraphs>142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Tema de Office</vt:lpstr>
      <vt:lpstr>Análisis discriminante</vt:lpstr>
      <vt:lpstr>Introducción</vt:lpstr>
      <vt:lpstr>Introducción</vt:lpstr>
      <vt:lpstr>Introducción</vt:lpstr>
      <vt:lpstr>Áreas de aplicación</vt:lpstr>
      <vt:lpstr>Áreas de aplicación</vt:lpstr>
      <vt:lpstr>Objetivo del análisis discriminante</vt:lpstr>
      <vt:lpstr>Construcción de la regla de decisión</vt:lpstr>
      <vt:lpstr>Restricciones del LDA</vt:lpstr>
      <vt:lpstr>Restricciones del LDA</vt:lpstr>
      <vt:lpstr>Modelo matemático de la regla de discriminación</vt:lpstr>
      <vt:lpstr>Modelo matemático</vt:lpstr>
      <vt:lpstr>Modelo matemático</vt:lpstr>
      <vt:lpstr>Modelo matemático</vt:lpstr>
      <vt:lpstr>Extracción de las funciones discriminantes</vt:lpstr>
      <vt:lpstr>Extracción de las funciones discriminantes</vt:lpstr>
      <vt:lpstr>Diferentes tipos de reglas</vt:lpstr>
      <vt:lpstr>Calidad de la clasificación</vt:lpstr>
      <vt:lpstr>Nueva observación  nueva clasificación</vt:lpstr>
      <vt:lpstr>Etapas de un análisis discriminante</vt:lpstr>
      <vt:lpstr>Descripción de los datos</vt:lpstr>
      <vt:lpstr>Estimación de la regla de discriminación</vt:lpstr>
      <vt:lpstr>Estimación  de otras reglas de discriminación</vt:lpstr>
      <vt:lpstr>Tasas clasificación</vt:lpstr>
      <vt:lpstr>Introducción de nuevas unidas de estudio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discriminante</dc:title>
  <dc:creator>Oscar</dc:creator>
  <cp:lastModifiedBy>Oscar Centeno Mora</cp:lastModifiedBy>
  <cp:revision>34</cp:revision>
  <dcterms:created xsi:type="dcterms:W3CDTF">2017-05-08T19:30:14Z</dcterms:created>
  <dcterms:modified xsi:type="dcterms:W3CDTF">2017-05-19T19:17:52Z</dcterms:modified>
</cp:coreProperties>
</file>