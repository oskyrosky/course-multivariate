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78" r:id="rId6"/>
    <p:sldId id="259" r:id="rId7"/>
    <p:sldId id="261" r:id="rId8"/>
    <p:sldId id="27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0" r:id="rId18"/>
    <p:sldId id="271" r:id="rId19"/>
    <p:sldId id="272" r:id="rId20"/>
    <p:sldId id="273" r:id="rId21"/>
    <p:sldId id="275" r:id="rId22"/>
    <p:sldId id="274" r:id="rId23"/>
    <p:sldId id="276" r:id="rId24"/>
    <p:sldId id="277" r:id="rId25"/>
    <p:sldId id="281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212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220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98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94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06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698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96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03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91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20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64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FD583-B289-4040-A081-944F69ACAF1E}" type="datetimeFigureOut">
              <a:rPr lang="es-ES" smtClean="0"/>
              <a:t>13/03/2018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46269-85F6-43F9-8E53-8193B9E457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077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9151" y="112429"/>
            <a:ext cx="11676184" cy="1033983"/>
          </a:xfrm>
        </p:spPr>
        <p:txBody>
          <a:bodyPr>
            <a:normAutofit/>
          </a:bodyPr>
          <a:lstStyle/>
          <a:p>
            <a:r>
              <a:rPr lang="es-CR" dirty="0" smtClean="0"/>
              <a:t>Introducción al Análisis </a:t>
            </a:r>
            <a:r>
              <a:rPr lang="es-CR" dirty="0"/>
              <a:t>M</a:t>
            </a:r>
            <a:r>
              <a:rPr lang="es-CR" dirty="0" smtClean="0"/>
              <a:t>ultivariados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902423" y="6218890"/>
            <a:ext cx="9144000" cy="550397"/>
          </a:xfrm>
        </p:spPr>
        <p:txBody>
          <a:bodyPr>
            <a:normAutofit/>
          </a:bodyPr>
          <a:lstStyle/>
          <a:p>
            <a:pPr algn="r"/>
            <a:r>
              <a:rPr lang="es-CR" dirty="0" smtClean="0"/>
              <a:t>Oscar Centeno Mora</a:t>
            </a:r>
            <a:endParaRPr lang="es-ES" dirty="0"/>
          </a:p>
        </p:txBody>
      </p:sp>
      <p:pic>
        <p:nvPicPr>
          <p:cNvPr id="1026" name="Picture 2" descr="Resultado de imagen para multivariate data analy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43" y="1648598"/>
            <a:ext cx="5688475" cy="419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ultivariate data analysi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2730"/>
          <a:stretch/>
        </p:blipFill>
        <p:spPr bwMode="auto">
          <a:xfrm>
            <a:off x="6602518" y="1819607"/>
            <a:ext cx="5107158" cy="385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56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7006" y="351478"/>
            <a:ext cx="10515600" cy="1325563"/>
          </a:xfrm>
        </p:spPr>
        <p:txBody>
          <a:bodyPr/>
          <a:lstStyle/>
          <a:p>
            <a:r>
              <a:rPr lang="es-CR" dirty="0" smtClean="0"/>
              <a:t>Análisis en una variable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7823" y="1825625"/>
            <a:ext cx="10515600" cy="4351338"/>
          </a:xfrm>
        </p:spPr>
        <p:txBody>
          <a:bodyPr/>
          <a:lstStyle/>
          <a:p>
            <a:r>
              <a:rPr lang="es-CR" dirty="0" smtClean="0"/>
              <a:t>¿Cuáles son los principales análisis que realizamos en una variable X1 (cuantitativa y cualitativa)?</a:t>
            </a:r>
            <a:endParaRPr lang="es-ES" dirty="0"/>
          </a:p>
        </p:txBody>
      </p:sp>
      <p:pic>
        <p:nvPicPr>
          <p:cNvPr id="2050" name="Picture 2" descr="Resultado de imagen para thi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192" y="2827605"/>
            <a:ext cx="3858632" cy="384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thi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651" y="3110463"/>
            <a:ext cx="2585657" cy="328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86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7006" y="1361391"/>
            <a:ext cx="10081899" cy="533483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CR" dirty="0"/>
              <a:t> </a:t>
            </a:r>
            <a:r>
              <a:rPr lang="es-CR" dirty="0" smtClean="0"/>
              <a:t>Números relativos (razón, proporción, tasas, indicadores, etc.)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Medidas de posición (promedio, percentiles, moda, mediana, etc.)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Medidas de variabilidad (rango, percentil </a:t>
            </a:r>
            <a:r>
              <a:rPr lang="es-CR" dirty="0" err="1" smtClean="0"/>
              <a:t>intercuartil</a:t>
            </a:r>
            <a:r>
              <a:rPr lang="es-CR" dirty="0" smtClean="0"/>
              <a:t>, desviación media, desviación estándar, etc.)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Probabilidades.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Medidas de estimación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Prueba de hipótesis. </a:t>
            </a:r>
          </a:p>
          <a:p>
            <a:pPr algn="just">
              <a:lnSpc>
                <a:spcPct val="150000"/>
              </a:lnSpc>
            </a:pPr>
            <a:r>
              <a:rPr lang="es-CR" dirty="0" smtClean="0"/>
              <a:t>Medidas de visualización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539210" y="84191"/>
            <a:ext cx="10515600" cy="1027156"/>
          </a:xfrm>
        </p:spPr>
        <p:txBody>
          <a:bodyPr/>
          <a:lstStyle/>
          <a:p>
            <a:pPr algn="ctr"/>
            <a:r>
              <a:rPr lang="es-CR" dirty="0" smtClean="0"/>
              <a:t>Análisis en una variable</a:t>
            </a:r>
            <a:endParaRPr lang="es-ES" dirty="0"/>
          </a:p>
        </p:txBody>
      </p:sp>
      <p:pic>
        <p:nvPicPr>
          <p:cNvPr id="3074" name="Picture 2" descr="Resultado de imagen para data analysis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274" y="4028807"/>
            <a:ext cx="3192536" cy="242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96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9709" y="214999"/>
            <a:ext cx="11008057" cy="1325563"/>
          </a:xfrm>
        </p:spPr>
        <p:txBody>
          <a:bodyPr/>
          <a:lstStyle/>
          <a:p>
            <a:pPr algn="ctr"/>
            <a:r>
              <a:rPr lang="es-CR" dirty="0" smtClean="0"/>
              <a:t>Análisis multivariados o en varias variables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708" y="1540562"/>
            <a:ext cx="10612273" cy="4969420"/>
          </a:xfrm>
        </p:spPr>
        <p:txBody>
          <a:bodyPr/>
          <a:lstStyle/>
          <a:p>
            <a:r>
              <a:rPr lang="es-CR" dirty="0"/>
              <a:t>¿Cuáles son los </a:t>
            </a:r>
            <a:r>
              <a:rPr lang="es-CR" dirty="0" smtClean="0"/>
              <a:t>análisis </a:t>
            </a:r>
            <a:r>
              <a:rPr lang="es-CR" dirty="0"/>
              <a:t>que </a:t>
            </a:r>
            <a:r>
              <a:rPr lang="es-CR" dirty="0" smtClean="0"/>
              <a:t>conocemos para varias 2 o más variables  X1,X2,…, </a:t>
            </a:r>
            <a:r>
              <a:rPr lang="es-CR" dirty="0" err="1" smtClean="0"/>
              <a:t>Xn</a:t>
            </a:r>
            <a:r>
              <a:rPr lang="es-CR" dirty="0" smtClean="0"/>
              <a:t> </a:t>
            </a:r>
            <a:r>
              <a:rPr lang="es-CR" dirty="0"/>
              <a:t>(</a:t>
            </a:r>
            <a:r>
              <a:rPr lang="es-CR" dirty="0" smtClean="0"/>
              <a:t>cuantitativas </a:t>
            </a:r>
            <a:r>
              <a:rPr lang="es-CR" dirty="0"/>
              <a:t>y </a:t>
            </a:r>
            <a:r>
              <a:rPr lang="es-CR" dirty="0" smtClean="0"/>
              <a:t>cualitativas)?</a:t>
            </a:r>
            <a:endParaRPr lang="es-ES" dirty="0"/>
          </a:p>
          <a:p>
            <a:endParaRPr lang="es-ES" dirty="0"/>
          </a:p>
        </p:txBody>
      </p:sp>
      <p:pic>
        <p:nvPicPr>
          <p:cNvPr id="4" name="Picture 2" descr="Resultado de imagen para thi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01" y="2662469"/>
            <a:ext cx="3858632" cy="384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Resultado de imagen para think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060" y="2945327"/>
            <a:ext cx="2585657" cy="328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17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69709" y="214999"/>
            <a:ext cx="11008057" cy="1325563"/>
          </a:xfrm>
        </p:spPr>
        <p:txBody>
          <a:bodyPr/>
          <a:lstStyle/>
          <a:p>
            <a:pPr algn="ctr"/>
            <a:r>
              <a:rPr lang="es-CR" dirty="0" smtClean="0"/>
              <a:t>Análisis multivariados o en varias variables</a:t>
            </a:r>
            <a:endParaRPr lang="es-ES" dirty="0"/>
          </a:p>
        </p:txBody>
      </p:sp>
      <p:pic>
        <p:nvPicPr>
          <p:cNvPr id="4098" name="Picture 2" descr="Resultado de imagen para regression analy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31" y="1655372"/>
            <a:ext cx="5153404" cy="459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regression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999" y="1718737"/>
            <a:ext cx="5572125" cy="446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1872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5651" y="1540562"/>
            <a:ext cx="10515600" cy="4956032"/>
          </a:xfrm>
        </p:spPr>
        <p:txBody>
          <a:bodyPr/>
          <a:lstStyle/>
          <a:p>
            <a:r>
              <a:rPr lang="es-CR" dirty="0" smtClean="0"/>
              <a:t>Análisis de covariancia, correlación, etc.</a:t>
            </a:r>
          </a:p>
          <a:p>
            <a:r>
              <a:rPr lang="es-CR" dirty="0" smtClean="0"/>
              <a:t>Análisis por regresión (paramétrica, no paramétrica, </a:t>
            </a:r>
            <a:r>
              <a:rPr lang="es-CR" dirty="0" err="1" smtClean="0"/>
              <a:t>semi</a:t>
            </a:r>
            <a:r>
              <a:rPr lang="es-CR" dirty="0" smtClean="0"/>
              <a:t> paramétrica, etc.).</a:t>
            </a:r>
          </a:p>
          <a:p>
            <a:r>
              <a:rPr lang="es-CR" dirty="0" smtClean="0"/>
              <a:t>Análisis experimental (comparación de medias, ANOVA, GLM, etc.)</a:t>
            </a:r>
          </a:p>
          <a:p>
            <a:r>
              <a:rPr lang="es-CR" dirty="0" smtClean="0"/>
              <a:t>Análisis por descomposiciones.</a:t>
            </a:r>
          </a:p>
          <a:p>
            <a:r>
              <a:rPr lang="es-CR" dirty="0" smtClean="0"/>
              <a:t>Análisis por discriminación.</a:t>
            </a:r>
          </a:p>
          <a:p>
            <a:r>
              <a:rPr lang="es-CR" dirty="0" smtClean="0"/>
              <a:t>Análisis por agrupamiento.</a:t>
            </a:r>
          </a:p>
          <a:p>
            <a:r>
              <a:rPr lang="es-CR" dirty="0" smtClean="0"/>
              <a:t>Análisis por clasificación y predicción.</a:t>
            </a:r>
          </a:p>
          <a:p>
            <a:r>
              <a:rPr lang="es-CR" dirty="0" smtClean="0"/>
              <a:t>Etc….</a:t>
            </a:r>
            <a:endParaRPr lang="es-CR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9709" y="214999"/>
            <a:ext cx="110080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dirty="0" smtClean="0"/>
              <a:t>Análisis multivariados o en varias variables</a:t>
            </a:r>
            <a:endParaRPr lang="es-ES" dirty="0"/>
          </a:p>
        </p:txBody>
      </p:sp>
      <p:pic>
        <p:nvPicPr>
          <p:cNvPr id="6146" name="Picture 2" descr="Resultado de imagen para pay atten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933" y="3866605"/>
            <a:ext cx="2155950" cy="28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5170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1110" y="242295"/>
            <a:ext cx="11709779" cy="1325563"/>
          </a:xfrm>
        </p:spPr>
        <p:txBody>
          <a:bodyPr/>
          <a:lstStyle/>
          <a:p>
            <a:r>
              <a:rPr lang="es-CR" dirty="0" smtClean="0"/>
              <a:t>Análisis multivariados descriptivos y supervisados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3398293" y="1567858"/>
            <a:ext cx="4981433" cy="1666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Análisis multivariados </a:t>
            </a:r>
            <a:endParaRPr lang="es-ES" sz="3600" dirty="0"/>
          </a:p>
        </p:txBody>
      </p:sp>
      <p:cxnSp>
        <p:nvCxnSpPr>
          <p:cNvPr id="6" name="Conector recto 5"/>
          <p:cNvCxnSpPr/>
          <p:nvPr/>
        </p:nvCxnSpPr>
        <p:spPr>
          <a:xfrm flipH="1">
            <a:off x="1869744" y="2414018"/>
            <a:ext cx="2019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7970292" y="2401188"/>
            <a:ext cx="2019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/>
          <p:cNvCxnSpPr/>
          <p:nvPr/>
        </p:nvCxnSpPr>
        <p:spPr>
          <a:xfrm>
            <a:off x="1869744" y="2414836"/>
            <a:ext cx="0" cy="218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/>
          <p:cNvSpPr/>
          <p:nvPr/>
        </p:nvSpPr>
        <p:spPr>
          <a:xfrm>
            <a:off x="150126" y="4599292"/>
            <a:ext cx="3439236" cy="1924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Análisis descriptivas (búsqueda de patrones</a:t>
            </a:r>
            <a:r>
              <a:rPr lang="es-CR" dirty="0"/>
              <a:t>)</a:t>
            </a:r>
            <a:endParaRPr lang="es-ES" dirty="0"/>
          </a:p>
        </p:txBody>
      </p:sp>
      <p:cxnSp>
        <p:nvCxnSpPr>
          <p:cNvPr id="11" name="Conector recto 10"/>
          <p:cNvCxnSpPr/>
          <p:nvPr/>
        </p:nvCxnSpPr>
        <p:spPr>
          <a:xfrm>
            <a:off x="9990161" y="2401184"/>
            <a:ext cx="0" cy="218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8270543" y="4585224"/>
            <a:ext cx="3439236" cy="19243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Análisis </a:t>
            </a:r>
            <a:r>
              <a:rPr lang="es-CR" dirty="0" smtClean="0"/>
              <a:t>predictivos</a:t>
            </a:r>
          </a:p>
          <a:p>
            <a:pPr algn="ctr"/>
            <a:r>
              <a:rPr lang="es-CR" dirty="0" smtClean="0"/>
              <a:t>(predicciones en los casos --- Minería de datos) </a:t>
            </a:r>
            <a:endParaRPr lang="es-ES" dirty="0"/>
          </a:p>
        </p:txBody>
      </p:sp>
      <p:pic>
        <p:nvPicPr>
          <p:cNvPr id="7170" name="Picture 2" descr="Resultado de imagen para data analysi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01" y="4100476"/>
            <a:ext cx="3195502" cy="256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2433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6099" y="159614"/>
            <a:ext cx="11043138" cy="1064275"/>
          </a:xfrm>
        </p:spPr>
        <p:txBody>
          <a:bodyPr/>
          <a:lstStyle/>
          <a:p>
            <a:pPr algn="ctr"/>
            <a:r>
              <a:rPr lang="es-CR" dirty="0" smtClean="0"/>
              <a:t>Principios del análisis de datos multivariado</a:t>
            </a:r>
            <a:endParaRPr lang="es-ES" dirty="0"/>
          </a:p>
        </p:txBody>
      </p:sp>
      <p:pic>
        <p:nvPicPr>
          <p:cNvPr id="8194" name="Picture 2" descr="Resultado de imagen para data analysi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t="10379" r="1724" b="10769"/>
          <a:stretch/>
        </p:blipFill>
        <p:spPr bwMode="auto">
          <a:xfrm>
            <a:off x="1350499" y="1583651"/>
            <a:ext cx="9214338" cy="517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65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2348" y="103218"/>
            <a:ext cx="11300346" cy="915686"/>
          </a:xfrm>
        </p:spPr>
        <p:txBody>
          <a:bodyPr/>
          <a:lstStyle/>
          <a:p>
            <a:pPr algn="ctr"/>
            <a:r>
              <a:rPr lang="es-CR" dirty="0" smtClean="0"/>
              <a:t>Principios multivariados: 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8369" y="1102868"/>
            <a:ext cx="10101585" cy="5162030"/>
          </a:xfrm>
        </p:spPr>
        <p:txBody>
          <a:bodyPr/>
          <a:lstStyle/>
          <a:p>
            <a:pPr algn="just"/>
            <a:r>
              <a:rPr lang="es-CR" dirty="0" smtClean="0"/>
              <a:t>Conjuntos de unidades y variables por analizar: matriz de valores.</a:t>
            </a:r>
          </a:p>
          <a:p>
            <a:pPr marL="0" indent="0" algn="just">
              <a:buNone/>
            </a:pPr>
            <a:endParaRPr lang="es-CR" dirty="0"/>
          </a:p>
          <a:p>
            <a:pPr algn="just"/>
            <a:r>
              <a:rPr lang="es-CR" dirty="0" smtClean="0"/>
              <a:t>Tipo de eventos es común en todos los campos: psicología, ingeniería, educación, física, química, economía, etc.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Representación en un archivo de datos:</a:t>
            </a:r>
            <a:endParaRPr lang="es-C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41" y="4423955"/>
            <a:ext cx="5965636" cy="2072954"/>
          </a:xfrm>
          <a:prstGeom prst="rect">
            <a:avLst/>
          </a:prstGeom>
        </p:spPr>
      </p:pic>
      <p:pic>
        <p:nvPicPr>
          <p:cNvPr id="9218" name="Picture 2" descr="Resultado de imagen para data f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248" y="3494254"/>
            <a:ext cx="3275604" cy="263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24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6755" y="1079864"/>
            <a:ext cx="8804366" cy="5538650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Análisis multivariados descriptivo: análisis que relacionan variables independientes (</a:t>
            </a:r>
            <a:r>
              <a:rPr lang="es-CR" i="1" dirty="0" smtClean="0"/>
              <a:t>relación simétrica entre variables</a:t>
            </a:r>
            <a:r>
              <a:rPr lang="es-CR" dirty="0" smtClean="0"/>
              <a:t>), para buscar algún tipo de patrón común.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 smtClean="0"/>
              <a:t>No hay interés en hacer inferencia estadística.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Los análisis multivariados se exponen tanto de forma tabular y gráfica, siendo la última la más utilizada.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análisis multivariado exploratorio da prioridad a la información recolectada, y no al proceso inferencial. Es un proceso meramente analítico para y por los datos.</a:t>
            </a:r>
            <a:endParaRPr lang="es-CR" dirty="0"/>
          </a:p>
          <a:p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79101" y="85801"/>
            <a:ext cx="11300346" cy="863433"/>
          </a:xfrm>
        </p:spPr>
        <p:txBody>
          <a:bodyPr/>
          <a:lstStyle/>
          <a:p>
            <a:pPr algn="ctr"/>
            <a:r>
              <a:rPr lang="es-CR" dirty="0" smtClean="0"/>
              <a:t>Principios multivariados: análisis</a:t>
            </a:r>
            <a:endParaRPr lang="es-ES" dirty="0"/>
          </a:p>
        </p:txBody>
      </p:sp>
      <p:pic>
        <p:nvPicPr>
          <p:cNvPr id="10242" name="Picture 2" descr="Resultado de imagen para multivariate analysi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846" y="1079864"/>
            <a:ext cx="2446601" cy="260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multivariate analysi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7" t="30373" r="4418" b="9348"/>
          <a:stretch/>
        </p:blipFill>
        <p:spPr bwMode="auto">
          <a:xfrm>
            <a:off x="9424514" y="4269581"/>
            <a:ext cx="2259139" cy="2070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42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4360" y="131685"/>
            <a:ext cx="10770326" cy="983014"/>
          </a:xfrm>
        </p:spPr>
        <p:txBody>
          <a:bodyPr/>
          <a:lstStyle/>
          <a:p>
            <a:pPr algn="ctr"/>
            <a:r>
              <a:rPr lang="es-CR" dirty="0" smtClean="0"/>
              <a:t>Tipos de variables y problemas asociados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6185" y="1114699"/>
            <a:ext cx="8128249" cy="5377218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Los análisis multivariados toman tanto variables cualitativas como cuantitativas.</a:t>
            </a:r>
          </a:p>
          <a:p>
            <a:pPr algn="just"/>
            <a:endParaRPr lang="es-CR" dirty="0" smtClean="0"/>
          </a:p>
          <a:p>
            <a:pPr algn="just"/>
            <a:r>
              <a:rPr lang="es-CR" dirty="0"/>
              <a:t>L</a:t>
            </a:r>
            <a:r>
              <a:rPr lang="es-CR" dirty="0" smtClean="0"/>
              <a:t>a técnica se adecua según </a:t>
            </a:r>
            <a:r>
              <a:rPr lang="es-CR" dirty="0"/>
              <a:t>el objetivo y tipo de </a:t>
            </a:r>
            <a:r>
              <a:rPr lang="es-CR" dirty="0" smtClean="0"/>
              <a:t>variable. </a:t>
            </a:r>
            <a:endParaRPr lang="es-CR" dirty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Los valores faltantes  provocan la eliminación de una unidad en el archivo de datos.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Los valores faltantes provocan perdida de información y problemas de cálculos matriciales.</a:t>
            </a:r>
            <a:endParaRPr lang="es-ES" dirty="0"/>
          </a:p>
        </p:txBody>
      </p:sp>
      <p:pic>
        <p:nvPicPr>
          <p:cNvPr id="11266" name="Picture 2" descr="Resultado de imagen para quantitative vs qualitative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609" y="1114699"/>
            <a:ext cx="33337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para missing da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084" y="3997234"/>
            <a:ext cx="2884799" cy="240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91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610" y="138703"/>
            <a:ext cx="11144796" cy="862783"/>
          </a:xfrm>
        </p:spPr>
        <p:txBody>
          <a:bodyPr/>
          <a:lstStyle/>
          <a:p>
            <a:pPr algn="ctr"/>
            <a:r>
              <a:rPr lang="es-CR" dirty="0" smtClean="0"/>
              <a:t>Covariancia, correlación y distancia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5684" y="1276985"/>
            <a:ext cx="9063447" cy="5315404"/>
          </a:xfrm>
        </p:spPr>
        <p:txBody>
          <a:bodyPr/>
          <a:lstStyle/>
          <a:p>
            <a:r>
              <a:rPr lang="es-CR" dirty="0" smtClean="0"/>
              <a:t>El análisis multivariado implica relaciones entre las variables o la posible cercanía que pueden haber entre estas. En ciertos casos pueden ser los dos.</a:t>
            </a:r>
          </a:p>
          <a:p>
            <a:endParaRPr lang="es-CR" dirty="0"/>
          </a:p>
          <a:p>
            <a:r>
              <a:rPr lang="es-CR" dirty="0" smtClean="0"/>
              <a:t>El caso que interesa en el análisis multivariado es como calificamos la relación entre las variables y como podemos medir las distancias entre variables con diferentes unidades medida. </a:t>
            </a:r>
          </a:p>
          <a:p>
            <a:endParaRPr lang="es-CR" dirty="0"/>
          </a:p>
          <a:p>
            <a:r>
              <a:rPr lang="es-CR" dirty="0" smtClean="0"/>
              <a:t>Para esto debemos recurrir a la covariancia, correlación y el análisis de distancias.</a:t>
            </a:r>
          </a:p>
          <a:p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44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5617" y="69669"/>
            <a:ext cx="10515600" cy="792480"/>
          </a:xfrm>
        </p:spPr>
        <p:txBody>
          <a:bodyPr/>
          <a:lstStyle/>
          <a:p>
            <a:pPr algn="ctr"/>
            <a:r>
              <a:rPr lang="es-CR" dirty="0"/>
              <a:t>Covariancia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1182" y="907501"/>
            <a:ext cx="10515600" cy="5411197"/>
          </a:xfrm>
        </p:spPr>
        <p:txBody>
          <a:bodyPr/>
          <a:lstStyle/>
          <a:p>
            <a:r>
              <a:rPr lang="es-CR" dirty="0" smtClean="0"/>
              <a:t>¿Qué es una variancia? Y, ¿qué es una covariancia?</a:t>
            </a:r>
          </a:p>
          <a:p>
            <a:r>
              <a:rPr lang="es-CR" dirty="0" smtClean="0"/>
              <a:t>¿Cuál es la covariancia de una variable con ella misma?</a:t>
            </a:r>
          </a:p>
          <a:p>
            <a:r>
              <a:rPr lang="es-CR" dirty="0" smtClean="0"/>
              <a:t>La covariancia en dos variables aleatorias sirve para medir el grado de dependencia linear.  Su notación matemática es la siguiente: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r>
              <a:rPr lang="es-CR" dirty="0" smtClean="0"/>
              <a:t>En una matriz de variables, la covariancia se expresa como sigue: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18" y="3269742"/>
            <a:ext cx="7604352" cy="6867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94" y="5080718"/>
            <a:ext cx="2801359" cy="14681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937" y="6098341"/>
            <a:ext cx="390887" cy="2610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937" y="5180892"/>
            <a:ext cx="390887" cy="30178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8125097" y="5048020"/>
            <a:ext cx="2203269" cy="527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Variancia</a:t>
            </a:r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8125097" y="5965040"/>
            <a:ext cx="2203269" cy="527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Covariancia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4524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5488"/>
            <a:ext cx="10515600" cy="723445"/>
          </a:xfrm>
        </p:spPr>
        <p:txBody>
          <a:bodyPr/>
          <a:lstStyle/>
          <a:p>
            <a:pPr algn="ctr"/>
            <a:r>
              <a:rPr lang="es-CR" dirty="0" smtClean="0"/>
              <a:t>Correlación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388" y="644434"/>
            <a:ext cx="10082349" cy="5833154"/>
          </a:xfrm>
        </p:spPr>
        <p:txBody>
          <a:bodyPr/>
          <a:lstStyle/>
          <a:p>
            <a:r>
              <a:rPr lang="es-CR" dirty="0" smtClean="0"/>
              <a:t>La dificultad para interpretar la covariancia se facilita cuando se utiliza la correlación.</a:t>
            </a:r>
          </a:p>
          <a:p>
            <a:r>
              <a:rPr lang="es-CR" dirty="0" smtClean="0"/>
              <a:t>Esta es la división de una covariancia respeto a las respectivas desviaciones estándares. Su notación matemática es:</a:t>
            </a:r>
          </a:p>
          <a:p>
            <a:endParaRPr lang="es-CR" dirty="0" smtClean="0"/>
          </a:p>
          <a:p>
            <a:endParaRPr lang="es-CR" dirty="0"/>
          </a:p>
          <a:p>
            <a:r>
              <a:rPr lang="es-CR" dirty="0" smtClean="0"/>
              <a:t>En una matriz de datos, se utiliza una matriz de </a:t>
            </a:r>
            <a:r>
              <a:rPr lang="es-CR" dirty="0" err="1" smtClean="0"/>
              <a:t>diagonalización</a:t>
            </a:r>
            <a:r>
              <a:rPr lang="es-CR" dirty="0" smtClean="0"/>
              <a:t> D y la matriz de correlación S, para obtener la matriz de correlación R.</a:t>
            </a:r>
          </a:p>
          <a:p>
            <a:pPr marL="0" indent="0">
              <a:buNone/>
            </a:pPr>
            <a:endParaRPr lang="es-CR" dirty="0" smtClean="0"/>
          </a:p>
          <a:p>
            <a:endParaRPr lang="es-C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168" y="2548253"/>
            <a:ext cx="1438640" cy="66203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r="545"/>
          <a:stretch/>
        </p:blipFill>
        <p:spPr>
          <a:xfrm>
            <a:off x="812379" y="4559626"/>
            <a:ext cx="4386943" cy="51893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15155"/>
          <a:stretch/>
        </p:blipFill>
        <p:spPr>
          <a:xfrm>
            <a:off x="1294776" y="5297830"/>
            <a:ext cx="2376816" cy="14681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/>
          <a:srcRect r="5602"/>
          <a:stretch/>
        </p:blipFill>
        <p:spPr>
          <a:xfrm>
            <a:off x="928761" y="5893752"/>
            <a:ext cx="264314" cy="364571"/>
          </a:xfrm>
          <a:prstGeom prst="rect">
            <a:avLst/>
          </a:prstGeom>
        </p:spPr>
      </p:pic>
      <p:sp>
        <p:nvSpPr>
          <p:cNvPr id="8" name="Cerrar llave 7"/>
          <p:cNvSpPr/>
          <p:nvPr/>
        </p:nvSpPr>
        <p:spPr>
          <a:xfrm>
            <a:off x="5782491" y="4510435"/>
            <a:ext cx="254580" cy="225552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801" y="5297830"/>
            <a:ext cx="4108967" cy="53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72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613"/>
            <a:ext cx="10515600" cy="758279"/>
          </a:xfrm>
        </p:spPr>
        <p:txBody>
          <a:bodyPr/>
          <a:lstStyle/>
          <a:p>
            <a:pPr algn="ctr"/>
            <a:r>
              <a:rPr lang="es-CR" dirty="0" smtClean="0"/>
              <a:t>Distancia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4393" y="809892"/>
            <a:ext cx="9559835" cy="4351338"/>
          </a:xfrm>
        </p:spPr>
        <p:txBody>
          <a:bodyPr/>
          <a:lstStyle/>
          <a:p>
            <a:pPr algn="just"/>
            <a:r>
              <a:rPr lang="es-CR" dirty="0" smtClean="0"/>
              <a:t>Los análisis de </a:t>
            </a:r>
            <a:r>
              <a:rPr lang="es-CR" dirty="0"/>
              <a:t>e</a:t>
            </a:r>
            <a:r>
              <a:rPr lang="es-CR" dirty="0" smtClean="0"/>
              <a:t>scalamiento multidimensional y análisis por agrupamiento se fundamentan en las distancias de las unidades de los datos.</a:t>
            </a:r>
          </a:p>
          <a:p>
            <a:pPr marL="0" indent="0"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Para dos sujetos </a:t>
            </a:r>
            <a:r>
              <a:rPr lang="es-CR" i="1" dirty="0" smtClean="0"/>
              <a:t>i</a:t>
            </a:r>
            <a:r>
              <a:rPr lang="es-CR" dirty="0" smtClean="0"/>
              <a:t> e </a:t>
            </a:r>
            <a:r>
              <a:rPr lang="es-CR" i="1" dirty="0" smtClean="0"/>
              <a:t>j</a:t>
            </a:r>
            <a:r>
              <a:rPr lang="es-CR" dirty="0" smtClean="0"/>
              <a:t>, para una determinada variable se toman las distancias que existen para ese par de individuos.</a:t>
            </a:r>
          </a:p>
          <a:p>
            <a:pPr marL="0" indent="0" algn="just">
              <a:buNone/>
            </a:pPr>
            <a:endParaRPr lang="es-CR" dirty="0" smtClean="0"/>
          </a:p>
          <a:p>
            <a:pPr algn="just"/>
            <a:r>
              <a:rPr lang="es-CR" dirty="0" smtClean="0"/>
              <a:t>Existen diversos tipos de distancias (</a:t>
            </a:r>
            <a:r>
              <a:rPr lang="es-CR" dirty="0" err="1" smtClean="0"/>
              <a:t>Mahalanobis</a:t>
            </a:r>
            <a:r>
              <a:rPr lang="es-CR" dirty="0" smtClean="0"/>
              <a:t>, </a:t>
            </a:r>
            <a:r>
              <a:rPr lang="es-CR" dirty="0" err="1" smtClean="0"/>
              <a:t>Hellinger</a:t>
            </a:r>
            <a:r>
              <a:rPr lang="es-CR" dirty="0" smtClean="0"/>
              <a:t>, Manhattan, etc.), pero la más común es la distancia Euclidiana: </a:t>
            </a:r>
            <a:endParaRPr lang="es-C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153" y="5161230"/>
            <a:ext cx="3594314" cy="13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9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6451"/>
            <a:ext cx="10515600" cy="888910"/>
          </a:xfrm>
        </p:spPr>
        <p:txBody>
          <a:bodyPr/>
          <a:lstStyle/>
          <a:p>
            <a:pPr algn="ctr"/>
            <a:r>
              <a:rPr lang="es-CR" dirty="0" smtClean="0"/>
              <a:t>Función normal multivariable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3434" y="1137647"/>
            <a:ext cx="9490166" cy="5245736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La función normal multivariada juega un rol importante en algunos análisis multivariados.</a:t>
            </a:r>
          </a:p>
          <a:p>
            <a:pPr algn="just"/>
            <a:r>
              <a:rPr lang="es-CR" dirty="0" smtClean="0"/>
              <a:t>Muchos supuestos implícitos consideran que los datos provienen de distribuciones normales.</a:t>
            </a:r>
          </a:p>
          <a:p>
            <a:pPr algn="just"/>
            <a:r>
              <a:rPr lang="es-CR" dirty="0" smtClean="0"/>
              <a:t>Una </a:t>
            </a:r>
            <a:r>
              <a:rPr lang="es-CR" dirty="0"/>
              <a:t>función normal multivariada </a:t>
            </a:r>
            <a:r>
              <a:rPr lang="es-CR" dirty="0" smtClean="0"/>
              <a:t>de dos variables se expresa como: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pPr algn="just"/>
            <a:r>
              <a:rPr lang="es-CR" dirty="0" smtClean="0"/>
              <a:t>Una función normal multivariada se presenta como sigue en la siguiente diapositiva.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18" y="4096078"/>
            <a:ext cx="7003398" cy="8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83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046" y="1378255"/>
            <a:ext cx="5911651" cy="5339399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86451"/>
            <a:ext cx="10515600" cy="888910"/>
          </a:xfrm>
        </p:spPr>
        <p:txBody>
          <a:bodyPr/>
          <a:lstStyle/>
          <a:p>
            <a:pPr algn="ctr"/>
            <a:r>
              <a:rPr lang="es-CR" dirty="0" smtClean="0"/>
              <a:t>Función normal multivariable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9333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0208" y="95161"/>
            <a:ext cx="11031583" cy="915034"/>
          </a:xfrm>
        </p:spPr>
        <p:txBody>
          <a:bodyPr/>
          <a:lstStyle/>
          <a:p>
            <a:pPr algn="ctr"/>
            <a:r>
              <a:rPr lang="es-CR" dirty="0" smtClean="0"/>
              <a:t>Visualización de datos multivariados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0208" y="1102814"/>
            <a:ext cx="10515600" cy="4351338"/>
          </a:xfrm>
        </p:spPr>
        <p:txBody>
          <a:bodyPr/>
          <a:lstStyle/>
          <a:p>
            <a:r>
              <a:rPr lang="es-CR" dirty="0" smtClean="0"/>
              <a:t>Principales gráficos multivariados: contornos, matrices de gráficos, </a:t>
            </a:r>
            <a:r>
              <a:rPr lang="es-CR" dirty="0" err="1" smtClean="0"/>
              <a:t>correlogramas</a:t>
            </a:r>
            <a:r>
              <a:rPr lang="es-CR" dirty="0" smtClean="0"/>
              <a:t>, gráficos </a:t>
            </a:r>
            <a:r>
              <a:rPr lang="es-CR" dirty="0" err="1" smtClean="0"/>
              <a:t>bi</a:t>
            </a:r>
            <a:r>
              <a:rPr lang="es-CR" dirty="0" smtClean="0"/>
              <a:t>-tridimensionales. </a:t>
            </a:r>
            <a:endParaRPr lang="es-ES" dirty="0"/>
          </a:p>
        </p:txBody>
      </p:sp>
      <p:pic>
        <p:nvPicPr>
          <p:cNvPr id="1026" name="Picture 2" descr="Resultado de imagen para multivariate plo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2420" r="6264" b="1961"/>
          <a:stretch/>
        </p:blipFill>
        <p:spPr bwMode="auto">
          <a:xfrm>
            <a:off x="801189" y="2238103"/>
            <a:ext cx="4371703" cy="4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ultivariate plo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259172"/>
            <a:ext cx="5220790" cy="432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629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9995"/>
            <a:ext cx="10515600" cy="845366"/>
          </a:xfrm>
        </p:spPr>
        <p:txBody>
          <a:bodyPr/>
          <a:lstStyle/>
          <a:p>
            <a:pPr algn="ctr"/>
            <a:r>
              <a:rPr lang="es-CR" dirty="0" smtClean="0"/>
              <a:t>Análisis por componentes principales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4725" y="1364071"/>
            <a:ext cx="10515600" cy="4351338"/>
          </a:xfrm>
        </p:spPr>
        <p:txBody>
          <a:bodyPr/>
          <a:lstStyle/>
          <a:p>
            <a:r>
              <a:rPr lang="es-CR" dirty="0" smtClean="0"/>
              <a:t>Reducción de variables y representación de sujetos, variables y ambos según los componentes.</a:t>
            </a:r>
            <a:endParaRPr lang="es-ES" dirty="0"/>
          </a:p>
        </p:txBody>
      </p:sp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116" y="2547439"/>
            <a:ext cx="4660845" cy="407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principal component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47439"/>
            <a:ext cx="3994553" cy="359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76564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2703" y="156120"/>
            <a:ext cx="10515600" cy="810531"/>
          </a:xfrm>
        </p:spPr>
        <p:txBody>
          <a:bodyPr/>
          <a:lstStyle/>
          <a:p>
            <a:pPr algn="ctr"/>
            <a:r>
              <a:rPr lang="es-CR" dirty="0" smtClean="0"/>
              <a:t>Análisis factorial</a:t>
            </a:r>
            <a:endParaRPr lang="es-ES" dirty="0"/>
          </a:p>
        </p:txBody>
      </p:sp>
      <p:pic>
        <p:nvPicPr>
          <p:cNvPr id="3074" name="Picture 2" descr="Resultado de imagen para factor analysis scree plo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1"/>
          <a:stretch/>
        </p:blipFill>
        <p:spPr bwMode="auto">
          <a:xfrm>
            <a:off x="373289" y="1645917"/>
            <a:ext cx="5069567" cy="483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factor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017" y="1772189"/>
            <a:ext cx="5081286" cy="408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36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3103" y="190954"/>
            <a:ext cx="10515600" cy="915035"/>
          </a:xfrm>
        </p:spPr>
        <p:txBody>
          <a:bodyPr/>
          <a:lstStyle/>
          <a:p>
            <a:pPr algn="ctr"/>
            <a:r>
              <a:rPr lang="es-CR" dirty="0" smtClean="0"/>
              <a:t>Análisis discriminante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3103" y="1276986"/>
            <a:ext cx="10515600" cy="4351338"/>
          </a:xfrm>
        </p:spPr>
        <p:txBody>
          <a:bodyPr/>
          <a:lstStyle/>
          <a:p>
            <a:r>
              <a:rPr lang="es-CR" dirty="0" smtClean="0"/>
              <a:t>Busca separar a discriminar a las unidades según las características de estos. </a:t>
            </a:r>
            <a:endParaRPr lang="es-ES" dirty="0"/>
          </a:p>
        </p:txBody>
      </p:sp>
      <p:pic>
        <p:nvPicPr>
          <p:cNvPr id="4098" name="Picture 2" descr="Resultado de imagen para discriminant analysi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2" r="4744" b="2702"/>
          <a:stretch/>
        </p:blipFill>
        <p:spPr bwMode="auto">
          <a:xfrm>
            <a:off x="1009015" y="2403752"/>
            <a:ext cx="4512220" cy="415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discriminant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540" y="2403752"/>
            <a:ext cx="44100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94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7275" y="234497"/>
            <a:ext cx="10515600" cy="888909"/>
          </a:xfrm>
        </p:spPr>
        <p:txBody>
          <a:bodyPr/>
          <a:lstStyle/>
          <a:p>
            <a:pPr algn="ctr"/>
            <a:r>
              <a:rPr lang="es-CR" dirty="0" smtClean="0"/>
              <a:t>Análisis por agrupamiento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0521" y="1346654"/>
            <a:ext cx="10515600" cy="4351338"/>
          </a:xfrm>
        </p:spPr>
        <p:txBody>
          <a:bodyPr/>
          <a:lstStyle/>
          <a:p>
            <a:r>
              <a:rPr lang="es-CR" dirty="0" smtClean="0"/>
              <a:t>A partir de las observaciones en las </a:t>
            </a:r>
            <a:r>
              <a:rPr lang="es-CR" i="1" dirty="0" smtClean="0"/>
              <a:t>k</a:t>
            </a:r>
            <a:r>
              <a:rPr lang="es-CR" dirty="0" smtClean="0"/>
              <a:t> variables de los casos, busca agrupar o juntar a los individuos.</a:t>
            </a:r>
            <a:endParaRPr lang="es-ES" dirty="0"/>
          </a:p>
        </p:txBody>
      </p:sp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37"/>
          <a:stretch/>
        </p:blipFill>
        <p:spPr bwMode="auto">
          <a:xfrm>
            <a:off x="873034" y="2865646"/>
            <a:ext cx="4802552" cy="369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cluster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099" y="2560660"/>
            <a:ext cx="4756150" cy="356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5607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12578"/>
            <a:ext cx="10515600" cy="932452"/>
          </a:xfrm>
        </p:spPr>
        <p:txBody>
          <a:bodyPr/>
          <a:lstStyle/>
          <a:p>
            <a:pPr algn="ctr"/>
            <a:r>
              <a:rPr lang="es-CR" dirty="0" smtClean="0"/>
              <a:t>Escalamiento multidimensional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1810" y="1224734"/>
            <a:ext cx="10134601" cy="5210900"/>
          </a:xfrm>
        </p:spPr>
        <p:txBody>
          <a:bodyPr/>
          <a:lstStyle/>
          <a:p>
            <a:pPr algn="just"/>
            <a:r>
              <a:rPr lang="es-CR" dirty="0" smtClean="0"/>
              <a:t>Se </a:t>
            </a:r>
            <a:r>
              <a:rPr lang="es-CR" dirty="0"/>
              <a:t>trata de un procedimiento </a:t>
            </a:r>
            <a:r>
              <a:rPr lang="es-CR" dirty="0" smtClean="0"/>
              <a:t>para </a:t>
            </a:r>
            <a:r>
              <a:rPr lang="es-CR" dirty="0"/>
              <a:t>dibujar mapas sobre los que representan geométricamente, en forma de puntos, un conjunto de </a:t>
            </a:r>
            <a:r>
              <a:rPr lang="es-CR" dirty="0" smtClean="0"/>
              <a:t>objetos. Este análisis utiliza variables cualitativas.</a:t>
            </a:r>
            <a:endParaRPr lang="es-ES" dirty="0"/>
          </a:p>
        </p:txBody>
      </p:sp>
      <p:pic>
        <p:nvPicPr>
          <p:cNvPr id="6146" name="Picture 2" descr="Resultado de imagen para Escalamiento multidimensiona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4" r="4212" b="19963"/>
          <a:stretch/>
        </p:blipFill>
        <p:spPr bwMode="auto">
          <a:xfrm>
            <a:off x="838200" y="2830149"/>
            <a:ext cx="4841966" cy="34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mds analy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556" y="2830149"/>
            <a:ext cx="5857875" cy="337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9991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1147" y="86452"/>
            <a:ext cx="10515600" cy="819240"/>
          </a:xfrm>
        </p:spPr>
        <p:txBody>
          <a:bodyPr/>
          <a:lstStyle/>
          <a:p>
            <a:pPr algn="ctr"/>
            <a:r>
              <a:rPr lang="es-CR" dirty="0" smtClean="0"/>
              <a:t>Árboles de decisión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1147" y="1072380"/>
            <a:ext cx="10515600" cy="4351338"/>
          </a:xfrm>
        </p:spPr>
        <p:txBody>
          <a:bodyPr/>
          <a:lstStyle/>
          <a:p>
            <a:r>
              <a:rPr lang="es-CR" dirty="0" smtClean="0"/>
              <a:t>Para clasificar y predecir, se utiliza para predecir cierta característica Y, para un conjunto de variables X1,…,</a:t>
            </a:r>
            <a:r>
              <a:rPr lang="es-CR" dirty="0" err="1" smtClean="0"/>
              <a:t>Xp</a:t>
            </a:r>
            <a:r>
              <a:rPr lang="es-CR" dirty="0" smtClean="0"/>
              <a:t>. </a:t>
            </a:r>
            <a:endParaRPr lang="es-ES" dirty="0"/>
          </a:p>
        </p:txBody>
      </p:sp>
      <p:pic>
        <p:nvPicPr>
          <p:cNvPr id="7170" name="Picture 2" descr="Resultado de imagen para decision tree analy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47" y="2683326"/>
            <a:ext cx="4440045" cy="331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decision tree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56" y="2407918"/>
            <a:ext cx="6293488" cy="386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1469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29995"/>
            <a:ext cx="10515600" cy="967285"/>
          </a:xfrm>
        </p:spPr>
        <p:txBody>
          <a:bodyPr/>
          <a:lstStyle/>
          <a:p>
            <a:pPr algn="ctr"/>
            <a:r>
              <a:rPr lang="es-CR" dirty="0" smtClean="0"/>
              <a:t>¿Nivel de programación en R?</a:t>
            </a:r>
            <a:endParaRPr lang="es-ES" dirty="0"/>
          </a:p>
        </p:txBody>
      </p:sp>
      <p:pic>
        <p:nvPicPr>
          <p:cNvPr id="8194" name="Picture 2" descr="Resultado de imagen para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91" y="1913254"/>
            <a:ext cx="3576717" cy="377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cto de flecha 4"/>
          <p:cNvCxnSpPr/>
          <p:nvPr/>
        </p:nvCxnSpPr>
        <p:spPr>
          <a:xfrm flipV="1">
            <a:off x="4458793" y="3718560"/>
            <a:ext cx="1994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98" name="Picture 6" descr="Resultado de imagen para 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975" y="1558605"/>
            <a:ext cx="4482738" cy="448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55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867</Words>
  <Application>Microsoft Office PowerPoint</Application>
  <PresentationFormat>Panorámica</PresentationFormat>
  <Paragraphs>105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Introducción al Análisis Multivariados</vt:lpstr>
      <vt:lpstr>Análisis en una variable</vt:lpstr>
      <vt:lpstr>Análisis en una variable</vt:lpstr>
      <vt:lpstr>Análisis multivariados o en varias variables</vt:lpstr>
      <vt:lpstr>Análisis multivariados o en varias variables</vt:lpstr>
      <vt:lpstr>Presentación de PowerPoint</vt:lpstr>
      <vt:lpstr>Análisis multivariados descriptivos y supervisados</vt:lpstr>
      <vt:lpstr>Principios del análisis de datos multivariado</vt:lpstr>
      <vt:lpstr>Principios multivariados: datos</vt:lpstr>
      <vt:lpstr>Principios multivariados: análisis</vt:lpstr>
      <vt:lpstr>Tipos de variables y problemas asociados</vt:lpstr>
      <vt:lpstr>Covariancia, correlación y distancia </vt:lpstr>
      <vt:lpstr>Covariancia</vt:lpstr>
      <vt:lpstr>Correlación</vt:lpstr>
      <vt:lpstr>Distancia</vt:lpstr>
      <vt:lpstr>Función normal multivariable</vt:lpstr>
      <vt:lpstr>Función normal multivariable</vt:lpstr>
      <vt:lpstr>Visualización de datos multivariados</vt:lpstr>
      <vt:lpstr>Análisis por componentes principales</vt:lpstr>
      <vt:lpstr>Análisis factorial</vt:lpstr>
      <vt:lpstr>Análisis discriminante</vt:lpstr>
      <vt:lpstr>Análisis por agrupamiento</vt:lpstr>
      <vt:lpstr>Escalamiento multidimensional </vt:lpstr>
      <vt:lpstr>Árboles de decisión</vt:lpstr>
      <vt:lpstr>¿Nivel de programación en 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</dc:creator>
  <cp:lastModifiedBy>oscar</cp:lastModifiedBy>
  <cp:revision>44</cp:revision>
  <dcterms:created xsi:type="dcterms:W3CDTF">2017-03-06T01:17:34Z</dcterms:created>
  <dcterms:modified xsi:type="dcterms:W3CDTF">2018-03-13T22:35:46Z</dcterms:modified>
</cp:coreProperties>
</file>